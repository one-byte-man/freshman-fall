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Lst>
  <p:sldSz cy="6858000" cx="9144000"/>
  <p:notesSz cx="6858000" cy="9144000"/>
  <p:embeddedFontLst>
    <p:embeddedFont>
      <p:font typeface="PT Sans Narrow"/>
      <p:regular r:id="rId55"/>
      <p:bold r:id="rId56"/>
    </p:embeddedFont>
    <p:embeddedFont>
      <p:font typeface="Open Sans Light"/>
      <p:regular r:id="rId57"/>
      <p:bold r:id="rId58"/>
      <p:italic r:id="rId59"/>
      <p:boldItalic r:id="rId60"/>
    </p:embeddedFont>
    <p:embeddedFont>
      <p:font typeface="Open Sans"/>
      <p:regular r:id="rId61"/>
      <p:bold r:id="rId62"/>
      <p:italic r:id="rId63"/>
      <p:boldItalic r:id="rId6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OpenSans-bold.fntdata"/><Relationship Id="rId61" Type="http://schemas.openxmlformats.org/officeDocument/2006/relationships/font" Target="fonts/OpenSans-regular.fntdata"/><Relationship Id="rId20" Type="http://schemas.openxmlformats.org/officeDocument/2006/relationships/slide" Target="slides/slide15.xml"/><Relationship Id="rId64" Type="http://schemas.openxmlformats.org/officeDocument/2006/relationships/font" Target="fonts/OpenSans-boldItalic.fntdata"/><Relationship Id="rId63" Type="http://schemas.openxmlformats.org/officeDocument/2006/relationships/font" Target="fonts/OpenSans-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OpenSansLight-boldItalic.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font" Target="fonts/PTSansNarrow-regular.fntdata"/><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font" Target="fonts/OpenSansLight-regular.fntdata"/><Relationship Id="rId12" Type="http://schemas.openxmlformats.org/officeDocument/2006/relationships/slide" Target="slides/slide7.xml"/><Relationship Id="rId56" Type="http://schemas.openxmlformats.org/officeDocument/2006/relationships/font" Target="fonts/PTSansNarrow-bold.fntdata"/><Relationship Id="rId15" Type="http://schemas.openxmlformats.org/officeDocument/2006/relationships/slide" Target="slides/slide10.xml"/><Relationship Id="rId59" Type="http://schemas.openxmlformats.org/officeDocument/2006/relationships/font" Target="fonts/OpenSansLight-italic.fntdata"/><Relationship Id="rId14" Type="http://schemas.openxmlformats.org/officeDocument/2006/relationships/slide" Target="slides/slide9.xml"/><Relationship Id="rId58" Type="http://schemas.openxmlformats.org/officeDocument/2006/relationships/font" Target="fonts/OpenSansLight-bold.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medium.com/@shanikae/polymorphism-explained-simply-7294c8deeef7" TargetMode="Externa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5a6f7c0928_0_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5a6f7c092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development of complex software systems such as operating systems,</a:t>
            </a:r>
            <a:endParaRPr/>
          </a:p>
          <a:p>
            <a:pPr indent="0" lvl="0" marL="0" rtl="0" algn="l">
              <a:spcBef>
                <a:spcPts val="0"/>
              </a:spcBef>
              <a:spcAft>
                <a:spcPts val="0"/>
              </a:spcAft>
              <a:buNone/>
            </a:pPr>
            <a:r>
              <a:rPr lang="en"/>
              <a:t>network software, and the vast array of application software available today</a:t>
            </a:r>
            <a:endParaRPr/>
          </a:p>
          <a:p>
            <a:pPr indent="0" lvl="0" marL="0" rtl="0" algn="l">
              <a:spcBef>
                <a:spcPts val="0"/>
              </a:spcBef>
              <a:spcAft>
                <a:spcPts val="0"/>
              </a:spcAft>
              <a:buNone/>
            </a:pPr>
            <a:r>
              <a:rPr lang="en"/>
              <a:t>would likely be impossible if humans were forced to write programs in machine</a:t>
            </a:r>
            <a:endParaRPr/>
          </a:p>
          <a:p>
            <a:pPr indent="0" lvl="0" marL="0" rtl="0" algn="l">
              <a:spcBef>
                <a:spcPts val="0"/>
              </a:spcBef>
              <a:spcAft>
                <a:spcPts val="0"/>
              </a:spcAft>
              <a:buNone/>
            </a:pPr>
            <a:r>
              <a:rPr lang="en"/>
              <a:t>language. Dealing with the intricate detail associated with such languages while</a:t>
            </a:r>
            <a:endParaRPr/>
          </a:p>
          <a:p>
            <a:pPr indent="0" lvl="0" marL="0" rtl="0" algn="l">
              <a:spcBef>
                <a:spcPts val="0"/>
              </a:spcBef>
              <a:spcAft>
                <a:spcPts val="0"/>
              </a:spcAft>
              <a:buNone/>
            </a:pPr>
            <a:r>
              <a:rPr lang="en"/>
              <a:t>trying to organize complex systems would be a taxing experience, to say the least.</a:t>
            </a:r>
            <a:endParaRPr/>
          </a:p>
          <a:p>
            <a:pPr indent="0" lvl="0" marL="0" rtl="0" algn="l">
              <a:spcBef>
                <a:spcPts val="0"/>
              </a:spcBef>
              <a:spcAft>
                <a:spcPts val="0"/>
              </a:spcAft>
              <a:buNone/>
            </a:pPr>
            <a:r>
              <a:rPr lang="en"/>
              <a:t>Consequently, many programming languages have been developed that allow</a:t>
            </a:r>
            <a:endParaRPr/>
          </a:p>
          <a:p>
            <a:pPr indent="0" lvl="0" marL="0" rtl="0" algn="l">
              <a:spcBef>
                <a:spcPts val="0"/>
              </a:spcBef>
              <a:spcAft>
                <a:spcPts val="0"/>
              </a:spcAft>
              <a:buNone/>
            </a:pPr>
            <a:r>
              <a:rPr lang="en"/>
              <a:t>algorithms to be expressed in a form that is both palatable to humans and easily</a:t>
            </a:r>
            <a:endParaRPr/>
          </a:p>
          <a:p>
            <a:pPr indent="0" lvl="0" marL="0" rtl="0" algn="l">
              <a:spcBef>
                <a:spcPts val="0"/>
              </a:spcBef>
              <a:spcAft>
                <a:spcPts val="0"/>
              </a:spcAft>
              <a:buNone/>
            </a:pPr>
            <a:r>
              <a:rPr lang="en"/>
              <a:t>convertible into machine language instructions. Our goal in this chapter is to</a:t>
            </a:r>
            <a:endParaRPr/>
          </a:p>
          <a:p>
            <a:pPr indent="0" lvl="0" marL="0" rtl="0" algn="l">
              <a:spcBef>
                <a:spcPts val="0"/>
              </a:spcBef>
              <a:spcAft>
                <a:spcPts val="0"/>
              </a:spcAft>
              <a:buNone/>
            </a:pPr>
            <a:r>
              <a:rPr lang="en"/>
              <a:t>explore the sphere of computer science that deals with the design and implemen-</a:t>
            </a:r>
            <a:endParaRPr/>
          </a:p>
          <a:p>
            <a:pPr indent="0" lvl="0" marL="0" rtl="0" algn="l">
              <a:spcBef>
                <a:spcPts val="0"/>
              </a:spcBef>
              <a:spcAft>
                <a:spcPts val="0"/>
              </a:spcAft>
              <a:buNone/>
            </a:pPr>
            <a:r>
              <a:rPr lang="en"/>
              <a:t>tation of these languages.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27663883a56_0_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27663883a56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Unfortunately, writing programs in a machine language is a tedious task that often leads to errors that must be located and corrected (a process known as debugging) before the job is finished.</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27663883a56_0_1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27663883a56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Once such a mnemonic system was established, programs called ­ assemblers were developed to convert mnemonic expressions into machine language instructions. </a:t>
            </a:r>
            <a:endParaRPr/>
          </a:p>
          <a:p>
            <a:pPr indent="0" lvl="0" marL="0" rtl="0" algn="l">
              <a:spcBef>
                <a:spcPts val="0"/>
              </a:spcBef>
              <a:spcAft>
                <a:spcPts val="0"/>
              </a:spcAft>
              <a:buNone/>
            </a:pPr>
            <a:r>
              <a:rPr lang="en"/>
              <a:t>Thus, rather than being forced to develop a program directly in machine language, a human could develop a program in mnemonic form and then have it converted into machine language by means of an assembler.</a:t>
            </a:r>
            <a:endParaRPr/>
          </a:p>
          <a:p>
            <a:pPr indent="0" lvl="0" marL="0" rtl="0" algn="l">
              <a:spcBef>
                <a:spcPts val="0"/>
              </a:spcBef>
              <a:spcAft>
                <a:spcPts val="0"/>
              </a:spcAft>
              <a:buClr>
                <a:schemeClr val="dk1"/>
              </a:buClr>
              <a:buSzPts val="1100"/>
              <a:buFont typeface="Arial"/>
              <a:buNone/>
            </a:pPr>
            <a:r>
              <a:rPr lang="en"/>
              <a:t>A mnemonic system for representing programs is collectively called an assembly language.</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27663883a56_0_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27663883a56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27663883a56_0_2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27663883a56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27663883a56_0_1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27663883a56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27663883a56_0_2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27663883a56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Once this collection of high-level primitives had been identified, a program, called a translator, was written that translated programs expressed in these high-level primitives into machine-language programs. </a:t>
            </a:r>
            <a:endParaRPr/>
          </a:p>
          <a:p>
            <a:pPr indent="0" lvl="0" marL="0" rtl="0" algn="l">
              <a:spcBef>
                <a:spcPts val="0"/>
              </a:spcBef>
              <a:spcAft>
                <a:spcPts val="0"/>
              </a:spcAft>
              <a:buNone/>
            </a:pPr>
            <a:r>
              <a:rPr lang="en"/>
              <a:t>Such a translator was similar to the second-generation assemblers, except that it often had to ­compile several machine instructions into short sequences to simulate the activity requested by a single high-level primitive. </a:t>
            </a:r>
            <a:endParaRPr/>
          </a:p>
          <a:p>
            <a:pPr indent="0" lvl="0" marL="0" rtl="0" algn="l">
              <a:spcBef>
                <a:spcPts val="0"/>
              </a:spcBef>
              <a:spcAft>
                <a:spcPts val="0"/>
              </a:spcAft>
              <a:buNone/>
            </a:pPr>
            <a:r>
              <a:rPr lang="en"/>
              <a:t>Thus, these translation programs were often called compilers.</a:t>
            </a:r>
            <a:endParaRPr/>
          </a:p>
          <a:p>
            <a:pPr indent="0" lvl="0" marL="0" rtl="0" algn="l">
              <a:spcBef>
                <a:spcPts val="0"/>
              </a:spcBef>
              <a:spcAft>
                <a:spcPts val="0"/>
              </a:spcAft>
              <a:buNone/>
            </a:pPr>
            <a:r>
              <a:rPr lang="en"/>
              <a:t>Figure from: https://www.sitesbay.com/cprogramming/c-compiler</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27663883a56_0_3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27663883a56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reality, the development of programming languages has not progressed in a linear manner but has developed along different paths as alternative approaches to the programming process (called programming paradigms) have surfaced and been pursued. </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27663883a56_0_3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27663883a56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Consequently, the historical development of programming languages is better represented by a multiple-track diagram as shown in this figure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7678ee1d37_0_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27678ee1d37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000">
                <a:solidFill>
                  <a:schemeClr val="dk1"/>
                </a:solidFill>
              </a:rPr>
              <a:t>Imperative (procedural) paradigm </a:t>
            </a:r>
            <a:endParaRPr b="1"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represents the traditional approach to the programming process.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As the name suggests, the imperative paradigm defines the programming process to be the development of a sequence of commands that, when followed, manipulate data to produce the desired result. Thus the imperative paradigm tells us to approach the programming process by finding an algorithm to solve the problem at hand and then expressing that algorithm as a sequence of commands.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7678ee1d37_0_1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27678ee1d37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declarative paradigm, which asks a programmer to describe the problem to be solved rather than an algorithm to be followed. More precisely, a declarative programming system applies a pre-established general-purpose problem-solving algorithm to solve problems presented to it. In such an environment the task of a programmer becomes that of developing a precise statement of the problem rather than of describing an algorithm for solving the problem.</a:t>
            </a:r>
            <a:endParaRPr/>
          </a:p>
          <a:p>
            <a:pPr indent="0" lvl="0" marL="0" rtl="0" algn="l">
              <a:spcBef>
                <a:spcPts val="0"/>
              </a:spcBef>
              <a:spcAft>
                <a:spcPts val="0"/>
              </a:spcAft>
              <a:buNone/>
            </a:pPr>
            <a:r>
              <a:rPr lang="en"/>
              <a:t>A major obstacle in developing programming systems based on the declara- tive paradigm is the need for an underlying problem-solving algorithm. For this reason early declarative programming languages tended to be special-purpose in nature, designed for use in particular applications. For example, the declarative approach has been used for many years to simulate a system (political, economic, environmental, and so on) in order to test hypotheses or to obtain predictions. In these settings, the underlying algorithm is essentially the process of simulat- ing the passage of time by repeatedly recomputing values of parameters (gross domestic product, trade deficit, and so on) based on the previously computed values. Thus, implementing a declarative language for such simulations requires that one first implement an algorithm that performs this repetitive function. Then the only task required of a programmer using the system is to describe the situation to be simulated. In this manner, a weather forecaster does not need to develop an algorithm for forecasting the weather but merely describes the current weather status, allowing the underlying simulation algorithm to produce weather predictions for the near future.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27678ee1d37_0_2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27678ee1d37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program is viewed as an entity that accepts inputs and produces outputs.</a:t>
            </a:r>
            <a:endParaRPr/>
          </a:p>
          <a:p>
            <a:pPr indent="0" lvl="0" marL="0" rtl="0" algn="l">
              <a:spcBef>
                <a:spcPts val="0"/>
              </a:spcBef>
              <a:spcAft>
                <a:spcPts val="0"/>
              </a:spcAft>
              <a:buNone/>
            </a:pPr>
            <a:r>
              <a:rPr lang="en"/>
              <a:t>ML (Meta Language)</a:t>
            </a:r>
            <a:endParaRPr/>
          </a:p>
          <a:p>
            <a:pPr indent="0" lvl="0" marL="0" rtl="0" algn="l">
              <a:spcBef>
                <a:spcPts val="0"/>
              </a:spcBef>
              <a:spcAft>
                <a:spcPts val="0"/>
              </a:spcAft>
              <a:buNone/>
            </a:pPr>
            <a:r>
              <a:t/>
            </a:r>
            <a:endParaRPr/>
          </a:p>
          <a:p>
            <a:pPr indent="0" lvl="0" marL="0" rtl="0" algn="l">
              <a:spcBef>
                <a:spcPts val="0"/>
              </a:spcBef>
              <a:spcAft>
                <a:spcPts val="0"/>
              </a:spcAft>
              <a:buNone/>
            </a:pPr>
            <a:r>
              <a:rPr lang="en" sz="1000">
                <a:solidFill>
                  <a:schemeClr val="dk1"/>
                </a:solidFill>
              </a:rPr>
              <a:t>Under this paradigm a program is constructed by connecting smaller predefined program units (predefined functions) so that each unit’s outputs are used as another unit’s inputs in such a way that the desired overall input-to-output relationship is obtained. In short, the programming process under the functional paradigm is that of building functions as nested complexes of simpler functions. </a:t>
            </a:r>
            <a:endParaRPr sz="1000">
              <a:solidFill>
                <a:schemeClr val="dk1"/>
              </a:solidFill>
            </a:endParaRPr>
          </a:p>
          <a:p>
            <a:pPr indent="0" lvl="0" marL="0" rtl="0" algn="l">
              <a:lnSpc>
                <a:spcPct val="115000"/>
              </a:lnSpc>
              <a:spcBef>
                <a:spcPts val="0"/>
              </a:spcBef>
              <a:spcAft>
                <a:spcPts val="0"/>
              </a:spcAft>
              <a:buNone/>
            </a:pPr>
            <a:r>
              <a:rPr lang="en">
                <a:solidFill>
                  <a:schemeClr val="dk1"/>
                </a:solidFill>
              </a:rPr>
              <a:t>					</a:t>
            </a:r>
            <a:endParaRPr>
              <a:solidFill>
                <a:schemeClr val="dk1"/>
              </a:solidFill>
            </a:endParaRPr>
          </a:p>
          <a:p>
            <a:pPr indent="0" lvl="0" marL="0" rtl="0" algn="l">
              <a:spcBef>
                <a:spcPts val="0"/>
              </a:spcBef>
              <a:spcAft>
                <a:spcPts val="0"/>
              </a:spcAft>
              <a:buNone/>
            </a:pPr>
            <a:r>
              <a:rPr lang="en">
                <a:solidFill>
                  <a:schemeClr val="dk1"/>
                </a:solidFill>
              </a:rPr>
              <a:t>				</a:t>
            </a:r>
            <a:endParaRPr>
              <a:solidFill>
                <a:schemeClr val="dk1"/>
              </a:solidFill>
            </a:endParaRPr>
          </a:p>
          <a:p>
            <a:pPr indent="0" lvl="0" marL="0" rtl="0" algn="l">
              <a:spcBef>
                <a:spcPts val="0"/>
              </a:spcBef>
              <a:spcAft>
                <a:spcPts val="0"/>
              </a:spcAft>
              <a:buNone/>
            </a:pPr>
            <a:r>
              <a:rPr lang="en">
                <a:solidFill>
                  <a:schemeClr val="dk1"/>
                </a:solidFill>
              </a:rPr>
              <a:t>			</a:t>
            </a:r>
            <a:endParaRPr>
              <a:solidFill>
                <a:schemeClr val="dk1"/>
              </a:solidFill>
            </a:endParaRPr>
          </a:p>
          <a:p>
            <a:pPr indent="0" lvl="0" marL="0" rtl="0" algn="l">
              <a:spcBef>
                <a:spcPts val="0"/>
              </a:spcBef>
              <a:spcAft>
                <a:spcPts val="0"/>
              </a:spcAft>
              <a:buNone/>
            </a:pPr>
            <a:r>
              <a:rPr lang="en">
                <a:solidFill>
                  <a:schemeClr val="dk1"/>
                </a:solidFill>
              </a:rPr>
              <a:t>		</a:t>
            </a:r>
            <a:endParaRPr>
              <a:solidFill>
                <a:schemeClr val="dk1"/>
              </a:solidFill>
            </a:endParaRPr>
          </a:p>
          <a:p>
            <a:pPr indent="0" lvl="0" marL="0" rtl="0" algn="l">
              <a:spcBef>
                <a:spcPts val="0"/>
              </a:spcBef>
              <a:spcAft>
                <a:spcPts val="0"/>
              </a:spcAft>
              <a:buClr>
                <a:schemeClr val="dk1"/>
              </a:buClr>
              <a:buSzPts val="1100"/>
              <a:buFont typeface="Arial"/>
              <a:buNone/>
            </a:pPr>
            <a:r>
              <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7678ee1d37_0_3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7678ee1d37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software system is viewed as a collection of units, called objects, each of which is capable of performing the actions that are immediately related to itself as well as requesting actions of other objects. Together, these objects interact to solve the problem at hand.</a:t>
            </a:r>
            <a:endParaRPr/>
          </a:p>
          <a:p>
            <a:pPr indent="0" lvl="0" marL="0" rtl="0" algn="l">
              <a:spcBef>
                <a:spcPts val="0"/>
              </a:spcBef>
              <a:spcAft>
                <a:spcPts val="0"/>
              </a:spcAft>
              <a:buClr>
                <a:schemeClr val="dk1"/>
              </a:buClr>
              <a:buSzPts val="1100"/>
              <a:buFont typeface="Arial"/>
              <a:buNone/>
            </a:pPr>
            <a:r>
              <a:rPr lang="en" sz="1000">
                <a:solidFill>
                  <a:schemeClr val="dk1"/>
                </a:solidFill>
              </a:rPr>
              <a:t>we should note that the methods within an object are essentially small imperative program units. This means that most programming languages based on the object-oriented paradigm contain many of the features found in imperative languages. For instance, the popular object-oriented language C++ was developed by adding object-oriented features to the imperative language known as C. Moreover, since Java and C# are derivatives of C++, they too have inherited this imperative core. </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7678ee1d37_0_3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7678ee1d37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Declarative statements define customized terminology that is used later</a:t>
            </a:r>
            <a:endParaRPr/>
          </a:p>
          <a:p>
            <a:pPr indent="0" lvl="0" marL="0" rtl="0" algn="l">
              <a:spcBef>
                <a:spcPts val="0"/>
              </a:spcBef>
              <a:spcAft>
                <a:spcPts val="0"/>
              </a:spcAft>
              <a:buNone/>
            </a:pPr>
            <a:r>
              <a:rPr lang="en"/>
              <a:t>in the program, such as the names used to reference data items; imperative</a:t>
            </a:r>
            <a:endParaRPr/>
          </a:p>
          <a:p>
            <a:pPr indent="0" lvl="0" marL="0" rtl="0" algn="l">
              <a:spcBef>
                <a:spcPts val="0"/>
              </a:spcBef>
              <a:spcAft>
                <a:spcPts val="0"/>
              </a:spcAft>
              <a:buNone/>
            </a:pPr>
            <a:r>
              <a:rPr lang="en"/>
              <a:t>statements describe steps in the underlying algorithms; and comments enhance</a:t>
            </a:r>
            <a:endParaRPr/>
          </a:p>
          <a:p>
            <a:pPr indent="0" lvl="0" marL="0" rtl="0" algn="l">
              <a:spcBef>
                <a:spcPts val="0"/>
              </a:spcBef>
              <a:spcAft>
                <a:spcPts val="0"/>
              </a:spcAft>
              <a:buNone/>
            </a:pPr>
            <a:r>
              <a:rPr lang="en"/>
              <a:t>the readability of a program by explaining its esoteric features in a more human-</a:t>
            </a:r>
            <a:endParaRPr/>
          </a:p>
          <a:p>
            <a:pPr indent="0" lvl="0" marL="0" rtl="0" algn="l">
              <a:spcBef>
                <a:spcPts val="0"/>
              </a:spcBef>
              <a:spcAft>
                <a:spcPts val="0"/>
              </a:spcAft>
              <a:buNone/>
            </a:pPr>
            <a:r>
              <a:rPr lang="en"/>
              <a:t>compatible form.</a:t>
            </a:r>
            <a:endParaRPr/>
          </a:p>
          <a:p>
            <a:pPr indent="0" lvl="0" marL="0" rtl="0" algn="l">
              <a:spcBef>
                <a:spcPts val="0"/>
              </a:spcBef>
              <a:spcAft>
                <a:spcPts val="0"/>
              </a:spcAft>
              <a:buClr>
                <a:schemeClr val="dk1"/>
              </a:buClr>
              <a:buSzPts val="1100"/>
              <a:buFont typeface="Arial"/>
              <a:buNone/>
            </a:pPr>
            <a:r>
              <a:rPr lang="en"/>
              <a:t>Normally, an imperative program (or an imperative program</a:t>
            </a:r>
            <a:endParaRPr/>
          </a:p>
          <a:p>
            <a:pPr indent="0" lvl="0" marL="0" rtl="0" algn="l">
              <a:spcBef>
                <a:spcPts val="0"/>
              </a:spcBef>
              <a:spcAft>
                <a:spcPts val="0"/>
              </a:spcAft>
              <a:buClr>
                <a:schemeClr val="dk1"/>
              </a:buClr>
              <a:buSzPts val="1100"/>
              <a:buFont typeface="Arial"/>
              <a:buNone/>
            </a:pPr>
            <a:r>
              <a:rPr lang="en"/>
              <a:t>unit within an object-oriented program) can be thought of as having the struc-</a:t>
            </a:r>
            <a:endParaRPr/>
          </a:p>
          <a:p>
            <a:pPr indent="0" lvl="0" marL="0" rtl="0" algn="l">
              <a:spcBef>
                <a:spcPts val="0"/>
              </a:spcBef>
              <a:spcAft>
                <a:spcPts val="0"/>
              </a:spcAft>
              <a:buClr>
                <a:schemeClr val="dk1"/>
              </a:buClr>
              <a:buSzPts val="1100"/>
              <a:buFont typeface="Arial"/>
              <a:buNone/>
            </a:pPr>
            <a:r>
              <a:rPr lang="en"/>
              <a:t>ture depicted in Figure 6.4. It begins with a collection of declarative statements</a:t>
            </a:r>
            <a:endParaRPr/>
          </a:p>
          <a:p>
            <a:pPr indent="0" lvl="0" marL="0" rtl="0" algn="l">
              <a:spcBef>
                <a:spcPts val="0"/>
              </a:spcBef>
              <a:spcAft>
                <a:spcPts val="0"/>
              </a:spcAft>
              <a:buClr>
                <a:schemeClr val="dk1"/>
              </a:buClr>
              <a:buSzPts val="1100"/>
              <a:buFont typeface="Arial"/>
              <a:buNone/>
            </a:pPr>
            <a:r>
              <a:rPr lang="en"/>
              <a:t>describing the data to be manipulated by the program. This preliminary material</a:t>
            </a:r>
            <a:endParaRPr/>
          </a:p>
          <a:p>
            <a:pPr indent="0" lvl="0" marL="0" rtl="0" algn="l">
              <a:spcBef>
                <a:spcPts val="0"/>
              </a:spcBef>
              <a:spcAft>
                <a:spcPts val="0"/>
              </a:spcAft>
              <a:buClr>
                <a:schemeClr val="dk1"/>
              </a:buClr>
              <a:buSzPts val="1100"/>
              <a:buFont typeface="Arial"/>
              <a:buNone/>
            </a:pPr>
            <a:r>
              <a:rPr lang="en"/>
              <a:t>is followed by imperative statements that describe the algorithm to be executed.</a:t>
            </a:r>
            <a:endParaRPr/>
          </a:p>
          <a:p>
            <a:pPr indent="0" lvl="0" marL="0" rtl="0" algn="l">
              <a:spcBef>
                <a:spcPts val="0"/>
              </a:spcBef>
              <a:spcAft>
                <a:spcPts val="0"/>
              </a:spcAft>
              <a:buClr>
                <a:schemeClr val="dk1"/>
              </a:buClr>
              <a:buSzPts val="1100"/>
              <a:buFont typeface="Arial"/>
              <a:buNone/>
            </a:pPr>
            <a:r>
              <a:rPr lang="en"/>
              <a:t>Many languages now allow the declarative and imperative statements to be freely</a:t>
            </a:r>
            <a:endParaRPr/>
          </a:p>
          <a:p>
            <a:pPr indent="0" lvl="0" marL="0" rtl="0" algn="l">
              <a:spcBef>
                <a:spcPts val="0"/>
              </a:spcBef>
              <a:spcAft>
                <a:spcPts val="0"/>
              </a:spcAft>
              <a:buClr>
                <a:schemeClr val="dk1"/>
              </a:buClr>
              <a:buSzPts val="1100"/>
              <a:buFont typeface="Arial"/>
              <a:buNone/>
            </a:pPr>
            <a:r>
              <a:rPr lang="en"/>
              <a:t>intermingled, but the conceptual distinction remains. Comment statements are</a:t>
            </a:r>
            <a:endParaRPr/>
          </a:p>
          <a:p>
            <a:pPr indent="0" lvl="0" marL="0" rtl="0" algn="l">
              <a:spcBef>
                <a:spcPts val="0"/>
              </a:spcBef>
              <a:spcAft>
                <a:spcPts val="0"/>
              </a:spcAft>
              <a:buClr>
                <a:schemeClr val="dk1"/>
              </a:buClr>
              <a:buSzPts val="1100"/>
              <a:buFont typeface="Arial"/>
              <a:buNone/>
            </a:pPr>
            <a:r>
              <a:rPr lang="en"/>
              <a:t>dispersed as needed to clarify the program.</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278ca82ca7a_0_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278ca82ca7a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https://www.geeksforgeeks.org/data-types-in-c/</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Types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Description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Primitive Data Types	Primitive data types are the most basic data types that are used for representing simple values such as integers, float, characters, etc.</a:t>
            </a:r>
            <a:endParaRPr/>
          </a:p>
          <a:p>
            <a:pPr indent="0" lvl="0" marL="0" rtl="0" algn="l">
              <a:spcBef>
                <a:spcPts val="0"/>
              </a:spcBef>
              <a:spcAft>
                <a:spcPts val="0"/>
              </a:spcAft>
              <a:buNone/>
            </a:pPr>
            <a:r>
              <a:rPr lang="en"/>
              <a:t>User Defined Data Types	The user-defined data types are defined by the user himself.</a:t>
            </a:r>
            <a:endParaRPr/>
          </a:p>
          <a:p>
            <a:pPr indent="0" lvl="0" marL="0" rtl="0" algn="l">
              <a:spcBef>
                <a:spcPts val="0"/>
              </a:spcBef>
              <a:spcAft>
                <a:spcPts val="0"/>
              </a:spcAft>
              <a:buNone/>
            </a:pPr>
            <a:r>
              <a:rPr lang="en"/>
              <a:t>Derived Types	The data types that are derived from the primitive or built-in datatypes are referred to as Derived Data Types.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278ca82ca7a_0_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278ca82ca7a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278ca82ca7a_0_1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278ca82ca7a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278ca82ca7a_0_3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278ca82ca7a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In contrast to an array in which all data items are the same type, an ­aggregate</a:t>
            </a:r>
            <a:endParaRPr/>
          </a:p>
          <a:p>
            <a:pPr indent="0" lvl="0" marL="0" rtl="0" algn="l">
              <a:spcBef>
                <a:spcPts val="0"/>
              </a:spcBef>
              <a:spcAft>
                <a:spcPts val="0"/>
              </a:spcAft>
              <a:buNone/>
            </a:pPr>
            <a:r>
              <a:rPr lang="en"/>
              <a:t>type (also called a structure, a record, or sometimes a heterogeneous array) is a block of data in which different elements can have different types. For</a:t>
            </a:r>
            <a:endParaRPr/>
          </a:p>
          <a:p>
            <a:pPr indent="0" lvl="0" marL="0" rtl="0" algn="l">
              <a:spcBef>
                <a:spcPts val="0"/>
              </a:spcBef>
              <a:spcAft>
                <a:spcPts val="0"/>
              </a:spcAft>
              <a:buNone/>
            </a:pPr>
            <a:r>
              <a:rPr lang="en"/>
              <a:t>instance, a block of data referring to an employee might consist of an entry</a:t>
            </a:r>
            <a:endParaRPr/>
          </a:p>
          <a:p>
            <a:pPr indent="0" lvl="0" marL="0" rtl="0" algn="l">
              <a:spcBef>
                <a:spcPts val="0"/>
              </a:spcBef>
              <a:spcAft>
                <a:spcPts val="0"/>
              </a:spcAft>
              <a:buNone/>
            </a:pPr>
            <a:r>
              <a:rPr lang="en"/>
              <a:t>called Name of type character, an entry called Age of type integer, and an entry</a:t>
            </a:r>
            <a:endParaRPr/>
          </a:p>
          <a:p>
            <a:pPr indent="0" lvl="0" marL="0" rtl="0" algn="l">
              <a:spcBef>
                <a:spcPts val="0"/>
              </a:spcBef>
              <a:spcAft>
                <a:spcPts val="0"/>
              </a:spcAft>
              <a:buNone/>
            </a:pPr>
            <a:r>
              <a:rPr lang="en"/>
              <a:t>called SkillRating of type float. Such an aggregate type would be declared in C</a:t>
            </a:r>
            <a:endParaRPr/>
          </a:p>
          <a:p>
            <a:pPr indent="0" lvl="0" marL="0" rtl="0" algn="l">
              <a:spcBef>
                <a:spcPts val="0"/>
              </a:spcBef>
              <a:spcAft>
                <a:spcPts val="0"/>
              </a:spcAft>
              <a:buNone/>
            </a:pPr>
            <a:r>
              <a:rPr lang="en"/>
              <a:t>by the statement</a:t>
            </a:r>
            <a:endParaRPr/>
          </a:p>
          <a:p>
            <a:pPr indent="0" lvl="0" marL="0" rtl="0" algn="l">
              <a:spcBef>
                <a:spcPts val="0"/>
              </a:spcBef>
              <a:spcAft>
                <a:spcPts val="0"/>
              </a:spcAft>
              <a:buNone/>
            </a:pPr>
            <a:r>
              <a:rPr lang="en"/>
              <a:t>struct { char Name[25];</a:t>
            </a:r>
            <a:endParaRPr/>
          </a:p>
          <a:p>
            <a:pPr indent="0" lvl="0" marL="0" rtl="0" algn="l">
              <a:spcBef>
                <a:spcPts val="0"/>
              </a:spcBef>
              <a:spcAft>
                <a:spcPts val="0"/>
              </a:spcAft>
              <a:buNone/>
            </a:pPr>
            <a:r>
              <a:rPr lang="en"/>
              <a:t>int Age;</a:t>
            </a:r>
            <a:endParaRPr/>
          </a:p>
          <a:p>
            <a:pPr indent="0" lvl="0" marL="0" rtl="0" algn="l">
              <a:spcBef>
                <a:spcPts val="0"/>
              </a:spcBef>
              <a:spcAft>
                <a:spcPts val="0"/>
              </a:spcAft>
              <a:buNone/>
            </a:pPr>
            <a:r>
              <a:rPr lang="en"/>
              <a:t>float SkillRating;</a:t>
            </a:r>
            <a:endParaRPr/>
          </a:p>
          <a:p>
            <a:pPr indent="0" lvl="0" marL="0" rtl="0" algn="l">
              <a:spcBef>
                <a:spcPts val="0"/>
              </a:spcBef>
              <a:spcAft>
                <a:spcPts val="0"/>
              </a:spcAft>
              <a:buNone/>
            </a:pPr>
            <a:r>
              <a:rPr lang="en"/>
              <a:t>} Employee;</a:t>
            </a:r>
            <a:endParaRPr/>
          </a:p>
          <a:p>
            <a:pPr indent="0" lvl="0" marL="0" rtl="0" algn="l">
              <a:spcBef>
                <a:spcPts val="0"/>
              </a:spcBef>
              <a:spcAft>
                <a:spcPts val="0"/>
              </a:spcAft>
              <a:buNone/>
            </a:pPr>
            <a:r>
              <a:rPr lang="en"/>
              <a:t>which says that the variable Employee is to refer to a structure (abbreviated</a:t>
            </a:r>
            <a:endParaRPr/>
          </a:p>
          <a:p>
            <a:pPr indent="0" lvl="0" marL="0" rtl="0" algn="l">
              <a:spcBef>
                <a:spcPts val="0"/>
              </a:spcBef>
              <a:spcAft>
                <a:spcPts val="0"/>
              </a:spcAft>
              <a:buNone/>
            </a:pPr>
            <a:r>
              <a:rPr lang="en"/>
              <a:t>struct) consisting of three components called Name (a string of 25 characters),</a:t>
            </a:r>
            <a:endParaRPr/>
          </a:p>
          <a:p>
            <a:pPr indent="0" lvl="0" marL="0" rtl="0" algn="l">
              <a:spcBef>
                <a:spcPts val="0"/>
              </a:spcBef>
              <a:spcAft>
                <a:spcPts val="0"/>
              </a:spcAft>
              <a:buNone/>
            </a:pPr>
            <a:r>
              <a:rPr lang="en"/>
              <a:t>Age, and SkillRating</a:t>
            </a:r>
            <a:endParaRPr/>
          </a:p>
          <a:p>
            <a:pPr indent="0" lvl="0" marL="0" rtl="0" algn="l">
              <a:spcBef>
                <a:spcPts val="0"/>
              </a:spcBef>
              <a:spcAft>
                <a:spcPts val="0"/>
              </a:spcAft>
              <a:buNone/>
            </a:pPr>
            <a:r>
              <a:rPr lang="en"/>
              <a:t>Once such an aggregate has been declared, a</a:t>
            </a:r>
            <a:endParaRPr/>
          </a:p>
          <a:p>
            <a:pPr indent="0" lvl="0" marL="0" rtl="0" algn="l">
              <a:spcBef>
                <a:spcPts val="0"/>
              </a:spcBef>
              <a:spcAft>
                <a:spcPts val="0"/>
              </a:spcAft>
              <a:buNone/>
            </a:pPr>
            <a:r>
              <a:rPr lang="en"/>
              <a:t>programmer can use the structure name (Employee) to refer to the entire aggre-</a:t>
            </a:r>
            <a:endParaRPr/>
          </a:p>
          <a:p>
            <a:pPr indent="0" lvl="0" marL="0" rtl="0" algn="l">
              <a:spcBef>
                <a:spcPts val="0"/>
              </a:spcBef>
              <a:spcAft>
                <a:spcPts val="0"/>
              </a:spcAft>
              <a:buNone/>
            </a:pPr>
            <a:r>
              <a:rPr lang="en"/>
              <a:t>gate or can reference individual fields within the aggregate by means of the</a:t>
            </a:r>
            <a:endParaRPr/>
          </a:p>
          <a:p>
            <a:pPr indent="0" lvl="0" marL="0" rtl="0" algn="l">
              <a:spcBef>
                <a:spcPts val="0"/>
              </a:spcBef>
              <a:spcAft>
                <a:spcPts val="0"/>
              </a:spcAft>
              <a:buNone/>
            </a:pPr>
            <a:r>
              <a:rPr lang="en"/>
              <a:t>structure name followed by a period and the field name (such as Employee.Age).</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278ca82ca7a_0_2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278ca82ca7a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278ca82ca7a_0_4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278ca82ca7a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278ca82ca7a_0_5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278ca82ca7a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278ca82ca7a_0_5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278ca82ca7a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Control is transferred to the function at the time its services are required and then returned to the original program unit after the function has finished (Figure 6.8). The process of transferring control to a function is often referred to as calling or invoking the function.</a:t>
            </a:r>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278ca82ca7a_0_6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278ca82ca7a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278ca82ca7a_0_6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278ca82ca7a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278ca82ca7a_0_7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278ca82ca7a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Different programming languages provide different parameter-passing tech-</a:t>
            </a:r>
            <a:endParaRPr/>
          </a:p>
          <a:p>
            <a:pPr indent="0" lvl="0" marL="0" rtl="0" algn="l">
              <a:spcBef>
                <a:spcPts val="0"/>
              </a:spcBef>
              <a:spcAft>
                <a:spcPts val="0"/>
              </a:spcAft>
              <a:buNone/>
            </a:pPr>
            <a:r>
              <a:rPr lang="en"/>
              <a:t>niques, but in all cases the use of parameters allows a function to be written in a</a:t>
            </a:r>
            <a:endParaRPr/>
          </a:p>
          <a:p>
            <a:pPr indent="0" lvl="0" marL="0" rtl="0" algn="l">
              <a:spcBef>
                <a:spcPts val="0"/>
              </a:spcBef>
              <a:spcAft>
                <a:spcPts val="0"/>
              </a:spcAft>
              <a:buNone/>
            </a:pPr>
            <a:r>
              <a:rPr lang="en"/>
              <a:t>generic sense and applied to specific data at the appropriate time.</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1eb65817ab5_0_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1eb65817ab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1eb65817ab5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1eb65817ab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278ca82ca7a_0_8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278ca82ca7a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this section we investigate the process of converting a program written in a high-level language into a machine-executable form.</a:t>
            </a:r>
            <a:endParaRPr/>
          </a:p>
          <a:p>
            <a:pPr indent="0" lvl="0" marL="0" rtl="0" algn="l">
              <a:spcBef>
                <a:spcPts val="0"/>
              </a:spcBef>
              <a:spcAft>
                <a:spcPts val="0"/>
              </a:spcAft>
              <a:buNone/>
            </a:pPr>
            <a:r>
              <a:rPr lang="en"/>
              <a:t>The process of converting a program from one language to another is called translation.</a:t>
            </a:r>
            <a:endParaRPr/>
          </a:p>
          <a:p>
            <a:pPr indent="0" lvl="0" marL="0" rtl="0" algn="l">
              <a:spcBef>
                <a:spcPts val="0"/>
              </a:spcBef>
              <a:spcAft>
                <a:spcPts val="0"/>
              </a:spcAft>
              <a:buNone/>
            </a:pPr>
            <a:r>
              <a:rPr lang="en"/>
              <a:t>The translation process consists of three activities—lexical analysis, parsing, and code generation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278ca82ca7a_0_13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278ca82ca7a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Lexical analysis is the process of recognizing which strings of symbols from</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the source program represent a single entity, or token. For example, the three</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symbols 153 should not be interpreted as a 1, a 5, and a 3 but should be recog-</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nized as representing a single numeric value. Likewise, a word appearing in the</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program, although composed of individual symbols, should be interpreted as a</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single unit.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Thus the lexical analyzer reads the source program symbol by symbol, iden-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tifying which groups of symbols represent tokens, and classifying those tokens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according to whether they are numeric values, words, arithmetic operators,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and so on. The lexical analyzer encodes each token with its classification and</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hands them to the parser. During this process, the lexical analyzer skips over all</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­comment statements.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Thus the parser views the program in terms of lexical units (tokens) rather</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than individual symbols. It is the parser’s job to group these units into statements.</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278ca82ca7a_0_9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278ca82ca7a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parsing process is based on a set of rules that define the syntax of the programming language. </a:t>
            </a:r>
            <a:endParaRPr/>
          </a:p>
          <a:p>
            <a:pPr indent="0" lvl="0" marL="0" rtl="0" algn="l">
              <a:spcBef>
                <a:spcPts val="0"/>
              </a:spcBef>
              <a:spcAft>
                <a:spcPts val="0"/>
              </a:spcAft>
              <a:buNone/>
            </a:pPr>
            <a:r>
              <a:rPr lang="en"/>
              <a:t>Collectively, these rules are called a grammar. </a:t>
            </a:r>
            <a:endParaRPr/>
          </a:p>
          <a:p>
            <a:pPr indent="0" lvl="0" marL="0" rtl="0" algn="l">
              <a:spcBef>
                <a:spcPts val="0"/>
              </a:spcBef>
              <a:spcAft>
                <a:spcPts val="0"/>
              </a:spcAft>
              <a:buNone/>
            </a:pPr>
            <a:r>
              <a:rPr lang="en"/>
              <a:t>One way of expressing these rules is by means of syntax diagrams, which are pictorial representations of a language’s grammatical structure.</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Figure 6.14 shows a syntax</a:t>
            </a:r>
            <a:endParaRPr/>
          </a:p>
          <a:p>
            <a:pPr indent="0" lvl="0" marL="0" rtl="0" algn="l">
              <a:spcBef>
                <a:spcPts val="0"/>
              </a:spcBef>
              <a:spcAft>
                <a:spcPts val="0"/>
              </a:spcAft>
              <a:buClr>
                <a:schemeClr val="dk1"/>
              </a:buClr>
              <a:buSzPts val="1100"/>
              <a:buFont typeface="Arial"/>
              <a:buNone/>
            </a:pPr>
            <a:r>
              <a:rPr lang="en"/>
              <a:t>diagram of the if-else statement from Python in Chapter 5. This diagram indicates</a:t>
            </a:r>
            <a:endParaRPr/>
          </a:p>
          <a:p>
            <a:pPr indent="0" lvl="0" marL="0" rtl="0" algn="l">
              <a:spcBef>
                <a:spcPts val="0"/>
              </a:spcBef>
              <a:spcAft>
                <a:spcPts val="0"/>
              </a:spcAft>
              <a:buClr>
                <a:schemeClr val="dk1"/>
              </a:buClr>
              <a:buSzPts val="1100"/>
              <a:buFont typeface="Arial"/>
              <a:buNone/>
            </a:pPr>
            <a:r>
              <a:rPr lang="en"/>
              <a:t>that an if-else structure begins with the word if, followed by a Boolean expression,</a:t>
            </a:r>
            <a:endParaRPr/>
          </a:p>
          <a:p>
            <a:pPr indent="0" lvl="0" marL="0" rtl="0" algn="l">
              <a:spcBef>
                <a:spcPts val="0"/>
              </a:spcBef>
              <a:spcAft>
                <a:spcPts val="0"/>
              </a:spcAft>
              <a:buClr>
                <a:schemeClr val="dk1"/>
              </a:buClr>
              <a:buSzPts val="1100"/>
              <a:buFont typeface="Arial"/>
              <a:buNone/>
            </a:pPr>
            <a:r>
              <a:rPr lang="en"/>
              <a:t>followed by a colon, followed by Indented Statements.</a:t>
            </a:r>
            <a:endParaRPr/>
          </a:p>
          <a:p>
            <a:pPr indent="0" lvl="0" marL="0" rtl="0" algn="l">
              <a:spcBef>
                <a:spcPts val="0"/>
              </a:spcBef>
              <a:spcAft>
                <a:spcPts val="0"/>
              </a:spcAft>
              <a:buNone/>
            </a:pPr>
            <a:r>
              <a:rPr lang="en"/>
              <a:t>This combination might or might not be followed by the word else, a colon, and Indented ­Statements.</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278ca82ca7a_0_11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278ca82ca7a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As a more complete example, Figure 6.15 presents a set of syntax diagrams</a:t>
            </a:r>
            <a:endParaRPr/>
          </a:p>
          <a:p>
            <a:pPr indent="0" lvl="0" marL="0" rtl="0" algn="l">
              <a:spcBef>
                <a:spcPts val="0"/>
              </a:spcBef>
              <a:spcAft>
                <a:spcPts val="0"/>
              </a:spcAft>
              <a:buClr>
                <a:schemeClr val="dk1"/>
              </a:buClr>
              <a:buSzPts val="1100"/>
              <a:buFont typeface="Arial"/>
              <a:buNone/>
            </a:pPr>
            <a:r>
              <a:rPr lang="en"/>
              <a:t>that describes the syntax of a structure called Expression, which is intended to</a:t>
            </a:r>
            <a:endParaRPr/>
          </a:p>
          <a:p>
            <a:pPr indent="0" lvl="0" marL="0" rtl="0" algn="l">
              <a:spcBef>
                <a:spcPts val="0"/>
              </a:spcBef>
              <a:spcAft>
                <a:spcPts val="0"/>
              </a:spcAft>
              <a:buClr>
                <a:schemeClr val="dk1"/>
              </a:buClr>
              <a:buSzPts val="1100"/>
              <a:buFont typeface="Arial"/>
              <a:buNone/>
            </a:pPr>
            <a:r>
              <a:rPr lang="en"/>
              <a:t>be the structure of simple arithmetic expressions. The first diagram describes an</a:t>
            </a:r>
            <a:endParaRPr/>
          </a:p>
          <a:p>
            <a:pPr indent="0" lvl="0" marL="0" rtl="0" algn="l">
              <a:spcBef>
                <a:spcPts val="0"/>
              </a:spcBef>
              <a:spcAft>
                <a:spcPts val="0"/>
              </a:spcAft>
              <a:buClr>
                <a:schemeClr val="dk1"/>
              </a:buClr>
              <a:buSzPts val="1100"/>
              <a:buFont typeface="Arial"/>
              <a:buNone/>
            </a:pPr>
            <a:r>
              <a:rPr lang="en"/>
              <a:t>Expression as consisting of a Term that might or might not be followed by either</a:t>
            </a:r>
            <a:endParaRPr/>
          </a:p>
          <a:p>
            <a:pPr indent="0" lvl="0" marL="0" rtl="0" algn="l">
              <a:spcBef>
                <a:spcPts val="0"/>
              </a:spcBef>
              <a:spcAft>
                <a:spcPts val="0"/>
              </a:spcAft>
              <a:buClr>
                <a:schemeClr val="dk1"/>
              </a:buClr>
              <a:buSzPts val="1100"/>
              <a:buFont typeface="Arial"/>
              <a:buNone/>
            </a:pPr>
            <a:r>
              <a:rPr lang="en"/>
              <a:t>a + or - symbol followed by another Expression. The second diagram describes</a:t>
            </a:r>
            <a:endParaRPr/>
          </a:p>
          <a:p>
            <a:pPr indent="0" lvl="0" marL="0" rtl="0" algn="l">
              <a:spcBef>
                <a:spcPts val="0"/>
              </a:spcBef>
              <a:spcAft>
                <a:spcPts val="0"/>
              </a:spcAft>
              <a:buClr>
                <a:schemeClr val="dk1"/>
              </a:buClr>
              <a:buSzPts val="1100"/>
              <a:buFont typeface="Arial"/>
              <a:buNone/>
            </a:pPr>
            <a:r>
              <a:rPr lang="en"/>
              <a:t>a Term as consisting of either a single Factor or a Factor followed by a * or ,</a:t>
            </a:r>
            <a:endParaRPr/>
          </a:p>
          <a:p>
            <a:pPr indent="0" lvl="0" marL="0" rtl="0" algn="l">
              <a:spcBef>
                <a:spcPts val="0"/>
              </a:spcBef>
              <a:spcAft>
                <a:spcPts val="0"/>
              </a:spcAft>
              <a:buClr>
                <a:schemeClr val="dk1"/>
              </a:buClr>
              <a:buSzPts val="1100"/>
              <a:buFont typeface="Arial"/>
              <a:buNone/>
            </a:pPr>
            <a:r>
              <a:rPr lang="en"/>
              <a:t>symbol, followed by another Term. Finally, the last diagram describes a Factor as</a:t>
            </a:r>
            <a:endParaRPr/>
          </a:p>
          <a:p>
            <a:pPr indent="0" lvl="0" marL="0" rtl="0" algn="l">
              <a:spcBef>
                <a:spcPts val="0"/>
              </a:spcBef>
              <a:spcAft>
                <a:spcPts val="0"/>
              </a:spcAft>
              <a:buClr>
                <a:schemeClr val="dk1"/>
              </a:buClr>
              <a:buSzPts val="1100"/>
              <a:buFont typeface="Arial"/>
              <a:buNone/>
            </a:pPr>
            <a:r>
              <a:rPr lang="en"/>
              <a:t>one of the symbols x, y, or z.</a:t>
            </a:r>
            <a:endParaRPr/>
          </a:p>
          <a:p>
            <a:pPr indent="0" lvl="0" marL="0" rtl="0" algn="l">
              <a:spcBef>
                <a:spcPts val="0"/>
              </a:spcBef>
              <a:spcAft>
                <a:spcPts val="0"/>
              </a:spcAft>
              <a:buClr>
                <a:schemeClr val="dk1"/>
              </a:buClr>
              <a:buSzPts val="1100"/>
              <a:buFont typeface="Arial"/>
              <a:buNone/>
            </a:pPr>
            <a:r>
              <a:rPr lang="en"/>
              <a:t>The manner in which a particular string conforms to a set of syntax dia-</a:t>
            </a:r>
            <a:endParaRPr/>
          </a:p>
          <a:p>
            <a:pPr indent="0" lvl="0" marL="0" rtl="0" algn="l">
              <a:spcBef>
                <a:spcPts val="0"/>
              </a:spcBef>
              <a:spcAft>
                <a:spcPts val="0"/>
              </a:spcAft>
              <a:buClr>
                <a:schemeClr val="dk1"/>
              </a:buClr>
              <a:buSzPts val="1100"/>
              <a:buFont typeface="Arial"/>
              <a:buNone/>
            </a:pPr>
            <a:r>
              <a:rPr lang="en"/>
              <a:t>grams can be represented in a pictorial form by a parse tree, as demonstrated in</a:t>
            </a:r>
            <a:endParaRPr/>
          </a:p>
          <a:p>
            <a:pPr indent="0" lvl="0" marL="0" rtl="0" algn="l">
              <a:spcBef>
                <a:spcPts val="0"/>
              </a:spcBef>
              <a:spcAft>
                <a:spcPts val="0"/>
              </a:spcAft>
              <a:buClr>
                <a:schemeClr val="dk1"/>
              </a:buClr>
              <a:buSzPts val="1100"/>
              <a:buFont typeface="Arial"/>
              <a:buNone/>
            </a:pPr>
            <a:r>
              <a:rPr lang="en"/>
              <a:t>­Figure 6.16, which presents a parse tree for the string</a:t>
            </a:r>
            <a:endParaRPr/>
          </a:p>
          <a:p>
            <a:pPr indent="0" lvl="0" marL="0" rtl="0" algn="l">
              <a:spcBef>
                <a:spcPts val="0"/>
              </a:spcBef>
              <a:spcAft>
                <a:spcPts val="0"/>
              </a:spcAft>
              <a:buClr>
                <a:schemeClr val="dk1"/>
              </a:buClr>
              <a:buSzPts val="1100"/>
              <a:buFont typeface="Arial"/>
              <a:buNone/>
            </a:pPr>
            <a:r>
              <a:rPr lang="en"/>
              <a:t>x + y  *  z</a:t>
            </a:r>
            <a:endParaRPr/>
          </a:p>
          <a:p>
            <a:pPr indent="0" lvl="0" marL="0" rtl="0" algn="l">
              <a:spcBef>
                <a:spcPts val="0"/>
              </a:spcBef>
              <a:spcAft>
                <a:spcPts val="0"/>
              </a:spcAft>
              <a:buClr>
                <a:schemeClr val="dk1"/>
              </a:buClr>
              <a:buSzPts val="1100"/>
              <a:buFont typeface="Arial"/>
              <a:buNone/>
            </a:pPr>
            <a:r>
              <a:rPr lang="en"/>
              <a:t>based on the set of diagrams in Figure 6.15. Note that the tree starts at the top</a:t>
            </a:r>
            <a:endParaRPr/>
          </a:p>
          <a:p>
            <a:pPr indent="0" lvl="0" marL="0" rtl="0" algn="l">
              <a:spcBef>
                <a:spcPts val="0"/>
              </a:spcBef>
              <a:spcAft>
                <a:spcPts val="0"/>
              </a:spcAft>
              <a:buClr>
                <a:schemeClr val="dk1"/>
              </a:buClr>
              <a:buSzPts val="1100"/>
              <a:buFont typeface="Arial"/>
              <a:buNone/>
            </a:pPr>
            <a:r>
              <a:rPr lang="en"/>
              <a:t>with the nonterminal Expression and at each level shows how the nonterminals</a:t>
            </a:r>
            <a:endParaRPr/>
          </a:p>
          <a:p>
            <a:pPr indent="0" lvl="0" marL="0" rtl="0" algn="l">
              <a:spcBef>
                <a:spcPts val="0"/>
              </a:spcBef>
              <a:spcAft>
                <a:spcPts val="0"/>
              </a:spcAft>
              <a:buClr>
                <a:schemeClr val="dk1"/>
              </a:buClr>
              <a:buSzPts val="1100"/>
              <a:buFont typeface="Arial"/>
              <a:buNone/>
            </a:pPr>
            <a:r>
              <a:rPr lang="en"/>
              <a:t>at that level are decomposed until the symbols in the string itself are obtained. In</a:t>
            </a:r>
            <a:endParaRPr/>
          </a:p>
          <a:p>
            <a:pPr indent="0" lvl="0" marL="0" rtl="0" algn="l">
              <a:spcBef>
                <a:spcPts val="0"/>
              </a:spcBef>
              <a:spcAft>
                <a:spcPts val="0"/>
              </a:spcAft>
              <a:buClr>
                <a:schemeClr val="dk1"/>
              </a:buClr>
              <a:buSzPts val="1100"/>
              <a:buFont typeface="Arial"/>
              <a:buNone/>
            </a:pPr>
            <a:r>
              <a:rPr lang="en"/>
              <a:t>particular, the figure shows that (according to the first diagram in Figure 6.15) an</a:t>
            </a:r>
            <a:endParaRPr/>
          </a:p>
          <a:p>
            <a:pPr indent="0" lvl="0" marL="0" rtl="0" algn="l">
              <a:spcBef>
                <a:spcPts val="0"/>
              </a:spcBef>
              <a:spcAft>
                <a:spcPts val="0"/>
              </a:spcAft>
              <a:buClr>
                <a:schemeClr val="dk1"/>
              </a:buClr>
              <a:buSzPts val="1100"/>
              <a:buFont typeface="Arial"/>
              <a:buNone/>
            </a:pPr>
            <a:r>
              <a:rPr lang="en"/>
              <a:t>Expression can be decomposed as a Term, followed by the + symbol, followed by</a:t>
            </a:r>
            <a:endParaRPr/>
          </a:p>
          <a:p>
            <a:pPr indent="0" lvl="0" marL="0" rtl="0" algn="l">
              <a:spcBef>
                <a:spcPts val="0"/>
              </a:spcBef>
              <a:spcAft>
                <a:spcPts val="0"/>
              </a:spcAft>
              <a:buClr>
                <a:schemeClr val="dk1"/>
              </a:buClr>
              <a:buSzPts val="1100"/>
              <a:buFont typeface="Arial"/>
              <a:buNone/>
            </a:pPr>
            <a:r>
              <a:rPr lang="en"/>
              <a:t>an Expression. In turn, the Term can be decomposed (using the second diagram</a:t>
            </a:r>
            <a:endParaRPr/>
          </a:p>
          <a:p>
            <a:pPr indent="0" lvl="0" marL="0" rtl="0" algn="l">
              <a:spcBef>
                <a:spcPts val="0"/>
              </a:spcBef>
              <a:spcAft>
                <a:spcPts val="0"/>
              </a:spcAft>
              <a:buClr>
                <a:schemeClr val="dk1"/>
              </a:buClr>
              <a:buSzPts val="1100"/>
              <a:buFont typeface="Arial"/>
              <a:buNone/>
            </a:pPr>
            <a:r>
              <a:rPr lang="en"/>
              <a:t>in Figure 6.15) as a Factor (which turns out to be the symbol x), and the final</a:t>
            </a:r>
            <a:endParaRPr/>
          </a:p>
          <a:p>
            <a:pPr indent="0" lvl="0" marL="0" rtl="0" algn="l">
              <a:spcBef>
                <a:spcPts val="0"/>
              </a:spcBef>
              <a:spcAft>
                <a:spcPts val="0"/>
              </a:spcAft>
              <a:buClr>
                <a:schemeClr val="dk1"/>
              </a:buClr>
              <a:buSzPts val="1100"/>
              <a:buFont typeface="Arial"/>
              <a:buNone/>
            </a:pPr>
            <a:r>
              <a:rPr lang="en"/>
              <a:t>Expression can be decomposed (using the third diagram in Figure 6.15) as a Term</a:t>
            </a:r>
            <a:endParaRPr/>
          </a:p>
          <a:p>
            <a:pPr indent="0" lvl="0" marL="0" rtl="0" algn="l">
              <a:spcBef>
                <a:spcPts val="0"/>
              </a:spcBef>
              <a:spcAft>
                <a:spcPts val="0"/>
              </a:spcAft>
              <a:buNone/>
            </a:pPr>
            <a:r>
              <a:rPr lang="en"/>
              <a:t>(which turns out to be y * z). The process of parsing a program is essentially that of constructing a parse tree</a:t>
            </a:r>
            <a:endParaRPr/>
          </a:p>
          <a:p>
            <a:pPr indent="0" lvl="0" marL="0" rtl="0" algn="l">
              <a:spcBef>
                <a:spcPts val="0"/>
              </a:spcBef>
              <a:spcAft>
                <a:spcPts val="0"/>
              </a:spcAft>
              <a:buNone/>
            </a:pPr>
            <a:r>
              <a:rPr lang="en"/>
              <a:t>for the source program. Indeed, a parse tree represents the parser’s interpretation of</a:t>
            </a:r>
            <a:endParaRPr/>
          </a:p>
          <a:p>
            <a:pPr indent="0" lvl="0" marL="0" rtl="0" algn="l">
              <a:spcBef>
                <a:spcPts val="0"/>
              </a:spcBef>
              <a:spcAft>
                <a:spcPts val="0"/>
              </a:spcAft>
              <a:buNone/>
            </a:pPr>
            <a:r>
              <a:rPr lang="en"/>
              <a:t>the program’s grammatical composition. For this reason the syntax rules describing</a:t>
            </a:r>
            <a:endParaRPr/>
          </a:p>
          <a:p>
            <a:pPr indent="0" lvl="0" marL="0" rtl="0" algn="l">
              <a:spcBef>
                <a:spcPts val="0"/>
              </a:spcBef>
              <a:spcAft>
                <a:spcPts val="0"/>
              </a:spcAft>
              <a:buNone/>
            </a:pPr>
            <a:r>
              <a:rPr lang="en"/>
              <a:t>a program’s grammatical structure must not allow two distinct parse trees for one</a:t>
            </a:r>
            <a:endParaRPr/>
          </a:p>
          <a:p>
            <a:pPr indent="0" lvl="0" marL="0" rtl="0" algn="l">
              <a:spcBef>
                <a:spcPts val="0"/>
              </a:spcBef>
              <a:spcAft>
                <a:spcPts val="0"/>
              </a:spcAft>
              <a:buNone/>
            </a:pPr>
            <a:r>
              <a:rPr lang="en"/>
              <a:t>string, since this would lead to ambiguities within the parser. A grammar that does</a:t>
            </a:r>
            <a:endParaRPr/>
          </a:p>
          <a:p>
            <a:pPr indent="0" lvl="0" marL="0" rtl="0" algn="l">
              <a:spcBef>
                <a:spcPts val="0"/>
              </a:spcBef>
              <a:spcAft>
                <a:spcPts val="0"/>
              </a:spcAft>
              <a:buNone/>
            </a:pPr>
            <a:r>
              <a:rPr lang="en"/>
              <a:t>allow two distinct parse trees for one string is said to be an ambiguous grammar.</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278ca82ca7a_0_12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278ca82ca7a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278ca82ca7a_0_12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278ca82ca7a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final activity in the translation process is code generation, which is</a:t>
            </a:r>
            <a:endParaRPr/>
          </a:p>
          <a:p>
            <a:pPr indent="0" lvl="0" marL="0" rtl="0" algn="l">
              <a:spcBef>
                <a:spcPts val="0"/>
              </a:spcBef>
              <a:spcAft>
                <a:spcPts val="0"/>
              </a:spcAft>
              <a:buNone/>
            </a:pPr>
            <a:r>
              <a:rPr lang="en"/>
              <a:t>the process of constructing the machine-language instructions to implement the</a:t>
            </a:r>
            <a:endParaRPr/>
          </a:p>
          <a:p>
            <a:pPr indent="0" lvl="0" marL="0" rtl="0" algn="l">
              <a:spcBef>
                <a:spcPts val="0"/>
              </a:spcBef>
              <a:spcAft>
                <a:spcPts val="0"/>
              </a:spcAft>
              <a:buNone/>
            </a:pPr>
            <a:r>
              <a:rPr lang="en"/>
              <a:t>statements recognized by the parser. This process involves numerous issues, one</a:t>
            </a:r>
            <a:endParaRPr/>
          </a:p>
          <a:p>
            <a:pPr indent="0" lvl="0" marL="0" rtl="0" algn="l">
              <a:spcBef>
                <a:spcPts val="0"/>
              </a:spcBef>
              <a:spcAft>
                <a:spcPts val="0"/>
              </a:spcAft>
              <a:buNone/>
            </a:pPr>
            <a:r>
              <a:rPr lang="en"/>
              <a:t>being that of producing efficient machine-language versions of programs. For</a:t>
            </a:r>
            <a:endParaRPr/>
          </a:p>
          <a:p>
            <a:pPr indent="0" lvl="0" marL="0" rtl="0" algn="l">
              <a:spcBef>
                <a:spcPts val="0"/>
              </a:spcBef>
              <a:spcAft>
                <a:spcPts val="0"/>
              </a:spcAft>
              <a:buNone/>
            </a:pPr>
            <a:r>
              <a:rPr lang="en"/>
              <a:t>example, consider the task of translating the two-statement sequence</a:t>
            </a:r>
            <a:endParaRPr/>
          </a:p>
          <a:p>
            <a:pPr indent="0" lvl="0" marL="0" rtl="0" algn="l">
              <a:spcBef>
                <a:spcPts val="0"/>
              </a:spcBef>
              <a:spcAft>
                <a:spcPts val="0"/>
              </a:spcAft>
              <a:buNone/>
            </a:pPr>
            <a:r>
              <a:rPr lang="en"/>
              <a:t>x = y + z</a:t>
            </a:r>
            <a:endParaRPr/>
          </a:p>
          <a:p>
            <a:pPr indent="0" lvl="0" marL="0" rtl="0" algn="l">
              <a:spcBef>
                <a:spcPts val="0"/>
              </a:spcBef>
              <a:spcAft>
                <a:spcPts val="0"/>
              </a:spcAft>
              <a:buNone/>
            </a:pPr>
            <a:r>
              <a:rPr lang="en"/>
              <a:t>w = x + z</a:t>
            </a:r>
            <a:endParaRPr/>
          </a:p>
          <a:p>
            <a:pPr indent="0" lvl="0" marL="0" rtl="0" algn="l">
              <a:spcBef>
                <a:spcPts val="0"/>
              </a:spcBef>
              <a:spcAft>
                <a:spcPts val="0"/>
              </a:spcAft>
              <a:buNone/>
            </a:pPr>
            <a:r>
              <a:rPr lang="en"/>
              <a:t>If these statements are translated as individual statements, each would</a:t>
            </a:r>
            <a:endParaRPr/>
          </a:p>
          <a:p>
            <a:pPr indent="0" lvl="0" marL="0" rtl="0" algn="l">
              <a:spcBef>
                <a:spcPts val="0"/>
              </a:spcBef>
              <a:spcAft>
                <a:spcPts val="0"/>
              </a:spcAft>
              <a:buNone/>
            </a:pPr>
            <a:r>
              <a:rPr lang="en"/>
              <a:t>require that data be transferred from main memory into the CPU before the</a:t>
            </a:r>
            <a:endParaRPr/>
          </a:p>
          <a:p>
            <a:pPr indent="0" lvl="0" marL="0" rtl="0" algn="l">
              <a:spcBef>
                <a:spcPts val="0"/>
              </a:spcBef>
              <a:spcAft>
                <a:spcPts val="0"/>
              </a:spcAft>
              <a:buNone/>
            </a:pPr>
            <a:r>
              <a:rPr lang="en"/>
              <a:t>indicated addition takes place. However, efficiency can be gained by recognizing</a:t>
            </a:r>
            <a:endParaRPr/>
          </a:p>
          <a:p>
            <a:pPr indent="0" lvl="0" marL="0" rtl="0" algn="l">
              <a:spcBef>
                <a:spcPts val="0"/>
              </a:spcBef>
              <a:spcAft>
                <a:spcPts val="0"/>
              </a:spcAft>
              <a:buNone/>
            </a:pPr>
            <a:r>
              <a:rPr lang="en"/>
              <a:t>that once the first statement has been executed, the values of x and z will already</a:t>
            </a:r>
            <a:endParaRPr/>
          </a:p>
          <a:p>
            <a:pPr indent="0" lvl="0" marL="0" rtl="0" algn="l">
              <a:spcBef>
                <a:spcPts val="0"/>
              </a:spcBef>
              <a:spcAft>
                <a:spcPts val="0"/>
              </a:spcAft>
              <a:buNone/>
            </a:pPr>
            <a:r>
              <a:rPr lang="en"/>
              <a:t>be in the CPU’s general-purpose registers and therefore need not be loaded from</a:t>
            </a:r>
            <a:endParaRPr/>
          </a:p>
          <a:p>
            <a:pPr indent="0" lvl="0" marL="0" rtl="0" algn="l">
              <a:spcBef>
                <a:spcPts val="0"/>
              </a:spcBef>
              <a:spcAft>
                <a:spcPts val="0"/>
              </a:spcAft>
              <a:buNone/>
            </a:pPr>
            <a:r>
              <a:rPr lang="en"/>
              <a:t>memory before performing the second addition. Implementing insights such as</a:t>
            </a:r>
            <a:endParaRPr/>
          </a:p>
          <a:p>
            <a:pPr indent="0" lvl="0" marL="0" rtl="0" algn="l">
              <a:spcBef>
                <a:spcPts val="0"/>
              </a:spcBef>
              <a:spcAft>
                <a:spcPts val="0"/>
              </a:spcAft>
              <a:buNone/>
            </a:pPr>
            <a:r>
              <a:rPr lang="en"/>
              <a:t>this is called code optimization and is an important task of the code generator.</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278ca82ca7a_0_14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278ca82ca7a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278ca82ca7a_0_15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278ca82ca7a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In particular, a class named LaserClass describing the structure of a laser in</a:t>
            </a:r>
            <a:endParaRPr/>
          </a:p>
          <a:p>
            <a:pPr indent="0" lvl="0" marL="0" rtl="0" algn="l">
              <a:spcBef>
                <a:spcPts val="0"/>
              </a:spcBef>
              <a:spcAft>
                <a:spcPts val="0"/>
              </a:spcAft>
              <a:buClr>
                <a:schemeClr val="dk1"/>
              </a:buClr>
              <a:buSzPts val="1100"/>
              <a:buFont typeface="Arial"/>
              <a:buNone/>
            </a:pPr>
            <a:r>
              <a:rPr lang="en"/>
              <a:t>our computer game is outlined in Figure 6.19. The class consists of the declara-</a:t>
            </a:r>
            <a:endParaRPr/>
          </a:p>
          <a:p>
            <a:pPr indent="0" lvl="0" marL="0" rtl="0" algn="l">
              <a:spcBef>
                <a:spcPts val="0"/>
              </a:spcBef>
              <a:spcAft>
                <a:spcPts val="0"/>
              </a:spcAft>
              <a:buClr>
                <a:schemeClr val="dk1"/>
              </a:buClr>
              <a:buSzPts val="1100"/>
              <a:buFont typeface="Arial"/>
              <a:buNone/>
            </a:pPr>
            <a:r>
              <a:rPr lang="en"/>
              <a:t>tion of a variable named RemainingPower (of type integer) and three functions</a:t>
            </a:r>
            <a:endParaRPr/>
          </a:p>
          <a:p>
            <a:pPr indent="0" lvl="0" marL="0" rtl="0" algn="l">
              <a:spcBef>
                <a:spcPts val="0"/>
              </a:spcBef>
              <a:spcAft>
                <a:spcPts val="0"/>
              </a:spcAft>
              <a:buClr>
                <a:schemeClr val="dk1"/>
              </a:buClr>
              <a:buSzPts val="1100"/>
              <a:buFont typeface="Arial"/>
              <a:buNone/>
            </a:pPr>
            <a:r>
              <a:rPr lang="en"/>
              <a:t>named turnRight, turnLeft, and fire. These functions describe the routines</a:t>
            </a:r>
            <a:endParaRPr/>
          </a:p>
          <a:p>
            <a:pPr indent="0" lvl="0" marL="0" rtl="0" algn="l">
              <a:spcBef>
                <a:spcPts val="0"/>
              </a:spcBef>
              <a:spcAft>
                <a:spcPts val="0"/>
              </a:spcAft>
              <a:buClr>
                <a:schemeClr val="dk1"/>
              </a:buClr>
              <a:buSzPts val="1100"/>
              <a:buFont typeface="Arial"/>
              <a:buNone/>
            </a:pPr>
            <a:r>
              <a:rPr lang="en"/>
              <a:t>to be performed to accomplish the corresponding action. Thus any object that</a:t>
            </a:r>
            <a:endParaRPr/>
          </a:p>
          <a:p>
            <a:pPr indent="0" lvl="0" marL="0" rtl="0" algn="l">
              <a:spcBef>
                <a:spcPts val="0"/>
              </a:spcBef>
              <a:spcAft>
                <a:spcPts val="0"/>
              </a:spcAft>
              <a:buClr>
                <a:schemeClr val="dk1"/>
              </a:buClr>
              <a:buSzPts val="1100"/>
              <a:buFont typeface="Arial"/>
              <a:buNone/>
            </a:pPr>
            <a:r>
              <a:rPr lang="en"/>
              <a:t>is constructed from this template will have these features: a variable called</a:t>
            </a:r>
            <a:endParaRPr/>
          </a:p>
          <a:p>
            <a:pPr indent="0" lvl="0" marL="0" rtl="0" algn="l">
              <a:spcBef>
                <a:spcPts val="0"/>
              </a:spcBef>
              <a:spcAft>
                <a:spcPts val="0"/>
              </a:spcAft>
              <a:buNone/>
            </a:pPr>
            <a:r>
              <a:rPr lang="en"/>
              <a:t>RemainingPower and three functions named turnRight, turnLeft, and fire.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variable that resides within an object, such as RemainingPower, is called</a:t>
            </a:r>
            <a:endParaRPr/>
          </a:p>
          <a:p>
            <a:pPr indent="0" lvl="0" marL="0" rtl="0" algn="l">
              <a:spcBef>
                <a:spcPts val="0"/>
              </a:spcBef>
              <a:spcAft>
                <a:spcPts val="0"/>
              </a:spcAft>
              <a:buNone/>
            </a:pPr>
            <a:r>
              <a:rPr lang="en"/>
              <a:t>an instance variable and the functions within an object are called methods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278ca82ca7a_0_16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278ca82ca7a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278ca82ca7a_0_16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278ca82ca7a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278ca82ca7a_0_17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278ca82ca7a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 this point we should pause to emphasize the distinction between a class</a:t>
            </a:r>
            <a:endParaRPr/>
          </a:p>
          <a:p>
            <a:pPr indent="0" lvl="0" marL="0" rtl="0" algn="l">
              <a:spcBef>
                <a:spcPts val="0"/>
              </a:spcBef>
              <a:spcAft>
                <a:spcPts val="0"/>
              </a:spcAft>
              <a:buNone/>
            </a:pPr>
            <a:r>
              <a:rPr lang="en"/>
              <a:t>and an object. A class is a template from which objects are constructed. One</a:t>
            </a:r>
            <a:endParaRPr/>
          </a:p>
          <a:p>
            <a:pPr indent="0" lvl="0" marL="0" rtl="0" algn="l">
              <a:spcBef>
                <a:spcPts val="0"/>
              </a:spcBef>
              <a:spcAft>
                <a:spcPts val="0"/>
              </a:spcAft>
              <a:buNone/>
            </a:pPr>
            <a:r>
              <a:rPr lang="en"/>
              <a:t>class can be used to create numerous objects. We often refer to an object as an</a:t>
            </a:r>
            <a:endParaRPr/>
          </a:p>
          <a:p>
            <a:pPr indent="0" lvl="0" marL="0" rtl="0" algn="l">
              <a:spcBef>
                <a:spcPts val="0"/>
              </a:spcBef>
              <a:spcAft>
                <a:spcPts val="0"/>
              </a:spcAft>
              <a:buNone/>
            </a:pPr>
            <a:r>
              <a:rPr lang="en"/>
              <a:t>instance of the class from which it was constructed. Thus, in our computer game</a:t>
            </a:r>
            <a:endParaRPr/>
          </a:p>
          <a:p>
            <a:pPr indent="0" lvl="0" marL="0" rtl="0" algn="l">
              <a:spcBef>
                <a:spcPts val="0"/>
              </a:spcBef>
              <a:spcAft>
                <a:spcPts val="0"/>
              </a:spcAft>
              <a:buNone/>
            </a:pPr>
            <a:r>
              <a:rPr lang="en"/>
              <a:t>Laser1, Laser2, and Laser3 are variables whose values are instances of the class</a:t>
            </a:r>
            <a:endParaRPr/>
          </a:p>
          <a:p>
            <a:pPr indent="0" lvl="0" marL="0" rtl="0" algn="l">
              <a:spcBef>
                <a:spcPts val="0"/>
              </a:spcBef>
              <a:spcAft>
                <a:spcPts val="0"/>
              </a:spcAft>
              <a:buNone/>
            </a:pPr>
            <a:r>
              <a:rPr lang="en"/>
              <a:t>LaserClass.</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278ca82ca7a_0_17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278ca82ca7a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At this stage our meteor game example has given us the background to grasp</a:t>
            </a:r>
            <a:endParaRPr/>
          </a:p>
          <a:p>
            <a:pPr indent="0" lvl="0" marL="0" rtl="0" algn="l">
              <a:spcBef>
                <a:spcPts val="0"/>
              </a:spcBef>
              <a:spcAft>
                <a:spcPts val="0"/>
              </a:spcAft>
              <a:buNone/>
            </a:pPr>
            <a:r>
              <a:rPr lang="en"/>
              <a:t>the overall structure of a typical object-oriented program </a:t>
            </a:r>
            <a:r>
              <a:rPr lang="en"/>
              <a:t>(Figure 6.20)</a:t>
            </a:r>
            <a:r>
              <a:rPr lang="en"/>
              <a:t>. </a:t>
            </a:r>
            <a:endParaRPr/>
          </a:p>
          <a:p>
            <a:pPr indent="0" lvl="0" marL="0" rtl="0" algn="l">
              <a:spcBef>
                <a:spcPts val="0"/>
              </a:spcBef>
              <a:spcAft>
                <a:spcPts val="0"/>
              </a:spcAft>
              <a:buClr>
                <a:schemeClr val="dk1"/>
              </a:buClr>
              <a:buSzPts val="1100"/>
              <a:buFont typeface="Arial"/>
              <a:buNone/>
            </a:pPr>
            <a:r>
              <a:rPr lang="en"/>
              <a:t>It will</a:t>
            </a:r>
            <a:endParaRPr/>
          </a:p>
          <a:p>
            <a:pPr indent="0" lvl="0" marL="0" rtl="0" algn="l">
              <a:spcBef>
                <a:spcPts val="0"/>
              </a:spcBef>
              <a:spcAft>
                <a:spcPts val="0"/>
              </a:spcAft>
              <a:buClr>
                <a:schemeClr val="dk1"/>
              </a:buClr>
              <a:buSzPts val="1100"/>
              <a:buFont typeface="Arial"/>
              <a:buNone/>
            </a:pPr>
            <a:r>
              <a:rPr lang="en"/>
              <a:t>contain a variety of class descriptions similar to Figure 6.19, each describing the</a:t>
            </a:r>
            <a:endParaRPr/>
          </a:p>
          <a:p>
            <a:pPr indent="0" lvl="0" marL="0" rtl="0" algn="l">
              <a:spcBef>
                <a:spcPts val="0"/>
              </a:spcBef>
              <a:spcAft>
                <a:spcPts val="0"/>
              </a:spcAft>
              <a:buClr>
                <a:schemeClr val="dk1"/>
              </a:buClr>
              <a:buSzPts val="1100"/>
              <a:buFont typeface="Arial"/>
              <a:buNone/>
            </a:pPr>
            <a:r>
              <a:rPr lang="en"/>
              <a:t>structure of one or more objects used in the program. In addition, the program</a:t>
            </a:r>
            <a:endParaRPr/>
          </a:p>
          <a:p>
            <a:pPr indent="0" lvl="0" marL="0" rtl="0" algn="l">
              <a:spcBef>
                <a:spcPts val="0"/>
              </a:spcBef>
              <a:spcAft>
                <a:spcPts val="0"/>
              </a:spcAft>
              <a:buClr>
                <a:schemeClr val="dk1"/>
              </a:buClr>
              <a:buSzPts val="1100"/>
              <a:buFont typeface="Arial"/>
              <a:buNone/>
            </a:pPr>
            <a:r>
              <a:rPr lang="en"/>
              <a:t>will contain an imperative program segment (usually associated with the name</a:t>
            </a:r>
            <a:endParaRPr/>
          </a:p>
          <a:p>
            <a:pPr indent="0" lvl="0" marL="0" rtl="0" algn="l">
              <a:spcBef>
                <a:spcPts val="0"/>
              </a:spcBef>
              <a:spcAft>
                <a:spcPts val="0"/>
              </a:spcAft>
              <a:buClr>
                <a:schemeClr val="dk1"/>
              </a:buClr>
              <a:buSzPts val="1100"/>
              <a:buFont typeface="Arial"/>
              <a:buNone/>
            </a:pPr>
            <a:r>
              <a:rPr lang="en"/>
              <a:t>“main”) containing the sequence of steps to be performed initially when the pro-</a:t>
            </a:r>
            <a:endParaRPr/>
          </a:p>
          <a:p>
            <a:pPr indent="0" lvl="0" marL="0" rtl="0" algn="l">
              <a:spcBef>
                <a:spcPts val="0"/>
              </a:spcBef>
              <a:spcAft>
                <a:spcPts val="0"/>
              </a:spcAft>
              <a:buClr>
                <a:schemeClr val="dk1"/>
              </a:buClr>
              <a:buSzPts val="1100"/>
              <a:buFont typeface="Arial"/>
              <a:buNone/>
            </a:pPr>
            <a:r>
              <a:rPr lang="en"/>
              <a:t>gram is executed. This segment will contain declaration statements similar to our</a:t>
            </a:r>
            <a:endParaRPr/>
          </a:p>
          <a:p>
            <a:pPr indent="0" lvl="0" marL="0" rtl="0" algn="l">
              <a:spcBef>
                <a:spcPts val="0"/>
              </a:spcBef>
              <a:spcAft>
                <a:spcPts val="0"/>
              </a:spcAft>
              <a:buClr>
                <a:schemeClr val="dk1"/>
              </a:buClr>
              <a:buSzPts val="1100"/>
              <a:buFont typeface="Arial"/>
              <a:buNone/>
            </a:pPr>
            <a:r>
              <a:rPr lang="en"/>
              <a:t>laser declarations to establish the objects used in the program as well as impera-</a:t>
            </a:r>
            <a:endParaRPr/>
          </a:p>
          <a:p>
            <a:pPr indent="0" lvl="0" marL="0" rtl="0" algn="l">
              <a:spcBef>
                <a:spcPts val="0"/>
              </a:spcBef>
              <a:spcAft>
                <a:spcPts val="0"/>
              </a:spcAft>
              <a:buClr>
                <a:schemeClr val="dk1"/>
              </a:buClr>
              <a:buSzPts val="1100"/>
              <a:buFont typeface="Arial"/>
              <a:buNone/>
            </a:pPr>
            <a:r>
              <a:rPr lang="en"/>
              <a:t>tive statements that call for the execution of methods within those objects.</a:t>
            </a:r>
            <a:endParaRPr/>
          </a:p>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278ca82ca7a_0_18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278ca82ca7a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Constructors</a:t>
            </a:r>
            <a:endParaRPr/>
          </a:p>
          <a:p>
            <a:pPr indent="0" lvl="0" marL="0" rtl="0" algn="l">
              <a:spcBef>
                <a:spcPts val="0"/>
              </a:spcBef>
              <a:spcAft>
                <a:spcPts val="0"/>
              </a:spcAft>
              <a:buNone/>
            </a:pPr>
            <a:r>
              <a:rPr lang="en"/>
              <a:t>When an object is constructed, often some customizing activities need to be per-</a:t>
            </a:r>
            <a:endParaRPr/>
          </a:p>
          <a:p>
            <a:pPr indent="0" lvl="0" marL="0" rtl="0" algn="l">
              <a:spcBef>
                <a:spcPts val="0"/>
              </a:spcBef>
              <a:spcAft>
                <a:spcPts val="0"/>
              </a:spcAft>
              <a:buNone/>
            </a:pPr>
            <a:r>
              <a:rPr lang="en"/>
              <a:t>formed. For example, in our meteor computer game we might want the different</a:t>
            </a:r>
            <a:endParaRPr/>
          </a:p>
          <a:p>
            <a:pPr indent="0" lvl="0" marL="0" rtl="0" algn="l">
              <a:spcBef>
                <a:spcPts val="0"/>
              </a:spcBef>
              <a:spcAft>
                <a:spcPts val="0"/>
              </a:spcAft>
              <a:buNone/>
            </a:pPr>
            <a:r>
              <a:rPr lang="en"/>
              <a:t>lasers to have different initial power settings, which would mean that the instance</a:t>
            </a:r>
            <a:endParaRPr/>
          </a:p>
          <a:p>
            <a:pPr indent="0" lvl="0" marL="0" rtl="0" algn="l">
              <a:spcBef>
                <a:spcPts val="0"/>
              </a:spcBef>
              <a:spcAft>
                <a:spcPts val="0"/>
              </a:spcAft>
              <a:buNone/>
            </a:pPr>
            <a:r>
              <a:rPr lang="en"/>
              <a:t>variables named RemainingPower within the various objects should be given dif-</a:t>
            </a:r>
            <a:endParaRPr/>
          </a:p>
          <a:p>
            <a:pPr indent="0" lvl="0" marL="0" rtl="0" algn="l">
              <a:spcBef>
                <a:spcPts val="0"/>
              </a:spcBef>
              <a:spcAft>
                <a:spcPts val="0"/>
              </a:spcAft>
              <a:buNone/>
            </a:pPr>
            <a:r>
              <a:rPr lang="en"/>
              <a:t>ferent starting values. Such initialization needs are handled by defining special</a:t>
            </a:r>
            <a:endParaRPr/>
          </a:p>
          <a:p>
            <a:pPr indent="0" lvl="0" marL="0" rtl="0" algn="l">
              <a:spcBef>
                <a:spcPts val="0"/>
              </a:spcBef>
              <a:spcAft>
                <a:spcPts val="0"/>
              </a:spcAft>
              <a:buNone/>
            </a:pPr>
            <a:r>
              <a:rPr lang="en"/>
              <a:t>methods, called constructors, within the appropriate class. Constructors are</a:t>
            </a:r>
            <a:endParaRPr/>
          </a:p>
          <a:p>
            <a:pPr indent="0" lvl="0" marL="0" rtl="0" algn="l">
              <a:spcBef>
                <a:spcPts val="0"/>
              </a:spcBef>
              <a:spcAft>
                <a:spcPts val="0"/>
              </a:spcAft>
              <a:buNone/>
            </a:pPr>
            <a:r>
              <a:rPr lang="en"/>
              <a:t>executed automatically when an object is constructed from the class. A construc-</a:t>
            </a:r>
            <a:endParaRPr/>
          </a:p>
          <a:p>
            <a:pPr indent="0" lvl="0" marL="0" rtl="0" algn="l">
              <a:spcBef>
                <a:spcPts val="0"/>
              </a:spcBef>
              <a:spcAft>
                <a:spcPts val="0"/>
              </a:spcAft>
              <a:buNone/>
            </a:pPr>
            <a:r>
              <a:rPr lang="en"/>
              <a:t>tor is identified within a class definition by the fact that it is a method with the</a:t>
            </a:r>
            <a:endParaRPr/>
          </a:p>
          <a:p>
            <a:pPr indent="0" lvl="0" marL="0" rtl="0" algn="l">
              <a:spcBef>
                <a:spcPts val="0"/>
              </a:spcBef>
              <a:spcAft>
                <a:spcPts val="0"/>
              </a:spcAft>
              <a:buNone/>
            </a:pPr>
            <a:r>
              <a:rPr lang="en"/>
              <a:t>same name as the class.</a:t>
            </a:r>
            <a:endParaRPr/>
          </a:p>
          <a:p>
            <a:pPr indent="0" lvl="0" marL="0" rtl="0" algn="l">
              <a:spcBef>
                <a:spcPts val="0"/>
              </a:spcBef>
              <a:spcAft>
                <a:spcPts val="0"/>
              </a:spcAft>
              <a:buNone/>
            </a:pPr>
            <a:r>
              <a:rPr lang="en"/>
              <a:t>Figure 6.21 presents an extension of the LaserClass definition originally</a:t>
            </a:r>
            <a:endParaRPr/>
          </a:p>
          <a:p>
            <a:pPr indent="0" lvl="0" marL="0" rtl="0" algn="l">
              <a:spcBef>
                <a:spcPts val="0"/>
              </a:spcBef>
              <a:spcAft>
                <a:spcPts val="0"/>
              </a:spcAft>
              <a:buNone/>
            </a:pPr>
            <a:r>
              <a:rPr lang="en"/>
              <a:t>shown in Figure 6.19. Note that it contains a constructor in the form of a method</a:t>
            </a:r>
            <a:endParaRPr/>
          </a:p>
          <a:p>
            <a:pPr indent="0" lvl="0" marL="0" rtl="0" algn="l">
              <a:spcBef>
                <a:spcPts val="0"/>
              </a:spcBef>
              <a:spcAft>
                <a:spcPts val="0"/>
              </a:spcAft>
              <a:buNone/>
            </a:pPr>
            <a:r>
              <a:rPr lang="en"/>
              <a:t>named LaserClass. This method assigns the instance variable R</a:t>
            </a:r>
            <a:endParaRPr/>
          </a:p>
          <a:p>
            <a:pPr indent="0" lvl="0" marL="0" rtl="0" algn="l">
              <a:spcBef>
                <a:spcPts val="0"/>
              </a:spcBef>
              <a:spcAft>
                <a:spcPts val="0"/>
              </a:spcAft>
              <a:buNone/>
            </a:pPr>
            <a:r>
              <a:rPr lang="en"/>
              <a:t>­ emainingPower</a:t>
            </a:r>
            <a:endParaRPr/>
          </a:p>
          <a:p>
            <a:pPr indent="0" lvl="0" marL="0" rtl="0" algn="l">
              <a:spcBef>
                <a:spcPts val="0"/>
              </a:spcBef>
              <a:spcAft>
                <a:spcPts val="0"/>
              </a:spcAft>
              <a:buNone/>
            </a:pPr>
            <a:r>
              <a:rPr lang="en"/>
              <a:t>the value it receives as its parameter. Thus, when an object is constructed from</a:t>
            </a:r>
            <a:endParaRPr/>
          </a:p>
          <a:p>
            <a:pPr indent="0" lvl="0" marL="0" rtl="0" algn="l">
              <a:spcBef>
                <a:spcPts val="0"/>
              </a:spcBef>
              <a:spcAft>
                <a:spcPts val="0"/>
              </a:spcAft>
              <a:buNone/>
            </a:pPr>
            <a:r>
              <a:rPr lang="en"/>
              <a:t>this class, this method will be executed, causing ­RemainingPower to be initialized</a:t>
            </a:r>
            <a:endParaRPr/>
          </a:p>
          <a:p>
            <a:pPr indent="0" lvl="0" marL="0" rtl="0" algn="l">
              <a:spcBef>
                <a:spcPts val="0"/>
              </a:spcBef>
              <a:spcAft>
                <a:spcPts val="0"/>
              </a:spcAft>
              <a:buNone/>
            </a:pPr>
            <a:r>
              <a:rPr lang="en"/>
              <a:t>at the appropriate setting.</a:t>
            </a:r>
            <a:endParaRPr/>
          </a:p>
          <a:p>
            <a:pPr indent="0" lvl="0" marL="0" rtl="0" algn="l">
              <a:spcBef>
                <a:spcPts val="0"/>
              </a:spcBef>
              <a:spcAft>
                <a:spcPts val="0"/>
              </a:spcAft>
              <a:buNone/>
            </a:pPr>
            <a:r>
              <a:rPr lang="en"/>
              <a:t>The actual parameters to be used by a constructor are identified in a param-</a:t>
            </a:r>
            <a:endParaRPr/>
          </a:p>
          <a:p>
            <a:pPr indent="0" lvl="0" marL="0" rtl="0" algn="l">
              <a:spcBef>
                <a:spcPts val="0"/>
              </a:spcBef>
              <a:spcAft>
                <a:spcPts val="0"/>
              </a:spcAft>
              <a:buNone/>
            </a:pPr>
            <a:r>
              <a:rPr lang="en"/>
              <a:t>eter list in the statement causing the creation of the object. Thus, based on the</a:t>
            </a:r>
            <a:endParaRPr/>
          </a:p>
          <a:p>
            <a:pPr indent="0" lvl="0" marL="0" rtl="0" algn="l">
              <a:spcBef>
                <a:spcPts val="0"/>
              </a:spcBef>
              <a:spcAft>
                <a:spcPts val="0"/>
              </a:spcAft>
              <a:buNone/>
            </a:pPr>
            <a:r>
              <a:rPr lang="en"/>
              <a:t>class definition in Figure 6.21, a C++, programmer would write</a:t>
            </a:r>
            <a:endParaRPr/>
          </a:p>
          <a:p>
            <a:pPr indent="0" lvl="0" marL="0" rtl="0" algn="l">
              <a:spcBef>
                <a:spcPts val="0"/>
              </a:spcBef>
              <a:spcAft>
                <a:spcPts val="0"/>
              </a:spcAft>
              <a:buNone/>
            </a:pPr>
            <a:r>
              <a:rPr lang="en"/>
              <a:t>LaserClass Laser1(50), Laser2(100);</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27926f5a534_0_1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27926f5a53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278ca82ca7a_0_19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278ca82ca7a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object-oriented languages allow one class to encompass the properties of another through a technique known as inheritance. As an example, suppose we were using Java to develop our game program. We could first use the class statement described previously to define a class called LaserClass that described those properties that are common to all lasers in the program. Then we could use the statement </a:t>
            </a:r>
            <a:endParaRPr/>
          </a:p>
          <a:p>
            <a:pPr indent="0" lvl="0" marL="0" rtl="0" algn="l">
              <a:spcBef>
                <a:spcPts val="0"/>
              </a:spcBef>
              <a:spcAft>
                <a:spcPts val="0"/>
              </a:spcAft>
              <a:buNone/>
            </a:pPr>
            <a:r>
              <a:rPr lang="en"/>
              <a:t>class RechargeableLaser extends LaserClass { . . . } </a:t>
            </a:r>
            <a:endParaRPr/>
          </a:p>
          <a:p>
            <a:pPr indent="0" lvl="0" marL="0" rtl="0" algn="l">
              <a:spcBef>
                <a:spcPts val="0"/>
              </a:spcBef>
              <a:spcAft>
                <a:spcPts val="0"/>
              </a:spcAft>
              <a:buNone/>
            </a:pPr>
            <a:r>
              <a:rPr lang="en"/>
              <a:t>to describe another class called RechargeableLaser. (C++ and C# programmers would merely replace the word extends with a colon.)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Here the extends clause indicates that this class is to inherit the features of the class LaserClass as well as contain those features appearing within the braces. In our case, these braces would contain a new method (perhaps named recharge) that would describe the steps required to reset the instance variable RemainingPower to its original value. Once these classes were defined, we could use the statement </a:t>
            </a:r>
            <a:endParaRPr/>
          </a:p>
          <a:p>
            <a:pPr indent="0" lvl="0" marL="0" rtl="0" algn="l">
              <a:spcBef>
                <a:spcPts val="0"/>
              </a:spcBef>
              <a:spcAft>
                <a:spcPts val="0"/>
              </a:spcAft>
              <a:buNone/>
            </a:pPr>
            <a:r>
              <a:rPr lang="en"/>
              <a:t>LaserClass Laser1, Laser2; to declare Laser1 and Laser2 to be variables referring to traditional lasers, and use the statement </a:t>
            </a:r>
            <a:endParaRPr/>
          </a:p>
          <a:p>
            <a:pPr indent="0" lvl="0" marL="0" rtl="0" algn="l">
              <a:spcBef>
                <a:spcPts val="0"/>
              </a:spcBef>
              <a:spcAft>
                <a:spcPts val="0"/>
              </a:spcAft>
              <a:buNone/>
            </a:pPr>
            <a:r>
              <a:rPr lang="en"/>
              <a:t>RechargeableLaser Laser3, Laser4; to declare Laser3 and Laser4 to be variables referring to lasers having the additional properties described in the RechargeableLaser class.</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27926f5a534_0_2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27926f5a534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lot of times programmers often confuse abstraction with encapsulation because in reality the two concepts are quite intertwined and share a relationship between them. Abstraction, as we’ve seen pertains to hiding underlying details and implementation in a program. Encapsulation, on the other hand, describes how abstraction occurs in a program.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Abstraction is a design-level process but encapsulation is an implementation process. Encapsulation tells us how exactly you can implement abstraction in the program. Abstraction pertains to only displaying the essential details to the user whereas encapsulation pertains to typing up all the data members and associated member functions into a single abstracted un</a:t>
            </a:r>
            <a:r>
              <a:rPr lang="en"/>
              <a:t>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Figure from: https://www.digitalocean.com/community/tutorials/what-is-abstraction-in-oops</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27926f5a534_0_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27926f5a534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Figure from </a:t>
            </a:r>
            <a:r>
              <a:rPr lang="en" u="sng">
                <a:solidFill>
                  <a:schemeClr val="hlink"/>
                </a:solidFill>
                <a:hlinkClick r:id="rId2"/>
              </a:rPr>
              <a:t>https://medium.com/@shanikae/polymorphism-explained-simply-7294c8deeef7</a:t>
            </a:r>
            <a:endParaRPr/>
          </a:p>
          <a:p>
            <a:pPr indent="0" lvl="0" marL="0" rtl="0" algn="l">
              <a:spcBef>
                <a:spcPts val="0"/>
              </a:spcBef>
              <a:spcAft>
                <a:spcPts val="0"/>
              </a:spcAft>
              <a:buNone/>
            </a:pPr>
            <a:r>
              <a:rPr lang="en"/>
              <a:t>Polymorphism is one of the core concepts of object-oriented programming (OOP) and describes situations in which something occurs in several different forms. In computer science, it describes the concept that you can access objects of different types through the same interface. Each type can provide its own independent implementation of this interface.</a:t>
            </a:r>
            <a:endParaRPr/>
          </a:p>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27926f5a534_0_1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27926f5a534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27926f5a534_0_2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27926f5a534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Figure from https://www.crio.do/blog/encapsulation-in-java/</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280e976bda1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280e976bda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27c6a0cc95e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27c6a0cc95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3000"/>
              <a:buNone/>
              <a:defRPr sz="3000"/>
            </a:lvl1pPr>
            <a:lvl2pPr lvl="1" algn="ctr">
              <a:lnSpc>
                <a:spcPct val="100000"/>
              </a:lnSpc>
              <a:spcBef>
                <a:spcPts val="0"/>
              </a:spcBef>
              <a:spcAft>
                <a:spcPts val="0"/>
              </a:spcAft>
              <a:buSzPts val="4000"/>
              <a:buNone/>
              <a:defRPr sz="4000"/>
            </a:lvl2pPr>
            <a:lvl3pPr lvl="2" algn="ctr">
              <a:lnSpc>
                <a:spcPct val="100000"/>
              </a:lnSpc>
              <a:spcBef>
                <a:spcPts val="0"/>
              </a:spcBef>
              <a:spcAft>
                <a:spcPts val="0"/>
              </a:spcAft>
              <a:buSzPts val="4000"/>
              <a:buNone/>
              <a:defRPr sz="4000"/>
            </a:lvl3pPr>
            <a:lvl4pPr lvl="3" algn="ctr">
              <a:lnSpc>
                <a:spcPct val="100000"/>
              </a:lnSpc>
              <a:spcBef>
                <a:spcPts val="0"/>
              </a:spcBef>
              <a:spcAft>
                <a:spcPts val="0"/>
              </a:spcAft>
              <a:buSzPts val="4000"/>
              <a:buNone/>
              <a:defRPr sz="4000"/>
            </a:lvl4pPr>
            <a:lvl5pPr lvl="4" algn="ctr">
              <a:lnSpc>
                <a:spcPct val="100000"/>
              </a:lnSpc>
              <a:spcBef>
                <a:spcPts val="0"/>
              </a:spcBef>
              <a:spcAft>
                <a:spcPts val="0"/>
              </a:spcAft>
              <a:buSzPts val="4000"/>
              <a:buNone/>
              <a:defRPr sz="4000"/>
            </a:lvl5pPr>
            <a:lvl6pPr lvl="5" algn="ctr">
              <a:lnSpc>
                <a:spcPct val="100000"/>
              </a:lnSpc>
              <a:spcBef>
                <a:spcPts val="0"/>
              </a:spcBef>
              <a:spcAft>
                <a:spcPts val="0"/>
              </a:spcAft>
              <a:buSzPts val="4000"/>
              <a:buNone/>
              <a:defRPr sz="4000"/>
            </a:lvl6pPr>
            <a:lvl7pPr lvl="6" algn="ctr">
              <a:lnSpc>
                <a:spcPct val="100000"/>
              </a:lnSpc>
              <a:spcBef>
                <a:spcPts val="0"/>
              </a:spcBef>
              <a:spcAft>
                <a:spcPts val="0"/>
              </a:spcAft>
              <a:buSzPts val="4000"/>
              <a:buNone/>
              <a:defRPr sz="4000"/>
            </a:lvl7pPr>
            <a:lvl8pPr lvl="7" algn="ctr">
              <a:lnSpc>
                <a:spcPct val="100000"/>
              </a:lnSpc>
              <a:spcBef>
                <a:spcPts val="0"/>
              </a:spcBef>
              <a:spcAft>
                <a:spcPts val="0"/>
              </a:spcAft>
              <a:buSzPts val="4000"/>
              <a:buNone/>
              <a:defRPr sz="4000"/>
            </a:lvl8pPr>
            <a:lvl9pPr lvl="8" algn="ctr">
              <a:lnSpc>
                <a:spcPct val="100000"/>
              </a:lnSpc>
              <a:spcBef>
                <a:spcPts val="0"/>
              </a:spcBef>
              <a:spcAft>
                <a:spcPts val="0"/>
              </a:spcAft>
              <a:buSzPts val="4000"/>
              <a:buNone/>
              <a:defRPr sz="40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lvl1pPr lvl="0">
              <a:spcBef>
                <a:spcPts val="0"/>
              </a:spcBef>
              <a:spcAft>
                <a:spcPts val="0"/>
              </a:spcAft>
              <a:buSzPts val="33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930375"/>
            <a:ext cx="8709300" cy="5811900"/>
          </a:xfrm>
          <a:prstGeom prst="rect">
            <a:avLst/>
          </a:prstGeom>
        </p:spPr>
        <p:txBody>
          <a:bodyPr anchorCtr="0" anchor="t" bIns="91425" lIns="91425" spcFirstLastPara="1" rIns="91425" wrap="square" tIns="91425">
            <a:normAutofit/>
          </a:bodyPr>
          <a:lstStyle>
            <a:lvl1pPr indent="-393700" lvl="0" marL="457200">
              <a:spcBef>
                <a:spcPts val="0"/>
              </a:spcBef>
              <a:spcAft>
                <a:spcPts val="0"/>
              </a:spcAft>
              <a:buSzPts val="2600"/>
              <a:buChar char="●"/>
              <a:defRPr/>
            </a:lvl1pPr>
            <a:lvl2pPr indent="-387350" lvl="1" marL="914400">
              <a:spcBef>
                <a:spcPts val="0"/>
              </a:spcBef>
              <a:spcAft>
                <a:spcPts val="0"/>
              </a:spcAft>
              <a:buSzPts val="2500"/>
              <a:buChar char="○"/>
              <a:defRPr/>
            </a:lvl2pPr>
            <a:lvl3pPr indent="-381000" lvl="2" marL="1371600">
              <a:spcBef>
                <a:spcPts val="0"/>
              </a:spcBef>
              <a:spcAft>
                <a:spcPts val="0"/>
              </a:spcAft>
              <a:buSzPts val="2400"/>
              <a:buChar char="■"/>
              <a:defRPr/>
            </a:lvl3pPr>
            <a:lvl4pPr indent="-374650" lvl="3" marL="1828800">
              <a:spcBef>
                <a:spcPts val="0"/>
              </a:spcBef>
              <a:spcAft>
                <a:spcPts val="0"/>
              </a:spcAft>
              <a:buSzPts val="2300"/>
              <a:buChar char="●"/>
              <a:defRPr/>
            </a:lvl4pPr>
            <a:lvl5pPr indent="-368300" lvl="4" marL="2286000">
              <a:spcBef>
                <a:spcPts val="0"/>
              </a:spcBef>
              <a:spcAft>
                <a:spcPts val="0"/>
              </a:spcAft>
              <a:buSzPts val="2200"/>
              <a:buChar char="○"/>
              <a:defRPr/>
            </a:lvl5pPr>
            <a:lvl6pPr indent="-355600" lvl="5" marL="2743200">
              <a:spcBef>
                <a:spcPts val="0"/>
              </a:spcBef>
              <a:spcAft>
                <a:spcPts val="0"/>
              </a:spcAft>
              <a:buSzPts val="2000"/>
              <a:buChar char="■"/>
              <a:defRPr/>
            </a:lvl6pPr>
            <a:lvl7pPr indent="-355600" lvl="6" marL="3200400">
              <a:spcBef>
                <a:spcPts val="0"/>
              </a:spcBef>
              <a:spcAft>
                <a:spcPts val="0"/>
              </a:spcAft>
              <a:buSzPts val="2000"/>
              <a:buChar char="●"/>
              <a:defRPr/>
            </a:lvl7pPr>
            <a:lvl8pPr indent="-355600" lvl="7" marL="3657600">
              <a:spcBef>
                <a:spcPts val="0"/>
              </a:spcBef>
              <a:spcAft>
                <a:spcPts val="0"/>
              </a:spcAft>
              <a:buSzPts val="2000"/>
              <a:buChar char="○"/>
              <a:defRPr/>
            </a:lvl8pPr>
            <a:lvl9pPr indent="-355600" lvl="8" marL="4114800">
              <a:spcBef>
                <a:spcPts val="0"/>
              </a:spcBef>
              <a:spcAft>
                <a:spcPts val="0"/>
              </a:spcAft>
              <a:buSzPts val="20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lvl1pPr lvl="0">
              <a:spcBef>
                <a:spcPts val="0"/>
              </a:spcBef>
              <a:spcAft>
                <a:spcPts val="0"/>
              </a:spcAft>
              <a:buSzPts val="33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rmAutofit/>
          </a:bodyPr>
          <a:lstStyle>
            <a:lvl1pPr indent="-381000" lvl="0" marL="457200">
              <a:spcBef>
                <a:spcPts val="0"/>
              </a:spcBef>
              <a:spcAft>
                <a:spcPts val="0"/>
              </a:spcAft>
              <a:buSzPts val="2400"/>
              <a:buChar char="●"/>
              <a:defRPr sz="24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rmAutofit/>
          </a:bodyPr>
          <a:lstStyle>
            <a:lvl1pPr indent="-381000" lvl="0" marL="457200">
              <a:spcBef>
                <a:spcPts val="0"/>
              </a:spcBef>
              <a:spcAft>
                <a:spcPts val="0"/>
              </a:spcAft>
              <a:buSzPts val="2400"/>
              <a:buChar char="●"/>
              <a:defRPr sz="24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lvl1pPr lvl="0">
              <a:spcBef>
                <a:spcPts val="0"/>
              </a:spcBef>
              <a:spcAft>
                <a:spcPts val="0"/>
              </a:spcAft>
              <a:buSzPts val="33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rmAutofit/>
          </a:bodyPr>
          <a:lstStyle>
            <a:lvl1pPr indent="-393700" lvl="0" marL="457200">
              <a:spcBef>
                <a:spcPts val="0"/>
              </a:spcBef>
              <a:spcAft>
                <a:spcPts val="0"/>
              </a:spcAft>
              <a:buSzPts val="2600"/>
              <a:buChar char="●"/>
              <a:defRPr/>
            </a:lvl1pPr>
            <a:lvl2pPr indent="-387350" lvl="1" marL="914400">
              <a:spcBef>
                <a:spcPts val="0"/>
              </a:spcBef>
              <a:spcAft>
                <a:spcPts val="0"/>
              </a:spcAft>
              <a:buSzPts val="2500"/>
              <a:buChar char="○"/>
              <a:defRPr/>
            </a:lvl2pPr>
            <a:lvl3pPr indent="-381000" lvl="2" marL="1371600">
              <a:spcBef>
                <a:spcPts val="0"/>
              </a:spcBef>
              <a:spcAft>
                <a:spcPts val="0"/>
              </a:spcAft>
              <a:buSzPts val="2400"/>
              <a:buChar char="■"/>
              <a:defRPr/>
            </a:lvl3pPr>
            <a:lvl4pPr indent="-374650" lvl="3" marL="1828800">
              <a:spcBef>
                <a:spcPts val="0"/>
              </a:spcBef>
              <a:spcAft>
                <a:spcPts val="0"/>
              </a:spcAft>
              <a:buSzPts val="2300"/>
              <a:buChar char="●"/>
              <a:defRPr/>
            </a:lvl4pPr>
            <a:lvl5pPr indent="-368300" lvl="4" marL="2286000">
              <a:spcBef>
                <a:spcPts val="0"/>
              </a:spcBef>
              <a:spcAft>
                <a:spcPts val="0"/>
              </a:spcAft>
              <a:buSzPts val="2200"/>
              <a:buChar char="○"/>
              <a:defRPr/>
            </a:lvl5pPr>
            <a:lvl6pPr indent="-355600" lvl="5" marL="2743200">
              <a:spcBef>
                <a:spcPts val="0"/>
              </a:spcBef>
              <a:spcAft>
                <a:spcPts val="0"/>
              </a:spcAft>
              <a:buSzPts val="2000"/>
              <a:buChar char="■"/>
              <a:defRPr/>
            </a:lvl6pPr>
            <a:lvl7pPr indent="-355600" lvl="6" marL="3200400">
              <a:spcBef>
                <a:spcPts val="0"/>
              </a:spcBef>
              <a:spcAft>
                <a:spcPts val="0"/>
              </a:spcAft>
              <a:buSzPts val="2000"/>
              <a:buChar char="●"/>
              <a:defRPr/>
            </a:lvl7pPr>
            <a:lvl8pPr indent="-355600" lvl="7" marL="3657600">
              <a:spcBef>
                <a:spcPts val="0"/>
              </a:spcBef>
              <a:spcAft>
                <a:spcPts val="0"/>
              </a:spcAft>
              <a:buSzPts val="2000"/>
              <a:buChar char="○"/>
              <a:defRPr/>
            </a:lvl8pPr>
            <a:lvl9pPr indent="-355600" lvl="8" marL="4114800">
              <a:spcBef>
                <a:spcPts val="0"/>
              </a:spcBef>
              <a:spcAft>
                <a:spcPts val="0"/>
              </a:spcAft>
              <a:buSzPts val="20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6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rmAutofit/>
          </a:bodyPr>
          <a:lstStyle>
            <a:lvl1pPr indent="-393700" lvl="0" marL="457200" algn="ctr">
              <a:spcBef>
                <a:spcPts val="0"/>
              </a:spcBef>
              <a:spcAft>
                <a:spcPts val="0"/>
              </a:spcAft>
              <a:buSzPts val="2600"/>
              <a:buChar char="●"/>
              <a:defRPr/>
            </a:lvl1pPr>
            <a:lvl2pPr indent="-387350" lvl="1" marL="914400" algn="ctr">
              <a:spcBef>
                <a:spcPts val="0"/>
              </a:spcBef>
              <a:spcAft>
                <a:spcPts val="0"/>
              </a:spcAft>
              <a:buSzPts val="2500"/>
              <a:buChar char="○"/>
              <a:defRPr/>
            </a:lvl2pPr>
            <a:lvl3pPr indent="-381000" lvl="2" marL="1371600" algn="ctr">
              <a:spcBef>
                <a:spcPts val="0"/>
              </a:spcBef>
              <a:spcAft>
                <a:spcPts val="0"/>
              </a:spcAft>
              <a:buSzPts val="2400"/>
              <a:buChar char="■"/>
              <a:defRPr/>
            </a:lvl3pPr>
            <a:lvl4pPr indent="-374650" lvl="3" marL="1828800" algn="ctr">
              <a:spcBef>
                <a:spcPts val="0"/>
              </a:spcBef>
              <a:spcAft>
                <a:spcPts val="0"/>
              </a:spcAft>
              <a:buSzPts val="2300"/>
              <a:buChar char="●"/>
              <a:defRPr/>
            </a:lvl4pPr>
            <a:lvl5pPr indent="-368300" lvl="4" marL="2286000" algn="ctr">
              <a:spcBef>
                <a:spcPts val="0"/>
              </a:spcBef>
              <a:spcAft>
                <a:spcPts val="0"/>
              </a:spcAft>
              <a:buSzPts val="2200"/>
              <a:buChar char="○"/>
              <a:defRPr/>
            </a:lvl5pPr>
            <a:lvl6pPr indent="-355600" lvl="5" marL="2743200" algn="ctr">
              <a:spcBef>
                <a:spcPts val="0"/>
              </a:spcBef>
              <a:spcAft>
                <a:spcPts val="0"/>
              </a:spcAft>
              <a:buSzPts val="2000"/>
              <a:buChar char="■"/>
              <a:defRPr/>
            </a:lvl6pPr>
            <a:lvl7pPr indent="-355600" lvl="6" marL="3200400" algn="ctr">
              <a:spcBef>
                <a:spcPts val="0"/>
              </a:spcBef>
              <a:spcAft>
                <a:spcPts val="0"/>
              </a:spcAft>
              <a:buSzPts val="2000"/>
              <a:buChar char="●"/>
              <a:defRPr/>
            </a:lvl7pPr>
            <a:lvl8pPr indent="-355600" lvl="7" marL="3657600" algn="ctr">
              <a:spcBef>
                <a:spcPts val="0"/>
              </a:spcBef>
              <a:spcAft>
                <a:spcPts val="0"/>
              </a:spcAft>
              <a:buSzPts val="2000"/>
              <a:buChar char="○"/>
              <a:defRPr/>
            </a:lvl8pPr>
            <a:lvl9pPr indent="-355600" lvl="8" marL="4114800" algn="ctr">
              <a:spcBef>
                <a:spcPts val="0"/>
              </a:spcBef>
              <a:spcAft>
                <a:spcPts val="0"/>
              </a:spcAft>
              <a:buSzPts val="20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166867"/>
            <a:ext cx="8520600" cy="763500"/>
          </a:xfrm>
          <a:prstGeom prst="rect">
            <a:avLst/>
          </a:prstGeom>
          <a:noFill/>
          <a:ln>
            <a:noFill/>
          </a:ln>
        </p:spPr>
        <p:txBody>
          <a:bodyPr anchorCtr="0" anchor="ctr" bIns="91425" lIns="91425" spcFirstLastPara="1" rIns="91425" wrap="square" tIns="91425">
            <a:normAutofit/>
          </a:bodyPr>
          <a:lstStyle>
            <a:lvl1pPr lvl="0">
              <a:spcBef>
                <a:spcPts val="0"/>
              </a:spcBef>
              <a:spcAft>
                <a:spcPts val="0"/>
              </a:spcAft>
              <a:buSzPts val="3300"/>
              <a:buFont typeface="PT Sans Narrow"/>
              <a:buNone/>
              <a:defRPr b="1" sz="3300">
                <a:latin typeface="PT Sans Narrow"/>
                <a:ea typeface="PT Sans Narrow"/>
                <a:cs typeface="PT Sans Narrow"/>
                <a:sym typeface="PT Sans Narrow"/>
              </a:defRPr>
            </a:lvl1pPr>
            <a:lvl2pPr lvl="1">
              <a:spcBef>
                <a:spcPts val="0"/>
              </a:spcBef>
              <a:spcAft>
                <a:spcPts val="0"/>
              </a:spcAft>
              <a:buSzPts val="2800"/>
              <a:buFont typeface="PT Sans Narrow"/>
              <a:buNone/>
              <a:defRPr b="1" sz="2800">
                <a:latin typeface="PT Sans Narrow"/>
                <a:ea typeface="PT Sans Narrow"/>
                <a:cs typeface="PT Sans Narrow"/>
                <a:sym typeface="PT Sans Narrow"/>
              </a:defRPr>
            </a:lvl2pPr>
            <a:lvl3pPr lvl="2">
              <a:spcBef>
                <a:spcPts val="0"/>
              </a:spcBef>
              <a:spcAft>
                <a:spcPts val="0"/>
              </a:spcAft>
              <a:buSzPts val="2800"/>
              <a:buFont typeface="PT Sans Narrow"/>
              <a:buNone/>
              <a:defRPr b="1" sz="2800">
                <a:latin typeface="PT Sans Narrow"/>
                <a:ea typeface="PT Sans Narrow"/>
                <a:cs typeface="PT Sans Narrow"/>
                <a:sym typeface="PT Sans Narrow"/>
              </a:defRPr>
            </a:lvl3pPr>
            <a:lvl4pPr lvl="3">
              <a:spcBef>
                <a:spcPts val="0"/>
              </a:spcBef>
              <a:spcAft>
                <a:spcPts val="0"/>
              </a:spcAft>
              <a:buSzPts val="2800"/>
              <a:buFont typeface="PT Sans Narrow"/>
              <a:buNone/>
              <a:defRPr b="1" sz="2800">
                <a:latin typeface="PT Sans Narrow"/>
                <a:ea typeface="PT Sans Narrow"/>
                <a:cs typeface="PT Sans Narrow"/>
                <a:sym typeface="PT Sans Narrow"/>
              </a:defRPr>
            </a:lvl4pPr>
            <a:lvl5pPr lvl="4">
              <a:spcBef>
                <a:spcPts val="0"/>
              </a:spcBef>
              <a:spcAft>
                <a:spcPts val="0"/>
              </a:spcAft>
              <a:buSzPts val="2800"/>
              <a:buFont typeface="PT Sans Narrow"/>
              <a:buNone/>
              <a:defRPr b="1" sz="2800">
                <a:latin typeface="PT Sans Narrow"/>
                <a:ea typeface="PT Sans Narrow"/>
                <a:cs typeface="PT Sans Narrow"/>
                <a:sym typeface="PT Sans Narrow"/>
              </a:defRPr>
            </a:lvl5pPr>
            <a:lvl6pPr lvl="5">
              <a:spcBef>
                <a:spcPts val="0"/>
              </a:spcBef>
              <a:spcAft>
                <a:spcPts val="0"/>
              </a:spcAft>
              <a:buSzPts val="2800"/>
              <a:buFont typeface="PT Sans Narrow"/>
              <a:buNone/>
              <a:defRPr b="1" sz="2800">
                <a:latin typeface="PT Sans Narrow"/>
                <a:ea typeface="PT Sans Narrow"/>
                <a:cs typeface="PT Sans Narrow"/>
                <a:sym typeface="PT Sans Narrow"/>
              </a:defRPr>
            </a:lvl6pPr>
            <a:lvl7pPr lvl="6">
              <a:spcBef>
                <a:spcPts val="0"/>
              </a:spcBef>
              <a:spcAft>
                <a:spcPts val="0"/>
              </a:spcAft>
              <a:buSzPts val="2800"/>
              <a:buFont typeface="PT Sans Narrow"/>
              <a:buNone/>
              <a:defRPr b="1" sz="2800">
                <a:latin typeface="PT Sans Narrow"/>
                <a:ea typeface="PT Sans Narrow"/>
                <a:cs typeface="PT Sans Narrow"/>
                <a:sym typeface="PT Sans Narrow"/>
              </a:defRPr>
            </a:lvl7pPr>
            <a:lvl8pPr lvl="7">
              <a:spcBef>
                <a:spcPts val="0"/>
              </a:spcBef>
              <a:spcAft>
                <a:spcPts val="0"/>
              </a:spcAft>
              <a:buSzPts val="2800"/>
              <a:buFont typeface="PT Sans Narrow"/>
              <a:buNone/>
              <a:defRPr b="1" sz="2800">
                <a:latin typeface="PT Sans Narrow"/>
                <a:ea typeface="PT Sans Narrow"/>
                <a:cs typeface="PT Sans Narrow"/>
                <a:sym typeface="PT Sans Narrow"/>
              </a:defRPr>
            </a:lvl8pPr>
            <a:lvl9pPr lvl="8">
              <a:spcBef>
                <a:spcPts val="0"/>
              </a:spcBef>
              <a:spcAft>
                <a:spcPts val="0"/>
              </a:spcAft>
              <a:buSzPts val="2800"/>
              <a:buFont typeface="PT Sans Narrow"/>
              <a:buNone/>
              <a:defRPr b="1" sz="2800">
                <a:latin typeface="PT Sans Narrow"/>
                <a:ea typeface="PT Sans Narrow"/>
                <a:cs typeface="PT Sans Narrow"/>
                <a:sym typeface="PT Sans Narrow"/>
              </a:defRPr>
            </a:lvl9pPr>
          </a:lstStyle>
          <a:p/>
        </p:txBody>
      </p:sp>
      <p:sp>
        <p:nvSpPr>
          <p:cNvPr id="7" name="Google Shape;7;p1"/>
          <p:cNvSpPr txBox="1"/>
          <p:nvPr>
            <p:ph idx="1" type="body"/>
          </p:nvPr>
        </p:nvSpPr>
        <p:spPr>
          <a:xfrm>
            <a:off x="311700" y="930375"/>
            <a:ext cx="8709300" cy="5811900"/>
          </a:xfrm>
          <a:prstGeom prst="rect">
            <a:avLst/>
          </a:prstGeom>
          <a:noFill/>
          <a:ln>
            <a:noFill/>
          </a:ln>
        </p:spPr>
        <p:txBody>
          <a:bodyPr anchorCtr="0" anchor="t" bIns="91425" lIns="91425" spcFirstLastPara="1" rIns="91425" wrap="square" tIns="91425">
            <a:normAutofit/>
          </a:bodyPr>
          <a:lstStyle>
            <a:lvl1pPr indent="-393700" lvl="0" marL="457200" algn="just">
              <a:lnSpc>
                <a:spcPct val="115000"/>
              </a:lnSpc>
              <a:spcBef>
                <a:spcPts val="0"/>
              </a:spcBef>
              <a:spcAft>
                <a:spcPts val="0"/>
              </a:spcAft>
              <a:buSzPts val="2600"/>
              <a:buFont typeface="Open Sans"/>
              <a:buChar char="●"/>
              <a:defRPr sz="2600">
                <a:latin typeface="Open Sans"/>
                <a:ea typeface="Open Sans"/>
                <a:cs typeface="Open Sans"/>
                <a:sym typeface="Open Sans"/>
              </a:defRPr>
            </a:lvl1pPr>
            <a:lvl2pPr indent="-387350" lvl="1" marL="914400" algn="just">
              <a:lnSpc>
                <a:spcPct val="115000"/>
              </a:lnSpc>
              <a:spcBef>
                <a:spcPts val="0"/>
              </a:spcBef>
              <a:spcAft>
                <a:spcPts val="0"/>
              </a:spcAft>
              <a:buSzPts val="2500"/>
              <a:buFont typeface="Open Sans Light"/>
              <a:buChar char="○"/>
              <a:defRPr sz="2500">
                <a:latin typeface="Open Sans Light"/>
                <a:ea typeface="Open Sans Light"/>
                <a:cs typeface="Open Sans Light"/>
                <a:sym typeface="Open Sans Light"/>
              </a:defRPr>
            </a:lvl2pPr>
            <a:lvl3pPr indent="-381000" lvl="2" marL="1371600" algn="just">
              <a:lnSpc>
                <a:spcPct val="115000"/>
              </a:lnSpc>
              <a:spcBef>
                <a:spcPts val="0"/>
              </a:spcBef>
              <a:spcAft>
                <a:spcPts val="0"/>
              </a:spcAft>
              <a:buSzPts val="2400"/>
              <a:buFont typeface="Open Sans Light"/>
              <a:buChar char="■"/>
              <a:defRPr sz="2400">
                <a:latin typeface="Open Sans Light"/>
                <a:ea typeface="Open Sans Light"/>
                <a:cs typeface="Open Sans Light"/>
                <a:sym typeface="Open Sans Light"/>
              </a:defRPr>
            </a:lvl3pPr>
            <a:lvl4pPr indent="-374650" lvl="3" marL="1828800" algn="just">
              <a:lnSpc>
                <a:spcPct val="115000"/>
              </a:lnSpc>
              <a:spcBef>
                <a:spcPts val="0"/>
              </a:spcBef>
              <a:spcAft>
                <a:spcPts val="0"/>
              </a:spcAft>
              <a:buSzPts val="2300"/>
              <a:buFont typeface="Open Sans Light"/>
              <a:buChar char="●"/>
              <a:defRPr sz="2300">
                <a:latin typeface="Open Sans Light"/>
                <a:ea typeface="Open Sans Light"/>
                <a:cs typeface="Open Sans Light"/>
                <a:sym typeface="Open Sans Light"/>
              </a:defRPr>
            </a:lvl4pPr>
            <a:lvl5pPr indent="-368300" lvl="4" marL="2286000" algn="just">
              <a:lnSpc>
                <a:spcPct val="115000"/>
              </a:lnSpc>
              <a:spcBef>
                <a:spcPts val="0"/>
              </a:spcBef>
              <a:spcAft>
                <a:spcPts val="0"/>
              </a:spcAft>
              <a:buSzPts val="2200"/>
              <a:buFont typeface="Open Sans Light"/>
              <a:buChar char="○"/>
              <a:defRPr sz="2200">
                <a:latin typeface="Open Sans Light"/>
                <a:ea typeface="Open Sans Light"/>
                <a:cs typeface="Open Sans Light"/>
                <a:sym typeface="Open Sans Light"/>
              </a:defRPr>
            </a:lvl5pPr>
            <a:lvl6pPr indent="-355600" lvl="5" marL="2743200" algn="just">
              <a:lnSpc>
                <a:spcPct val="115000"/>
              </a:lnSpc>
              <a:spcBef>
                <a:spcPts val="0"/>
              </a:spcBef>
              <a:spcAft>
                <a:spcPts val="0"/>
              </a:spcAft>
              <a:buSzPts val="2000"/>
              <a:buFont typeface="Open Sans Light"/>
              <a:buChar char="■"/>
              <a:defRPr sz="2000">
                <a:latin typeface="Open Sans Light"/>
                <a:ea typeface="Open Sans Light"/>
                <a:cs typeface="Open Sans Light"/>
                <a:sym typeface="Open Sans Light"/>
              </a:defRPr>
            </a:lvl6pPr>
            <a:lvl7pPr indent="-355600" lvl="6" marL="3200400" algn="just">
              <a:lnSpc>
                <a:spcPct val="115000"/>
              </a:lnSpc>
              <a:spcBef>
                <a:spcPts val="0"/>
              </a:spcBef>
              <a:spcAft>
                <a:spcPts val="0"/>
              </a:spcAft>
              <a:buSzPts val="2000"/>
              <a:buFont typeface="Open Sans Light"/>
              <a:buChar char="●"/>
              <a:defRPr sz="2000">
                <a:latin typeface="Open Sans Light"/>
                <a:ea typeface="Open Sans Light"/>
                <a:cs typeface="Open Sans Light"/>
                <a:sym typeface="Open Sans Light"/>
              </a:defRPr>
            </a:lvl7pPr>
            <a:lvl8pPr indent="-355600" lvl="7" marL="3657600" algn="just">
              <a:lnSpc>
                <a:spcPct val="115000"/>
              </a:lnSpc>
              <a:spcBef>
                <a:spcPts val="0"/>
              </a:spcBef>
              <a:spcAft>
                <a:spcPts val="0"/>
              </a:spcAft>
              <a:buSzPts val="2000"/>
              <a:buFont typeface="Open Sans Light"/>
              <a:buChar char="○"/>
              <a:defRPr sz="2000">
                <a:latin typeface="Open Sans Light"/>
                <a:ea typeface="Open Sans Light"/>
                <a:cs typeface="Open Sans Light"/>
                <a:sym typeface="Open Sans Light"/>
              </a:defRPr>
            </a:lvl8pPr>
            <a:lvl9pPr indent="-355600" lvl="8" marL="4114800" algn="just">
              <a:lnSpc>
                <a:spcPct val="115000"/>
              </a:lnSpc>
              <a:spcBef>
                <a:spcPts val="0"/>
              </a:spcBef>
              <a:spcAft>
                <a:spcPts val="0"/>
              </a:spcAft>
              <a:buSzPts val="2000"/>
              <a:buFont typeface="Open Sans Light"/>
              <a:buChar char="■"/>
              <a:defRPr sz="2000">
                <a:latin typeface="Open Sans Light"/>
                <a:ea typeface="Open Sans Light"/>
                <a:cs typeface="Open Sans Light"/>
                <a:sym typeface="Open Sans Light"/>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mailto:begummutlubilge@gmail.com" TargetMode="External"/><Relationship Id="rId4" Type="http://schemas.openxmlformats.org/officeDocument/2006/relationships/hyperlink" Target="mailto:bmbilge@ankara.edu.tr"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9.png"/><Relationship Id="rId4" Type="http://schemas.openxmlformats.org/officeDocument/2006/relationships/image" Target="../media/image12.png"/><Relationship Id="rId5"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7.png"/><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hyperlink" Target="mailto:begummutlubilge@gmail.com" TargetMode="External"/><Relationship Id="rId4" Type="http://schemas.openxmlformats.org/officeDocument/2006/relationships/hyperlink" Target="mailto:bmbilge@ankara.edu.tr"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2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2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1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15.png"/><Relationship Id="rId4" Type="http://schemas.openxmlformats.org/officeDocument/2006/relationships/image" Target="../media/image1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1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1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2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hyperlink" Target="mailto:begummutlubilge@gmail.com" TargetMode="External"/><Relationship Id="rId4" Type="http://schemas.openxmlformats.org/officeDocument/2006/relationships/hyperlink" Target="mailto:bmbilge@ankara.edu.tr"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992767"/>
            <a:ext cx="8520600" cy="27369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COM1013</a:t>
            </a:r>
            <a:endParaRPr/>
          </a:p>
          <a:p>
            <a:pPr indent="0" lvl="0" marL="0" rtl="0" algn="ctr">
              <a:spcBef>
                <a:spcPts val="0"/>
              </a:spcBef>
              <a:spcAft>
                <a:spcPts val="0"/>
              </a:spcAft>
              <a:buNone/>
            </a:pPr>
            <a:r>
              <a:rPr lang="en"/>
              <a:t>INTRODUCTION TO COMPUTER SCIENCE</a:t>
            </a:r>
            <a:endParaRPr/>
          </a:p>
        </p:txBody>
      </p:sp>
      <p:sp>
        <p:nvSpPr>
          <p:cNvPr id="55" name="Google Shape;55;p13"/>
          <p:cNvSpPr txBox="1"/>
          <p:nvPr>
            <p:ph idx="1" type="subTitle"/>
          </p:nvPr>
        </p:nvSpPr>
        <p:spPr>
          <a:xfrm>
            <a:off x="311700" y="3778800"/>
            <a:ext cx="8520600" cy="27369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Lecturer: Begüm MUTLU BİLGE, PhD</a:t>
            </a:r>
            <a:endParaRPr/>
          </a:p>
          <a:p>
            <a:pPr indent="0" lvl="0" marL="0" rtl="0" algn="ctr">
              <a:spcBef>
                <a:spcPts val="0"/>
              </a:spcBef>
              <a:spcAft>
                <a:spcPts val="0"/>
              </a:spcAft>
              <a:buNone/>
            </a:pPr>
            <a:r>
              <a:t/>
            </a:r>
            <a:endParaRPr/>
          </a:p>
          <a:p>
            <a:pPr indent="0" lvl="0" marL="0" rtl="0" algn="l">
              <a:spcBef>
                <a:spcPts val="0"/>
              </a:spcBef>
              <a:spcAft>
                <a:spcPts val="0"/>
              </a:spcAft>
              <a:buNone/>
            </a:pPr>
            <a:r>
              <a:rPr lang="en" sz="2200" u="sng">
                <a:solidFill>
                  <a:schemeClr val="hlink"/>
                </a:solidFill>
                <a:hlinkClick r:id="rId3"/>
              </a:rPr>
              <a:t>begummutlubilge+com1013@gmail.com</a:t>
            </a:r>
            <a:r>
              <a:rPr lang="en" sz="2200"/>
              <a:t> (recommended)</a:t>
            </a:r>
            <a:endParaRPr sz="2200"/>
          </a:p>
          <a:p>
            <a:pPr indent="0" lvl="0" marL="0" rtl="0" algn="l">
              <a:spcBef>
                <a:spcPts val="0"/>
              </a:spcBef>
              <a:spcAft>
                <a:spcPts val="0"/>
              </a:spcAft>
              <a:buNone/>
            </a:pPr>
            <a:r>
              <a:rPr lang="en" sz="2200" u="sng">
                <a:solidFill>
                  <a:schemeClr val="hlink"/>
                </a:solidFill>
                <a:hlinkClick r:id="rId4"/>
              </a:rPr>
              <a:t>bmbilge@ankara.edu.tr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pic>
        <p:nvPicPr>
          <p:cNvPr id="60" name="Google Shape;60;p14"/>
          <p:cNvPicPr preferRelativeResize="0"/>
          <p:nvPr/>
        </p:nvPicPr>
        <p:blipFill rotWithShape="1">
          <a:blip r:embed="rId3">
            <a:alphaModFix/>
          </a:blip>
          <a:srcRect b="1483" l="2615" r="878" t="11264"/>
          <a:stretch/>
        </p:blipFill>
        <p:spPr>
          <a:xfrm>
            <a:off x="0" y="2207275"/>
            <a:ext cx="9144000" cy="465072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Historical Perspective: Early Generations</a:t>
            </a:r>
            <a:endParaRPr/>
          </a:p>
        </p:txBody>
      </p:sp>
      <p:sp>
        <p:nvSpPr>
          <p:cNvPr id="66" name="Google Shape;66;p15"/>
          <p:cNvSpPr txBox="1"/>
          <p:nvPr>
            <p:ph idx="1" type="body"/>
          </p:nvPr>
        </p:nvSpPr>
        <p:spPr>
          <a:xfrm>
            <a:off x="311700" y="930375"/>
            <a:ext cx="8709300" cy="5811900"/>
          </a:xfrm>
          <a:prstGeom prst="rect">
            <a:avLst/>
          </a:prstGeom>
        </p:spPr>
        <p:txBody>
          <a:bodyPr anchorCtr="0" anchor="t" bIns="91425" lIns="91425" spcFirstLastPara="1" rIns="91425" wrap="square" tIns="91425">
            <a:normAutofit fontScale="92500" lnSpcReduction="20000"/>
          </a:bodyPr>
          <a:lstStyle/>
          <a:p>
            <a:pPr indent="0" lvl="0" marL="0" rtl="0" algn="just">
              <a:spcBef>
                <a:spcPts val="0"/>
              </a:spcBef>
              <a:spcAft>
                <a:spcPts val="0"/>
              </a:spcAft>
              <a:buNone/>
            </a:pPr>
            <a:r>
              <a:rPr lang="en"/>
              <a:t>W</a:t>
            </a:r>
            <a:r>
              <a:rPr lang="en"/>
              <a:t>riting programs in a machine language is a tedious task </a:t>
            </a:r>
            <a:endParaRPr/>
          </a:p>
          <a:p>
            <a:pPr indent="-381317" lvl="0" marL="457200" rtl="0" algn="just">
              <a:spcBef>
                <a:spcPts val="1200"/>
              </a:spcBef>
              <a:spcAft>
                <a:spcPts val="0"/>
              </a:spcAft>
              <a:buSzPct val="100000"/>
              <a:buChar char="●"/>
            </a:pPr>
            <a:r>
              <a:rPr lang="en"/>
              <a:t>that often leads to errors</a:t>
            </a:r>
            <a:endParaRPr/>
          </a:p>
          <a:p>
            <a:pPr indent="0" lvl="0" marL="0" rtl="0" algn="just">
              <a:spcBef>
                <a:spcPts val="1200"/>
              </a:spcBef>
              <a:spcAft>
                <a:spcPts val="0"/>
              </a:spcAft>
              <a:buNone/>
            </a:pPr>
            <a:r>
              <a:rPr lang="en"/>
              <a:t>In the 1940s, researchers simplified the programming process by developing notational systems by which instructions could be represented in </a:t>
            </a:r>
            <a:r>
              <a:rPr b="1" lang="en"/>
              <a:t>mnemonic</a:t>
            </a:r>
            <a:r>
              <a:rPr lang="en"/>
              <a:t> rather than numeric form. </a:t>
            </a:r>
            <a:endParaRPr/>
          </a:p>
          <a:p>
            <a:pPr indent="0" lvl="0" marL="0" rtl="0" algn="just">
              <a:spcBef>
                <a:spcPts val="1200"/>
              </a:spcBef>
              <a:spcAft>
                <a:spcPts val="0"/>
              </a:spcAft>
              <a:buNone/>
            </a:pPr>
            <a:r>
              <a:rPr lang="en"/>
              <a:t>For example, the instruction</a:t>
            </a:r>
            <a:endParaRPr/>
          </a:p>
          <a:p>
            <a:pPr indent="0" lvl="0" marL="0" rtl="0" algn="ctr">
              <a:spcBef>
                <a:spcPts val="1200"/>
              </a:spcBef>
              <a:spcAft>
                <a:spcPts val="0"/>
              </a:spcAft>
              <a:buNone/>
            </a:pPr>
            <a:r>
              <a:rPr lang="en">
                <a:latin typeface="PT Sans Narrow"/>
                <a:ea typeface="PT Sans Narrow"/>
                <a:cs typeface="PT Sans Narrow"/>
                <a:sym typeface="PT Sans Narrow"/>
              </a:rPr>
              <a:t>Move the contents of register 5 to register 6</a:t>
            </a:r>
            <a:endParaRPr>
              <a:latin typeface="PT Sans Narrow"/>
              <a:ea typeface="PT Sans Narrow"/>
              <a:cs typeface="PT Sans Narrow"/>
              <a:sym typeface="PT Sans Narrow"/>
            </a:endParaRPr>
          </a:p>
          <a:p>
            <a:pPr indent="0" lvl="0" marL="0" rtl="0" algn="just">
              <a:spcBef>
                <a:spcPts val="1200"/>
              </a:spcBef>
              <a:spcAft>
                <a:spcPts val="0"/>
              </a:spcAft>
              <a:buNone/>
            </a:pPr>
            <a:r>
              <a:rPr lang="en"/>
              <a:t>would be expressed as</a:t>
            </a:r>
            <a:endParaRPr/>
          </a:p>
          <a:p>
            <a:pPr indent="0" lvl="0" marL="0" rtl="0" algn="ctr">
              <a:spcBef>
                <a:spcPts val="1200"/>
              </a:spcBef>
              <a:spcAft>
                <a:spcPts val="0"/>
              </a:spcAft>
              <a:buNone/>
            </a:pPr>
            <a:r>
              <a:rPr lang="en">
                <a:latin typeface="PT Sans Narrow"/>
                <a:ea typeface="PT Sans Narrow"/>
                <a:cs typeface="PT Sans Narrow"/>
                <a:sym typeface="PT Sans Narrow"/>
              </a:rPr>
              <a:t>4056</a:t>
            </a:r>
            <a:r>
              <a:rPr lang="en"/>
              <a:t> (using the machine language), </a:t>
            </a:r>
            <a:endParaRPr/>
          </a:p>
          <a:p>
            <a:pPr indent="0" lvl="0" marL="0" rtl="0" algn="just">
              <a:spcBef>
                <a:spcPts val="1200"/>
              </a:spcBef>
              <a:spcAft>
                <a:spcPts val="0"/>
              </a:spcAft>
              <a:buNone/>
            </a:pPr>
            <a:r>
              <a:rPr lang="en"/>
              <a:t>in a mnemonic system it might appear as</a:t>
            </a:r>
            <a:endParaRPr/>
          </a:p>
          <a:p>
            <a:pPr indent="0" lvl="0" marL="0" rtl="0" algn="ctr">
              <a:spcBef>
                <a:spcPts val="1200"/>
              </a:spcBef>
              <a:spcAft>
                <a:spcPts val="1200"/>
              </a:spcAft>
              <a:buNone/>
            </a:pPr>
            <a:r>
              <a:rPr lang="en">
                <a:latin typeface="PT Sans Narrow"/>
                <a:ea typeface="PT Sans Narrow"/>
                <a:cs typeface="PT Sans Narrow"/>
                <a:sym typeface="PT Sans Narrow"/>
              </a:rPr>
              <a:t>MOV R5, R6</a:t>
            </a:r>
            <a:endParaRPr>
              <a:latin typeface="PT Sans Narrow"/>
              <a:ea typeface="PT Sans Narrow"/>
              <a:cs typeface="PT Sans Narrow"/>
              <a:sym typeface="PT Sans Narrow"/>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Historical Perspective: Early Generations</a:t>
            </a:r>
            <a:endParaRPr/>
          </a:p>
        </p:txBody>
      </p:sp>
      <p:sp>
        <p:nvSpPr>
          <p:cNvPr id="72" name="Google Shape;72;p16"/>
          <p:cNvSpPr txBox="1"/>
          <p:nvPr>
            <p:ph idx="1" type="body"/>
          </p:nvPr>
        </p:nvSpPr>
        <p:spPr>
          <a:xfrm>
            <a:off x="311700" y="930375"/>
            <a:ext cx="8709300" cy="58119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a:t>Once such a mnemonic system was established, programs called ­ </a:t>
            </a:r>
            <a:r>
              <a:rPr b="1" lang="en"/>
              <a:t>assemblers</a:t>
            </a:r>
            <a:r>
              <a:rPr lang="en"/>
              <a:t> were developed </a:t>
            </a:r>
            <a:endParaRPr/>
          </a:p>
          <a:p>
            <a:pPr indent="-393700" lvl="0" marL="457200" rtl="0" algn="just">
              <a:spcBef>
                <a:spcPts val="1200"/>
              </a:spcBef>
              <a:spcAft>
                <a:spcPts val="0"/>
              </a:spcAft>
              <a:buSzPts val="2600"/>
              <a:buChar char="●"/>
            </a:pPr>
            <a:r>
              <a:rPr lang="en"/>
              <a:t>to convert mnemonic expressions into machine language instructions. </a:t>
            </a:r>
            <a:endParaRPr/>
          </a:p>
          <a:p>
            <a:pPr indent="0" lvl="0" marL="0" rtl="0" algn="just">
              <a:spcBef>
                <a:spcPts val="1200"/>
              </a:spcBef>
              <a:spcAft>
                <a:spcPts val="0"/>
              </a:spcAft>
              <a:buNone/>
            </a:pPr>
            <a:r>
              <a:rPr lang="en"/>
              <a:t>A mnemonic system for representing programs is collectively called an </a:t>
            </a:r>
            <a:r>
              <a:rPr b="1" lang="en"/>
              <a:t>assembly</a:t>
            </a:r>
            <a:r>
              <a:rPr lang="en"/>
              <a:t> </a:t>
            </a:r>
            <a:r>
              <a:rPr b="1" lang="en"/>
              <a:t>language</a:t>
            </a:r>
            <a:r>
              <a:rPr lang="en"/>
              <a:t>.</a:t>
            </a:r>
            <a:endParaRPr/>
          </a:p>
          <a:p>
            <a:pPr indent="0" lvl="0" marL="0" rtl="0" algn="just">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7"/>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Historical Perspective: Early Generations</a:t>
            </a:r>
            <a:endParaRPr/>
          </a:p>
        </p:txBody>
      </p:sp>
      <p:sp>
        <p:nvSpPr>
          <p:cNvPr id="78" name="Google Shape;78;p17"/>
          <p:cNvSpPr txBox="1"/>
          <p:nvPr>
            <p:ph idx="1" type="body"/>
          </p:nvPr>
        </p:nvSpPr>
        <p:spPr>
          <a:xfrm>
            <a:off x="311700" y="930375"/>
            <a:ext cx="8709300" cy="58119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a:t>a program written in an assembly language is inherently machine dependent</a:t>
            </a:r>
            <a:endParaRPr/>
          </a:p>
          <a:p>
            <a:pPr indent="-393700" lvl="0" marL="457200" rtl="0" algn="just">
              <a:spcBef>
                <a:spcPts val="1200"/>
              </a:spcBef>
              <a:spcAft>
                <a:spcPts val="0"/>
              </a:spcAft>
              <a:buSzPts val="2600"/>
              <a:buChar char="●"/>
            </a:pPr>
            <a:r>
              <a:rPr lang="en"/>
              <a:t>a program written in assembly language cannot be easily transported to another computer design because it must be rewritten to conform to the new computer’s register configuration and instruction set.</a:t>
            </a:r>
            <a:endParaRPr/>
          </a:p>
          <a:p>
            <a:pPr indent="0" lvl="0" marL="0" rtl="0" algn="just">
              <a:spcBef>
                <a:spcPts val="1200"/>
              </a:spcBef>
              <a:spcAft>
                <a:spcPts val="1200"/>
              </a:spcAft>
              <a:buNone/>
            </a:pPr>
            <a:r>
              <a:rPr lang="en"/>
              <a:t>The programmer is still forced to think in terms of the small, incremental steps of the machine’s language.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8"/>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solidFill>
                  <a:schemeClr val="dk1"/>
                </a:solidFill>
              </a:rPr>
              <a:t>Historical Perspective: Early Generations</a:t>
            </a:r>
            <a:endParaRPr/>
          </a:p>
        </p:txBody>
      </p:sp>
      <p:sp>
        <p:nvSpPr>
          <p:cNvPr id="84" name="Google Shape;84;p18"/>
          <p:cNvSpPr txBox="1"/>
          <p:nvPr>
            <p:ph idx="1" type="body"/>
          </p:nvPr>
        </p:nvSpPr>
        <p:spPr>
          <a:xfrm>
            <a:off x="311700" y="930375"/>
            <a:ext cx="8709300" cy="58119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a:t>The design process is better suited to the use of high-level primitives, </a:t>
            </a:r>
            <a:endParaRPr/>
          </a:p>
          <a:p>
            <a:pPr indent="-393700" lvl="0" marL="457200" rtl="0" algn="just">
              <a:spcBef>
                <a:spcPts val="1200"/>
              </a:spcBef>
              <a:spcAft>
                <a:spcPts val="0"/>
              </a:spcAft>
              <a:buSzPts val="2600"/>
              <a:buChar char="●"/>
            </a:pPr>
            <a:r>
              <a:rPr lang="en"/>
              <a:t>each representing a concept associated with a major feature of the product.</a:t>
            </a:r>
            <a:endParaRPr/>
          </a:p>
          <a:p>
            <a:pPr indent="0" lvl="0" marL="0" rtl="0" algn="just">
              <a:spcBef>
                <a:spcPts val="1200"/>
              </a:spcBef>
              <a:spcAft>
                <a:spcPts val="1200"/>
              </a:spcAft>
              <a:buNone/>
            </a:pPr>
            <a:r>
              <a:rPr lang="en"/>
              <a:t>Once the design is complete, these primitives can be translated to lower-level concepts relating to the details of implementation.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9"/>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solidFill>
                  <a:schemeClr val="dk1"/>
                </a:solidFill>
              </a:rPr>
              <a:t>Historical Perspective: Early Generations</a:t>
            </a:r>
            <a:endParaRPr/>
          </a:p>
        </p:txBody>
      </p:sp>
      <p:sp>
        <p:nvSpPr>
          <p:cNvPr id="90" name="Google Shape;90;p19"/>
          <p:cNvSpPr txBox="1"/>
          <p:nvPr>
            <p:ph idx="1" type="body"/>
          </p:nvPr>
        </p:nvSpPr>
        <p:spPr>
          <a:xfrm>
            <a:off x="311700" y="930375"/>
            <a:ext cx="8709300" cy="5811900"/>
          </a:xfrm>
          <a:prstGeom prst="rect">
            <a:avLst/>
          </a:prstGeom>
        </p:spPr>
        <p:txBody>
          <a:bodyPr anchorCtr="0" anchor="t" bIns="91425" lIns="91425" spcFirstLastPara="1" rIns="91425" wrap="square" tIns="91425">
            <a:normAutofit lnSpcReduction="10000"/>
          </a:bodyPr>
          <a:lstStyle/>
          <a:p>
            <a:pPr indent="0" lvl="0" marL="0" rtl="0" algn="just">
              <a:spcBef>
                <a:spcPts val="0"/>
              </a:spcBef>
              <a:spcAft>
                <a:spcPts val="0"/>
              </a:spcAft>
              <a:buNone/>
            </a:pPr>
            <a:r>
              <a:rPr lang="en"/>
              <a:t>Following this philosophy, computer scientists began developing </a:t>
            </a:r>
            <a:r>
              <a:rPr b="1" lang="en"/>
              <a:t>programming languages </a:t>
            </a:r>
            <a:endParaRPr b="1"/>
          </a:p>
          <a:p>
            <a:pPr indent="-393700" lvl="0" marL="457200" rtl="0" algn="just">
              <a:spcBef>
                <a:spcPts val="1200"/>
              </a:spcBef>
              <a:spcAft>
                <a:spcPts val="0"/>
              </a:spcAft>
              <a:buSzPts val="2600"/>
              <a:buChar char="●"/>
            </a:pPr>
            <a:r>
              <a:rPr lang="en"/>
              <a:t>that were more conducive to software development than were the low-level assembly languages.</a:t>
            </a:r>
            <a:endParaRPr/>
          </a:p>
          <a:p>
            <a:pPr indent="0" lvl="0" marL="0" rtl="0" algn="just">
              <a:spcBef>
                <a:spcPts val="1200"/>
              </a:spcBef>
              <a:spcAft>
                <a:spcPts val="0"/>
              </a:spcAft>
              <a:buNone/>
            </a:pPr>
            <a:r>
              <a:rPr b="1" lang="en"/>
              <a:t>High level </a:t>
            </a:r>
            <a:r>
              <a:rPr lang="en"/>
              <a:t>&amp; </a:t>
            </a:r>
            <a:r>
              <a:rPr b="1" lang="en"/>
              <a:t>machine independent</a:t>
            </a:r>
            <a:endParaRPr b="1"/>
          </a:p>
          <a:p>
            <a:pPr indent="0" lvl="0" marL="0" rtl="0" algn="just">
              <a:spcBef>
                <a:spcPts val="1200"/>
              </a:spcBef>
              <a:spcAft>
                <a:spcPts val="0"/>
              </a:spcAft>
              <a:buNone/>
            </a:pPr>
            <a:r>
              <a:rPr lang="en"/>
              <a:t>The best-known early examples are</a:t>
            </a:r>
            <a:endParaRPr/>
          </a:p>
          <a:p>
            <a:pPr indent="-393700" lvl="0" marL="457200" rtl="0" algn="just">
              <a:spcBef>
                <a:spcPts val="1200"/>
              </a:spcBef>
              <a:spcAft>
                <a:spcPts val="0"/>
              </a:spcAft>
              <a:buSzPts val="2600"/>
              <a:buChar char="●"/>
            </a:pPr>
            <a:r>
              <a:rPr lang="en"/>
              <a:t>FORTRAN (FORmula TRANslator), which was developed for scientific and engineering applications, and </a:t>
            </a:r>
            <a:endParaRPr/>
          </a:p>
          <a:p>
            <a:pPr indent="-393700" lvl="0" marL="457200" rtl="0" algn="just">
              <a:spcBef>
                <a:spcPts val="0"/>
              </a:spcBef>
              <a:spcAft>
                <a:spcPts val="0"/>
              </a:spcAft>
              <a:buSzPts val="2600"/>
              <a:buChar char="●"/>
            </a:pPr>
            <a:r>
              <a:rPr lang="en"/>
              <a:t>COBOL (COmmon Business-Oriented Language), which was developed by the U.S. Navy for business applications.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0"/>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Historical Perspective: Early Generations</a:t>
            </a:r>
            <a:endParaRPr/>
          </a:p>
        </p:txBody>
      </p:sp>
      <p:grpSp>
        <p:nvGrpSpPr>
          <p:cNvPr id="96" name="Google Shape;96;p20"/>
          <p:cNvGrpSpPr/>
          <p:nvPr/>
        </p:nvGrpSpPr>
        <p:grpSpPr>
          <a:xfrm>
            <a:off x="232050" y="1704158"/>
            <a:ext cx="8679900" cy="3449704"/>
            <a:chOff x="232050" y="1704158"/>
            <a:chExt cx="8679900" cy="3449704"/>
          </a:xfrm>
        </p:grpSpPr>
        <p:pic>
          <p:nvPicPr>
            <p:cNvPr id="97" name="Google Shape;97;p20"/>
            <p:cNvPicPr preferRelativeResize="0"/>
            <p:nvPr/>
          </p:nvPicPr>
          <p:blipFill>
            <a:blip r:embed="rId3">
              <a:alphaModFix/>
            </a:blip>
            <a:stretch>
              <a:fillRect/>
            </a:stretch>
          </p:blipFill>
          <p:spPr>
            <a:xfrm>
              <a:off x="232050" y="1704158"/>
              <a:ext cx="8679900" cy="3449704"/>
            </a:xfrm>
            <a:prstGeom prst="rect">
              <a:avLst/>
            </a:prstGeom>
            <a:noFill/>
            <a:ln>
              <a:noFill/>
            </a:ln>
          </p:spPr>
        </p:pic>
        <p:sp>
          <p:nvSpPr>
            <p:cNvPr id="98" name="Google Shape;98;p20"/>
            <p:cNvSpPr/>
            <p:nvPr/>
          </p:nvSpPr>
          <p:spPr>
            <a:xfrm>
              <a:off x="2743400" y="3919350"/>
              <a:ext cx="3394800" cy="1234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1"/>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Programming Paradigms</a:t>
            </a:r>
            <a:endParaRPr/>
          </a:p>
        </p:txBody>
      </p:sp>
      <p:sp>
        <p:nvSpPr>
          <p:cNvPr id="104" name="Google Shape;104;p21"/>
          <p:cNvSpPr txBox="1"/>
          <p:nvPr>
            <p:ph idx="1" type="body"/>
          </p:nvPr>
        </p:nvSpPr>
        <p:spPr>
          <a:xfrm>
            <a:off x="311700" y="930375"/>
            <a:ext cx="8709300" cy="58119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a:t>T</a:t>
            </a:r>
            <a:r>
              <a:rPr lang="en"/>
              <a:t>he development of programming languages has developed along different paths </a:t>
            </a:r>
            <a:endParaRPr/>
          </a:p>
          <a:p>
            <a:pPr indent="-393700" lvl="0" marL="457200" rtl="0" algn="just">
              <a:spcBef>
                <a:spcPts val="1200"/>
              </a:spcBef>
              <a:spcAft>
                <a:spcPts val="0"/>
              </a:spcAft>
              <a:buSzPts val="2600"/>
              <a:buChar char="●"/>
            </a:pPr>
            <a:r>
              <a:rPr lang="en"/>
              <a:t>as alternative approaches to the programming process </a:t>
            </a:r>
            <a:endParaRPr/>
          </a:p>
          <a:p>
            <a:pPr indent="-393700" lvl="0" marL="457200" rtl="0" algn="just">
              <a:spcBef>
                <a:spcPts val="0"/>
              </a:spcBef>
              <a:spcAft>
                <a:spcPts val="0"/>
              </a:spcAft>
              <a:buSzPts val="2600"/>
              <a:buChar char="●"/>
            </a:pPr>
            <a:r>
              <a:rPr lang="en"/>
              <a:t>(called programming paradigms)</a:t>
            </a:r>
            <a:endParaRPr/>
          </a:p>
          <a:p>
            <a:pPr indent="-387350" lvl="1" marL="914400" rtl="0" algn="just">
              <a:spcBef>
                <a:spcPts val="0"/>
              </a:spcBef>
              <a:spcAft>
                <a:spcPts val="0"/>
              </a:spcAft>
              <a:buSzPts val="2500"/>
              <a:buChar char="○"/>
            </a:pPr>
            <a:r>
              <a:rPr lang="en"/>
              <a:t>software development paradigm</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2"/>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solidFill>
                  <a:schemeClr val="dk1"/>
                </a:solidFill>
              </a:rPr>
              <a:t>Programming Paradigms</a:t>
            </a:r>
            <a:endParaRPr/>
          </a:p>
        </p:txBody>
      </p:sp>
      <p:sp>
        <p:nvSpPr>
          <p:cNvPr id="110" name="Google Shape;110;p22"/>
          <p:cNvSpPr txBox="1"/>
          <p:nvPr>
            <p:ph idx="1" type="body"/>
          </p:nvPr>
        </p:nvSpPr>
        <p:spPr>
          <a:xfrm>
            <a:off x="311700" y="5084125"/>
            <a:ext cx="8709300" cy="16581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a:t>A better representation for the development of programming languages.</a:t>
            </a:r>
            <a:endParaRPr/>
          </a:p>
        </p:txBody>
      </p:sp>
      <p:pic>
        <p:nvPicPr>
          <p:cNvPr id="111" name="Google Shape;111;p22"/>
          <p:cNvPicPr preferRelativeResize="0"/>
          <p:nvPr/>
        </p:nvPicPr>
        <p:blipFill>
          <a:blip r:embed="rId3">
            <a:alphaModFix/>
          </a:blip>
          <a:stretch>
            <a:fillRect/>
          </a:stretch>
        </p:blipFill>
        <p:spPr>
          <a:xfrm>
            <a:off x="0" y="1473576"/>
            <a:ext cx="9144003" cy="306734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3"/>
          <p:cNvSpPr txBox="1"/>
          <p:nvPr>
            <p:ph type="title"/>
          </p:nvPr>
        </p:nvSpPr>
        <p:spPr>
          <a:xfrm>
            <a:off x="311700" y="166867"/>
            <a:ext cx="8520600" cy="7635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solidFill>
                  <a:schemeClr val="dk1"/>
                </a:solidFill>
              </a:rPr>
              <a:t>Programming Paradigms : Imperative (procedural) paradigm</a:t>
            </a:r>
            <a:endParaRPr/>
          </a:p>
        </p:txBody>
      </p:sp>
      <p:sp>
        <p:nvSpPr>
          <p:cNvPr id="117" name="Google Shape;117;p23"/>
          <p:cNvSpPr txBox="1"/>
          <p:nvPr>
            <p:ph idx="1" type="body"/>
          </p:nvPr>
        </p:nvSpPr>
        <p:spPr>
          <a:xfrm>
            <a:off x="311700" y="4390925"/>
            <a:ext cx="8832300" cy="2467200"/>
          </a:xfrm>
          <a:prstGeom prst="rect">
            <a:avLst/>
          </a:prstGeom>
        </p:spPr>
        <p:txBody>
          <a:bodyPr anchorCtr="0" anchor="t" bIns="91425" lIns="91425" spcFirstLastPara="1" rIns="91425" wrap="square" tIns="91425">
            <a:normAutofit fontScale="85000"/>
          </a:bodyPr>
          <a:lstStyle/>
          <a:p>
            <a:pPr indent="-368935" lvl="0" marL="457200" rtl="0" algn="l">
              <a:spcBef>
                <a:spcPts val="0"/>
              </a:spcBef>
              <a:spcAft>
                <a:spcPts val="0"/>
              </a:spcAft>
              <a:buSzPct val="100000"/>
              <a:buChar char="●"/>
            </a:pPr>
            <a:r>
              <a:rPr lang="en"/>
              <a:t>T</a:t>
            </a:r>
            <a:r>
              <a:rPr lang="en"/>
              <a:t>raditional approach to the programming process.	</a:t>
            </a:r>
            <a:endParaRPr/>
          </a:p>
          <a:p>
            <a:pPr indent="-368935" lvl="0" marL="457200" rtl="0" algn="l">
              <a:spcBef>
                <a:spcPts val="0"/>
              </a:spcBef>
              <a:spcAft>
                <a:spcPts val="0"/>
              </a:spcAft>
              <a:buSzPct val="100000"/>
              <a:buChar char="●"/>
            </a:pPr>
            <a:r>
              <a:rPr lang="en"/>
              <a:t>The development of a sequence of commands that manipulate data to produce the desired result.</a:t>
            </a:r>
            <a:endParaRPr/>
          </a:p>
          <a:p>
            <a:pPr indent="-368935" lvl="0" marL="457200" rtl="0" algn="l">
              <a:spcBef>
                <a:spcPts val="0"/>
              </a:spcBef>
              <a:spcAft>
                <a:spcPts val="0"/>
              </a:spcAft>
              <a:buSzPct val="100000"/>
              <a:buChar char="●"/>
            </a:pPr>
            <a:r>
              <a:rPr lang="en"/>
              <a:t>Tells us to approach the programming process by </a:t>
            </a:r>
            <a:endParaRPr/>
          </a:p>
          <a:p>
            <a:pPr indent="-363537" lvl="1" marL="914400" rtl="0" algn="l">
              <a:spcBef>
                <a:spcPts val="0"/>
              </a:spcBef>
              <a:spcAft>
                <a:spcPts val="0"/>
              </a:spcAft>
              <a:buSzPct val="100000"/>
              <a:buChar char="○"/>
            </a:pPr>
            <a:r>
              <a:rPr lang="en"/>
              <a:t>finding an algorithm to solve the problem at hand and then</a:t>
            </a:r>
            <a:endParaRPr/>
          </a:p>
          <a:p>
            <a:pPr indent="-363537" lvl="1" marL="914400" rtl="0" algn="l">
              <a:spcBef>
                <a:spcPts val="0"/>
              </a:spcBef>
              <a:spcAft>
                <a:spcPts val="0"/>
              </a:spcAft>
              <a:buSzPct val="100000"/>
              <a:buChar char="○"/>
            </a:pPr>
            <a:r>
              <a:rPr lang="en"/>
              <a:t>expressing that algorithm as a sequence of commands</a:t>
            </a:r>
            <a:endParaRPr/>
          </a:p>
        </p:txBody>
      </p:sp>
      <p:pic>
        <p:nvPicPr>
          <p:cNvPr id="118" name="Google Shape;118;p23"/>
          <p:cNvPicPr preferRelativeResize="0"/>
          <p:nvPr/>
        </p:nvPicPr>
        <p:blipFill>
          <a:blip r:embed="rId3">
            <a:alphaModFix/>
          </a:blip>
          <a:stretch>
            <a:fillRect/>
          </a:stretch>
        </p:blipFill>
        <p:spPr>
          <a:xfrm>
            <a:off x="0" y="1201976"/>
            <a:ext cx="9144003" cy="3067349"/>
          </a:xfrm>
          <a:prstGeom prst="rect">
            <a:avLst/>
          </a:prstGeom>
          <a:noFill/>
          <a:ln>
            <a:noFill/>
          </a:ln>
        </p:spPr>
      </p:pic>
      <p:sp>
        <p:nvSpPr>
          <p:cNvPr id="119" name="Google Shape;119;p23"/>
          <p:cNvSpPr/>
          <p:nvPr/>
        </p:nvSpPr>
        <p:spPr>
          <a:xfrm>
            <a:off x="0" y="2670800"/>
            <a:ext cx="9143700" cy="498000"/>
          </a:xfrm>
          <a:prstGeom prst="roundRect">
            <a:avLst>
              <a:gd fmla="val 16667" name="adj"/>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4"/>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solidFill>
                  <a:schemeClr val="dk1"/>
                </a:solidFill>
              </a:rPr>
              <a:t>Programming Paradigms : Declarative paradigm</a:t>
            </a:r>
            <a:endParaRPr/>
          </a:p>
        </p:txBody>
      </p:sp>
      <p:sp>
        <p:nvSpPr>
          <p:cNvPr id="125" name="Google Shape;125;p24"/>
          <p:cNvSpPr txBox="1"/>
          <p:nvPr>
            <p:ph idx="1" type="body"/>
          </p:nvPr>
        </p:nvSpPr>
        <p:spPr>
          <a:xfrm>
            <a:off x="311700" y="4390925"/>
            <a:ext cx="8832300" cy="2467200"/>
          </a:xfrm>
          <a:prstGeom prst="rect">
            <a:avLst/>
          </a:prstGeom>
        </p:spPr>
        <p:txBody>
          <a:bodyPr anchorCtr="0" anchor="t" bIns="91425" lIns="91425" spcFirstLastPara="1" rIns="91425" wrap="square" tIns="91425">
            <a:normAutofit/>
          </a:bodyPr>
          <a:lstStyle/>
          <a:p>
            <a:pPr indent="-393700" lvl="0" marL="457200" rtl="0" algn="l">
              <a:spcBef>
                <a:spcPts val="0"/>
              </a:spcBef>
              <a:spcAft>
                <a:spcPts val="0"/>
              </a:spcAft>
              <a:buSzPts val="2600"/>
              <a:buChar char="●"/>
            </a:pPr>
            <a:r>
              <a:rPr lang="en"/>
              <a:t>A</a:t>
            </a:r>
            <a:r>
              <a:rPr lang="en"/>
              <a:t>pplies a pre-established general-purpose problem-solving algorithm to solve problems</a:t>
            </a:r>
            <a:endParaRPr/>
          </a:p>
        </p:txBody>
      </p:sp>
      <p:pic>
        <p:nvPicPr>
          <p:cNvPr id="126" name="Google Shape;126;p24"/>
          <p:cNvPicPr preferRelativeResize="0"/>
          <p:nvPr/>
        </p:nvPicPr>
        <p:blipFill>
          <a:blip r:embed="rId3">
            <a:alphaModFix/>
          </a:blip>
          <a:stretch>
            <a:fillRect/>
          </a:stretch>
        </p:blipFill>
        <p:spPr>
          <a:xfrm>
            <a:off x="0" y="1201976"/>
            <a:ext cx="9144003" cy="3067349"/>
          </a:xfrm>
          <a:prstGeom prst="rect">
            <a:avLst/>
          </a:prstGeom>
          <a:noFill/>
          <a:ln>
            <a:noFill/>
          </a:ln>
        </p:spPr>
      </p:pic>
      <p:sp>
        <p:nvSpPr>
          <p:cNvPr id="127" name="Google Shape;127;p24"/>
          <p:cNvSpPr/>
          <p:nvPr/>
        </p:nvSpPr>
        <p:spPr>
          <a:xfrm>
            <a:off x="150" y="3327175"/>
            <a:ext cx="9143700" cy="498000"/>
          </a:xfrm>
          <a:prstGeom prst="roundRect">
            <a:avLst>
              <a:gd fmla="val 16667" name="adj"/>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5"/>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solidFill>
                  <a:schemeClr val="dk1"/>
                </a:solidFill>
              </a:rPr>
              <a:t>Programming Paradigms : Functional paradigm</a:t>
            </a:r>
            <a:endParaRPr/>
          </a:p>
        </p:txBody>
      </p:sp>
      <p:sp>
        <p:nvSpPr>
          <p:cNvPr id="133" name="Google Shape;133;p25"/>
          <p:cNvSpPr txBox="1"/>
          <p:nvPr>
            <p:ph idx="1" type="body"/>
          </p:nvPr>
        </p:nvSpPr>
        <p:spPr>
          <a:xfrm>
            <a:off x="311700" y="4390925"/>
            <a:ext cx="8832300" cy="2467200"/>
          </a:xfrm>
          <a:prstGeom prst="rect">
            <a:avLst/>
          </a:prstGeom>
        </p:spPr>
        <p:txBody>
          <a:bodyPr anchorCtr="0" anchor="t" bIns="91425" lIns="91425" spcFirstLastPara="1" rIns="91425" wrap="square" tIns="91425">
            <a:normAutofit/>
          </a:bodyPr>
          <a:lstStyle/>
          <a:p>
            <a:pPr indent="-393700" lvl="0" marL="457200" rtl="0" algn="l">
              <a:spcBef>
                <a:spcPts val="0"/>
              </a:spcBef>
              <a:spcAft>
                <a:spcPts val="0"/>
              </a:spcAft>
              <a:buSzPts val="2600"/>
              <a:buChar char="●"/>
            </a:pPr>
            <a:r>
              <a:rPr lang="en"/>
              <a:t>A</a:t>
            </a:r>
            <a:r>
              <a:rPr lang="en"/>
              <a:t> program is viewed as an entity that accepts inputs and produces outputs.</a:t>
            </a:r>
            <a:endParaRPr/>
          </a:p>
        </p:txBody>
      </p:sp>
      <p:pic>
        <p:nvPicPr>
          <p:cNvPr id="134" name="Google Shape;134;p25"/>
          <p:cNvPicPr preferRelativeResize="0"/>
          <p:nvPr/>
        </p:nvPicPr>
        <p:blipFill>
          <a:blip r:embed="rId3">
            <a:alphaModFix/>
          </a:blip>
          <a:stretch>
            <a:fillRect/>
          </a:stretch>
        </p:blipFill>
        <p:spPr>
          <a:xfrm>
            <a:off x="0" y="1201976"/>
            <a:ext cx="9144003" cy="3067349"/>
          </a:xfrm>
          <a:prstGeom prst="rect">
            <a:avLst/>
          </a:prstGeom>
          <a:noFill/>
          <a:ln>
            <a:noFill/>
          </a:ln>
        </p:spPr>
      </p:pic>
      <p:sp>
        <p:nvSpPr>
          <p:cNvPr id="135" name="Google Shape;135;p25"/>
          <p:cNvSpPr/>
          <p:nvPr/>
        </p:nvSpPr>
        <p:spPr>
          <a:xfrm>
            <a:off x="150" y="1343750"/>
            <a:ext cx="9143700" cy="498000"/>
          </a:xfrm>
          <a:prstGeom prst="roundRect">
            <a:avLst>
              <a:gd fmla="val 16667" name="adj"/>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6"/>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solidFill>
                  <a:schemeClr val="dk1"/>
                </a:solidFill>
              </a:rPr>
              <a:t>Programming Paradigms : Object oriented paradigm</a:t>
            </a:r>
            <a:endParaRPr/>
          </a:p>
        </p:txBody>
      </p:sp>
      <p:sp>
        <p:nvSpPr>
          <p:cNvPr id="141" name="Google Shape;141;p26"/>
          <p:cNvSpPr txBox="1"/>
          <p:nvPr>
            <p:ph idx="1" type="body"/>
          </p:nvPr>
        </p:nvSpPr>
        <p:spPr>
          <a:xfrm>
            <a:off x="311700" y="4390925"/>
            <a:ext cx="8832300" cy="2467200"/>
          </a:xfrm>
          <a:prstGeom prst="rect">
            <a:avLst/>
          </a:prstGeom>
        </p:spPr>
        <p:txBody>
          <a:bodyPr anchorCtr="0" anchor="t" bIns="91425" lIns="91425" spcFirstLastPara="1" rIns="91425" wrap="square" tIns="91425">
            <a:normAutofit fontScale="85000"/>
          </a:bodyPr>
          <a:lstStyle/>
          <a:p>
            <a:pPr indent="-368935" lvl="0" marL="457200" rtl="0" algn="l">
              <a:spcBef>
                <a:spcPts val="0"/>
              </a:spcBef>
              <a:spcAft>
                <a:spcPts val="0"/>
              </a:spcAft>
              <a:buSzPct val="100000"/>
              <a:buChar char="●"/>
            </a:pPr>
            <a:r>
              <a:rPr lang="en"/>
              <a:t>A</a:t>
            </a:r>
            <a:r>
              <a:rPr lang="en"/>
              <a:t> software system is viewed as a collection of units, called objects, </a:t>
            </a:r>
            <a:endParaRPr/>
          </a:p>
          <a:p>
            <a:pPr indent="-363537" lvl="1" marL="914400" rtl="0" algn="l">
              <a:spcBef>
                <a:spcPts val="0"/>
              </a:spcBef>
              <a:spcAft>
                <a:spcPts val="0"/>
              </a:spcAft>
              <a:buSzPct val="100000"/>
              <a:buChar char="○"/>
            </a:pPr>
            <a:r>
              <a:rPr lang="en"/>
              <a:t>each one is capable of performing the actions that are immediately related to itself as well as requesting actions of other objects. </a:t>
            </a:r>
            <a:endParaRPr/>
          </a:p>
          <a:p>
            <a:pPr indent="-368935" lvl="0" marL="457200" rtl="0" algn="l">
              <a:spcBef>
                <a:spcPts val="0"/>
              </a:spcBef>
              <a:spcAft>
                <a:spcPts val="0"/>
              </a:spcAft>
              <a:buSzPct val="100000"/>
              <a:buChar char="●"/>
            </a:pPr>
            <a:r>
              <a:rPr lang="en"/>
              <a:t>Together, these objects interact to solve the problem at hand.</a:t>
            </a:r>
            <a:endParaRPr/>
          </a:p>
        </p:txBody>
      </p:sp>
      <p:pic>
        <p:nvPicPr>
          <p:cNvPr id="142" name="Google Shape;142;p26"/>
          <p:cNvPicPr preferRelativeResize="0"/>
          <p:nvPr/>
        </p:nvPicPr>
        <p:blipFill>
          <a:blip r:embed="rId3">
            <a:alphaModFix/>
          </a:blip>
          <a:stretch>
            <a:fillRect/>
          </a:stretch>
        </p:blipFill>
        <p:spPr>
          <a:xfrm>
            <a:off x="0" y="1201976"/>
            <a:ext cx="9144003" cy="3067349"/>
          </a:xfrm>
          <a:prstGeom prst="rect">
            <a:avLst/>
          </a:prstGeom>
          <a:noFill/>
          <a:ln>
            <a:noFill/>
          </a:ln>
        </p:spPr>
      </p:pic>
      <p:sp>
        <p:nvSpPr>
          <p:cNvPr id="143" name="Google Shape;143;p26"/>
          <p:cNvSpPr/>
          <p:nvPr/>
        </p:nvSpPr>
        <p:spPr>
          <a:xfrm>
            <a:off x="150" y="2014425"/>
            <a:ext cx="9143700" cy="498000"/>
          </a:xfrm>
          <a:prstGeom prst="roundRect">
            <a:avLst>
              <a:gd fmla="val 16667" name="adj"/>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7"/>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Traditional Programming Concepts</a:t>
            </a:r>
            <a:endParaRPr/>
          </a:p>
        </p:txBody>
      </p:sp>
      <p:sp>
        <p:nvSpPr>
          <p:cNvPr id="149" name="Google Shape;149;p27"/>
          <p:cNvSpPr txBox="1"/>
          <p:nvPr>
            <p:ph idx="1" type="body"/>
          </p:nvPr>
        </p:nvSpPr>
        <p:spPr>
          <a:xfrm>
            <a:off x="311700" y="930375"/>
            <a:ext cx="8709300" cy="58119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a:t>A</a:t>
            </a:r>
            <a:r>
              <a:rPr lang="en"/>
              <a:t> program consists of a collection of statements that tend to fall into three categories: </a:t>
            </a:r>
            <a:endParaRPr/>
          </a:p>
          <a:p>
            <a:pPr indent="-393700" lvl="0" marL="457200" rtl="0" algn="just">
              <a:spcBef>
                <a:spcPts val="1200"/>
              </a:spcBef>
              <a:spcAft>
                <a:spcPts val="0"/>
              </a:spcAft>
              <a:buSzPts val="2600"/>
              <a:buChar char="●"/>
            </a:pPr>
            <a:r>
              <a:rPr lang="en"/>
              <a:t>declarative statements, </a:t>
            </a:r>
            <a:endParaRPr/>
          </a:p>
          <a:p>
            <a:pPr indent="-393700" lvl="0" marL="457200" rtl="0" algn="just">
              <a:spcBef>
                <a:spcPts val="0"/>
              </a:spcBef>
              <a:spcAft>
                <a:spcPts val="0"/>
              </a:spcAft>
              <a:buSzPts val="2600"/>
              <a:buChar char="●"/>
            </a:pPr>
            <a:r>
              <a:rPr lang="en"/>
              <a:t>imperative statements, and </a:t>
            </a:r>
            <a:endParaRPr/>
          </a:p>
          <a:p>
            <a:pPr indent="-393700" lvl="0" marL="457200" rtl="0" algn="just">
              <a:spcBef>
                <a:spcPts val="0"/>
              </a:spcBef>
              <a:spcAft>
                <a:spcPts val="0"/>
              </a:spcAft>
              <a:buSzPts val="2600"/>
              <a:buChar char="●"/>
            </a:pPr>
            <a:r>
              <a:rPr lang="en"/>
              <a:t>comments.</a:t>
            </a:r>
            <a:endParaRPr/>
          </a:p>
        </p:txBody>
      </p:sp>
      <p:pic>
        <p:nvPicPr>
          <p:cNvPr id="150" name="Google Shape;150;p27"/>
          <p:cNvPicPr preferRelativeResize="0"/>
          <p:nvPr/>
        </p:nvPicPr>
        <p:blipFill>
          <a:blip r:embed="rId3">
            <a:alphaModFix/>
          </a:blip>
          <a:stretch>
            <a:fillRect/>
          </a:stretch>
        </p:blipFill>
        <p:spPr>
          <a:xfrm>
            <a:off x="1701375" y="3429000"/>
            <a:ext cx="5741245" cy="3429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8"/>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Traditional Programming Concepts</a:t>
            </a:r>
            <a:endParaRPr/>
          </a:p>
        </p:txBody>
      </p:sp>
      <p:sp>
        <p:nvSpPr>
          <p:cNvPr id="156" name="Google Shape;156;p28"/>
          <p:cNvSpPr txBox="1"/>
          <p:nvPr>
            <p:ph idx="1" type="body"/>
          </p:nvPr>
        </p:nvSpPr>
        <p:spPr>
          <a:xfrm>
            <a:off x="311700" y="930375"/>
            <a:ext cx="8709300" cy="5811900"/>
          </a:xfrm>
          <a:prstGeom prst="rect">
            <a:avLst/>
          </a:prstGeom>
        </p:spPr>
        <p:txBody>
          <a:bodyPr anchorCtr="0" anchor="t" bIns="91425" lIns="91425" spcFirstLastPara="1" rIns="91425" wrap="square" tIns="91425">
            <a:normAutofit/>
          </a:bodyPr>
          <a:lstStyle/>
          <a:p>
            <a:pPr indent="0" lvl="0" marL="0" rtl="0" algn="just">
              <a:spcBef>
                <a:spcPts val="0"/>
              </a:spcBef>
              <a:spcAft>
                <a:spcPts val="1200"/>
              </a:spcAft>
              <a:buNone/>
            </a:pPr>
            <a:r>
              <a:rPr lang="en"/>
              <a:t>Data types</a:t>
            </a:r>
            <a:endParaRPr/>
          </a:p>
        </p:txBody>
      </p:sp>
      <p:pic>
        <p:nvPicPr>
          <p:cNvPr id="157" name="Google Shape;157;p28"/>
          <p:cNvPicPr preferRelativeResize="0"/>
          <p:nvPr/>
        </p:nvPicPr>
        <p:blipFill>
          <a:blip r:embed="rId3">
            <a:alphaModFix/>
          </a:blip>
          <a:stretch>
            <a:fillRect/>
          </a:stretch>
        </p:blipFill>
        <p:spPr>
          <a:xfrm>
            <a:off x="0" y="1869197"/>
            <a:ext cx="9144000" cy="479145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9"/>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solidFill>
                  <a:schemeClr val="dk1"/>
                </a:solidFill>
              </a:rPr>
              <a:t>Traditional Programming Concepts</a:t>
            </a:r>
            <a:endParaRPr/>
          </a:p>
        </p:txBody>
      </p:sp>
      <p:sp>
        <p:nvSpPr>
          <p:cNvPr id="163" name="Google Shape;163;p29"/>
          <p:cNvSpPr txBox="1"/>
          <p:nvPr>
            <p:ph idx="1" type="body"/>
          </p:nvPr>
        </p:nvSpPr>
        <p:spPr>
          <a:xfrm>
            <a:off x="311700" y="930375"/>
            <a:ext cx="8709300" cy="58119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b="1" lang="en"/>
              <a:t>Data Structure</a:t>
            </a:r>
            <a:endParaRPr b="1"/>
          </a:p>
          <a:p>
            <a:pPr indent="0" lvl="0" marL="0" rtl="0" algn="just">
              <a:spcBef>
                <a:spcPts val="1200"/>
              </a:spcBef>
              <a:spcAft>
                <a:spcPts val="1200"/>
              </a:spcAft>
              <a:buNone/>
            </a:pPr>
            <a:r>
              <a:rPr lang="en"/>
              <a:t>In addition to data type, variables in a program are often associated with data structure, which is </a:t>
            </a:r>
            <a:r>
              <a:rPr b="1" lang="en"/>
              <a:t>the conceptual shape or arrangement of data</a:t>
            </a:r>
            <a:r>
              <a:rPr lang="en"/>
              <a: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0"/>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Traditional Programming Concepts</a:t>
            </a:r>
            <a:endParaRPr/>
          </a:p>
        </p:txBody>
      </p:sp>
      <p:sp>
        <p:nvSpPr>
          <p:cNvPr id="169" name="Google Shape;169;p30"/>
          <p:cNvSpPr txBox="1"/>
          <p:nvPr>
            <p:ph idx="1" type="body"/>
          </p:nvPr>
        </p:nvSpPr>
        <p:spPr>
          <a:xfrm>
            <a:off x="311700" y="930375"/>
            <a:ext cx="8709300" cy="59277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Clr>
                <a:schemeClr val="dk1"/>
              </a:buClr>
              <a:buSzPts val="1100"/>
              <a:buFont typeface="Arial"/>
              <a:buNone/>
            </a:pPr>
            <a:r>
              <a:rPr b="1" lang="en">
                <a:solidFill>
                  <a:schemeClr val="dk1"/>
                </a:solidFill>
              </a:rPr>
              <a:t>Data Structure</a:t>
            </a:r>
            <a:endParaRPr/>
          </a:p>
          <a:p>
            <a:pPr indent="0" lvl="0" marL="0" rtl="0" algn="just">
              <a:spcBef>
                <a:spcPts val="1200"/>
              </a:spcBef>
              <a:spcAft>
                <a:spcPts val="0"/>
              </a:spcAft>
              <a:buNone/>
            </a:pPr>
            <a:r>
              <a:rPr lang="en"/>
              <a:t>One common data structure is the array, which is a block of elements of the same type such as a one-dimensional list, a two-dimensional table with rows and columns, or tables with higher dimensions.</a:t>
            </a:r>
            <a:endParaRPr/>
          </a:p>
          <a:p>
            <a:pPr indent="0" lvl="0" marL="0" rtl="0" algn="just">
              <a:spcBef>
                <a:spcPts val="1200"/>
              </a:spcBef>
              <a:spcAft>
                <a:spcPts val="0"/>
              </a:spcAft>
              <a:buNone/>
            </a:pPr>
            <a:r>
              <a:rPr lang="en">
                <a:solidFill>
                  <a:schemeClr val="dk1"/>
                </a:solidFill>
              </a:rPr>
              <a:t>INTEGER Scores(2,9)</a:t>
            </a:r>
            <a:r>
              <a:rPr lang="en"/>
              <a:t>                              </a:t>
            </a:r>
            <a:r>
              <a:rPr lang="en">
                <a:solidFill>
                  <a:schemeClr val="dk1"/>
                </a:solidFill>
              </a:rPr>
              <a:t>int Scores[2][9]; </a:t>
            </a:r>
            <a:r>
              <a:rPr lang="en"/>
              <a:t>   </a:t>
            </a:r>
            <a:endParaRPr/>
          </a:p>
          <a:p>
            <a:pPr indent="0" lvl="0" marL="0" rtl="0" algn="just">
              <a:spcBef>
                <a:spcPts val="1200"/>
              </a:spcBef>
              <a:spcAft>
                <a:spcPts val="0"/>
              </a:spcAft>
              <a:buNone/>
            </a:pPr>
            <a:r>
              <a:t/>
            </a:r>
            <a:endParaRPr/>
          </a:p>
          <a:p>
            <a:pPr indent="0" lvl="0" marL="0" rtl="0" algn="just">
              <a:spcBef>
                <a:spcPts val="1200"/>
              </a:spcBef>
              <a:spcAft>
                <a:spcPts val="1200"/>
              </a:spcAft>
              <a:buNone/>
            </a:pPr>
            <a:r>
              <a:t/>
            </a:r>
            <a:endParaRPr/>
          </a:p>
        </p:txBody>
      </p:sp>
      <p:pic>
        <p:nvPicPr>
          <p:cNvPr id="170" name="Google Shape;170;p30"/>
          <p:cNvPicPr preferRelativeResize="0"/>
          <p:nvPr/>
        </p:nvPicPr>
        <p:blipFill>
          <a:blip r:embed="rId3">
            <a:alphaModFix/>
          </a:blip>
          <a:stretch>
            <a:fillRect/>
          </a:stretch>
        </p:blipFill>
        <p:spPr>
          <a:xfrm>
            <a:off x="861100" y="4263750"/>
            <a:ext cx="7088725" cy="2594250"/>
          </a:xfrm>
          <a:prstGeom prst="rect">
            <a:avLst/>
          </a:prstGeom>
          <a:noFill/>
          <a:ln>
            <a:noFill/>
          </a:ln>
        </p:spPr>
      </p:pic>
      <p:cxnSp>
        <p:nvCxnSpPr>
          <p:cNvPr id="171" name="Google Shape;171;p30"/>
          <p:cNvCxnSpPr>
            <a:stCxn id="169" idx="1"/>
          </p:cNvCxnSpPr>
          <p:nvPr/>
        </p:nvCxnSpPr>
        <p:spPr>
          <a:xfrm>
            <a:off x="311700" y="3894225"/>
            <a:ext cx="575400" cy="2264400"/>
          </a:xfrm>
          <a:prstGeom prst="bentConnector4">
            <a:avLst>
              <a:gd fmla="val -18591" name="adj1"/>
              <a:gd fmla="val 99997" name="adj2"/>
            </a:avLst>
          </a:prstGeom>
          <a:noFill/>
          <a:ln cap="flat" cmpd="sng" w="9525">
            <a:solidFill>
              <a:schemeClr val="dk2"/>
            </a:solidFill>
            <a:prstDash val="solid"/>
            <a:round/>
            <a:headEnd len="med" w="med" type="none"/>
            <a:tailEnd len="med" w="med" type="triangle"/>
          </a:ln>
        </p:spPr>
      </p:cxnSp>
      <p:cxnSp>
        <p:nvCxnSpPr>
          <p:cNvPr id="172" name="Google Shape;172;p30"/>
          <p:cNvCxnSpPr/>
          <p:nvPr/>
        </p:nvCxnSpPr>
        <p:spPr>
          <a:xfrm rot="5400000">
            <a:off x="6269525" y="4648875"/>
            <a:ext cx="2337000" cy="1092000"/>
          </a:xfrm>
          <a:prstGeom prst="bentConnector3">
            <a:avLst>
              <a:gd fmla="val 99996" name="adj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1"/>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Traditional Programming Concepts</a:t>
            </a:r>
            <a:endParaRPr/>
          </a:p>
        </p:txBody>
      </p:sp>
      <p:sp>
        <p:nvSpPr>
          <p:cNvPr id="178" name="Google Shape;178;p31"/>
          <p:cNvSpPr txBox="1"/>
          <p:nvPr>
            <p:ph idx="1" type="body"/>
          </p:nvPr>
        </p:nvSpPr>
        <p:spPr>
          <a:xfrm>
            <a:off x="311700" y="930375"/>
            <a:ext cx="8709300" cy="58119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b="1" lang="en"/>
              <a:t>Data Structure</a:t>
            </a:r>
            <a:endParaRPr b="1"/>
          </a:p>
          <a:p>
            <a:pPr indent="0" lvl="0" marL="0" rtl="0" algn="just">
              <a:spcBef>
                <a:spcPts val="1200"/>
              </a:spcBef>
              <a:spcAft>
                <a:spcPts val="1200"/>
              </a:spcAft>
              <a:buNone/>
            </a:pPr>
            <a:r>
              <a:t/>
            </a:r>
            <a:endParaRPr b="1"/>
          </a:p>
        </p:txBody>
      </p:sp>
      <p:pic>
        <p:nvPicPr>
          <p:cNvPr id="179" name="Google Shape;179;p31"/>
          <p:cNvPicPr preferRelativeResize="0"/>
          <p:nvPr/>
        </p:nvPicPr>
        <p:blipFill>
          <a:blip r:embed="rId3">
            <a:alphaModFix/>
          </a:blip>
          <a:stretch>
            <a:fillRect/>
          </a:stretch>
        </p:blipFill>
        <p:spPr>
          <a:xfrm>
            <a:off x="405100" y="1632524"/>
            <a:ext cx="4166908" cy="1385400"/>
          </a:xfrm>
          <a:prstGeom prst="rect">
            <a:avLst/>
          </a:prstGeom>
          <a:noFill/>
          <a:ln cap="flat" cmpd="sng" w="19050">
            <a:solidFill>
              <a:schemeClr val="dk2"/>
            </a:solidFill>
            <a:prstDash val="solid"/>
            <a:round/>
            <a:headEnd len="sm" w="sm" type="none"/>
            <a:tailEnd len="sm" w="sm" type="none"/>
          </a:ln>
        </p:spPr>
      </p:pic>
      <p:pic>
        <p:nvPicPr>
          <p:cNvPr id="180" name="Google Shape;180;p31"/>
          <p:cNvPicPr preferRelativeResize="0"/>
          <p:nvPr/>
        </p:nvPicPr>
        <p:blipFill>
          <a:blip r:embed="rId4">
            <a:alphaModFix/>
          </a:blip>
          <a:stretch>
            <a:fillRect/>
          </a:stretch>
        </p:blipFill>
        <p:spPr>
          <a:xfrm>
            <a:off x="1144863" y="3176900"/>
            <a:ext cx="6854275" cy="36811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2"/>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Traditional Programming Concepts</a:t>
            </a:r>
            <a:endParaRPr/>
          </a:p>
        </p:txBody>
      </p:sp>
      <p:sp>
        <p:nvSpPr>
          <p:cNvPr id="186" name="Google Shape;186;p32"/>
          <p:cNvSpPr txBox="1"/>
          <p:nvPr>
            <p:ph idx="1" type="body"/>
          </p:nvPr>
        </p:nvSpPr>
        <p:spPr>
          <a:xfrm>
            <a:off x="311700" y="930375"/>
            <a:ext cx="8709300" cy="58119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b="1" lang="en"/>
              <a:t>Assignment Statements</a:t>
            </a:r>
            <a:endParaRPr b="1"/>
          </a:p>
          <a:p>
            <a:pPr indent="0" lvl="0" marL="0" rtl="0" algn="just">
              <a:spcBef>
                <a:spcPts val="1200"/>
              </a:spcBef>
              <a:spcAft>
                <a:spcPts val="0"/>
              </a:spcAft>
              <a:buNone/>
            </a:pPr>
            <a:r>
              <a:rPr lang="en"/>
              <a:t>The most basic imperative statement is the assignment statement</a:t>
            </a:r>
            <a:endParaRPr/>
          </a:p>
          <a:p>
            <a:pPr indent="-393700" lvl="0" marL="457200" rtl="0" algn="just">
              <a:spcBef>
                <a:spcPts val="1200"/>
              </a:spcBef>
              <a:spcAft>
                <a:spcPts val="0"/>
              </a:spcAft>
              <a:buSzPts val="2600"/>
              <a:buChar char="●"/>
            </a:pPr>
            <a:r>
              <a:rPr lang="en"/>
              <a:t>requests that a value be assigned to a variable</a:t>
            </a:r>
            <a:endParaRPr/>
          </a:p>
          <a:p>
            <a:pPr indent="0" lvl="0" marL="0" rtl="0" algn="just">
              <a:spcBef>
                <a:spcPts val="1200"/>
              </a:spcBef>
              <a:spcAft>
                <a:spcPts val="0"/>
              </a:spcAft>
              <a:buNone/>
            </a:pPr>
            <a:r>
              <a:t/>
            </a:r>
            <a:endParaRPr b="1"/>
          </a:p>
          <a:p>
            <a:pPr indent="0" lvl="0" marL="0" rtl="0" algn="just">
              <a:spcBef>
                <a:spcPts val="1200"/>
              </a:spcBef>
              <a:spcAft>
                <a:spcPts val="0"/>
              </a:spcAft>
              <a:buNone/>
            </a:pPr>
            <a:r>
              <a:rPr b="1" lang="en"/>
              <a:t>Z = X + Y;</a:t>
            </a:r>
            <a:endParaRPr b="1"/>
          </a:p>
          <a:p>
            <a:pPr indent="0" lvl="0" marL="0" rtl="0" algn="just">
              <a:spcBef>
                <a:spcPts val="1200"/>
              </a:spcBef>
              <a:spcAft>
                <a:spcPts val="0"/>
              </a:spcAft>
              <a:buNone/>
            </a:pPr>
            <a:r>
              <a:rPr b="1" lang="en"/>
              <a:t>Z := X + Y;</a:t>
            </a:r>
            <a:endParaRPr b="1"/>
          </a:p>
          <a:p>
            <a:pPr indent="0" lvl="0" marL="0" rtl="0" algn="just">
              <a:spcBef>
                <a:spcPts val="1200"/>
              </a:spcBef>
              <a:spcAft>
                <a:spcPts val="1200"/>
              </a:spcAft>
              <a:buNone/>
            </a:pPr>
            <a:r>
              <a:rPr b="1" lang="en"/>
              <a:t>Z ← X + Y</a:t>
            </a:r>
            <a:endParaRPr b="1"/>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3"/>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Traditional Programming Concepts</a:t>
            </a:r>
            <a:endParaRPr/>
          </a:p>
        </p:txBody>
      </p:sp>
      <p:sp>
        <p:nvSpPr>
          <p:cNvPr id="192" name="Google Shape;192;p33"/>
          <p:cNvSpPr txBox="1"/>
          <p:nvPr>
            <p:ph idx="1" type="body"/>
          </p:nvPr>
        </p:nvSpPr>
        <p:spPr>
          <a:xfrm>
            <a:off x="311700" y="930375"/>
            <a:ext cx="8709300" cy="58119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b="1" lang="en"/>
              <a:t>Control</a:t>
            </a:r>
            <a:r>
              <a:rPr b="1" lang="en"/>
              <a:t> Statements</a:t>
            </a:r>
            <a:endParaRPr b="1"/>
          </a:p>
          <a:p>
            <a:pPr indent="0" lvl="0" marL="0" rtl="0" algn="just">
              <a:spcBef>
                <a:spcPts val="1200"/>
              </a:spcBef>
              <a:spcAft>
                <a:spcPts val="0"/>
              </a:spcAft>
              <a:buNone/>
            </a:pPr>
            <a:r>
              <a:rPr lang="en"/>
              <a:t>A control statement alters the execution sequence of the program.</a:t>
            </a:r>
            <a:endParaRPr/>
          </a:p>
          <a:p>
            <a:pPr indent="0" lvl="0" marL="0" rtl="0" algn="just">
              <a:spcBef>
                <a:spcPts val="1200"/>
              </a:spcBef>
              <a:spcAft>
                <a:spcPts val="1200"/>
              </a:spcAft>
              <a:buNone/>
            </a:pPr>
            <a:r>
              <a:t/>
            </a:r>
            <a:endParaRPr b="1"/>
          </a:p>
        </p:txBody>
      </p:sp>
      <p:pic>
        <p:nvPicPr>
          <p:cNvPr id="193" name="Google Shape;193;p33"/>
          <p:cNvPicPr preferRelativeResize="0"/>
          <p:nvPr/>
        </p:nvPicPr>
        <p:blipFill>
          <a:blip r:embed="rId3">
            <a:alphaModFix/>
          </a:blip>
          <a:stretch>
            <a:fillRect/>
          </a:stretch>
        </p:blipFill>
        <p:spPr>
          <a:xfrm>
            <a:off x="1233448" y="2598701"/>
            <a:ext cx="2556900" cy="2475210"/>
          </a:xfrm>
          <a:prstGeom prst="rect">
            <a:avLst/>
          </a:prstGeom>
          <a:noFill/>
          <a:ln cap="flat" cmpd="sng" w="9525">
            <a:solidFill>
              <a:schemeClr val="dk1"/>
            </a:solidFill>
            <a:prstDash val="solid"/>
            <a:round/>
            <a:headEnd len="sm" w="sm" type="none"/>
            <a:tailEnd len="sm" w="sm" type="none"/>
          </a:ln>
        </p:spPr>
      </p:pic>
      <p:pic>
        <p:nvPicPr>
          <p:cNvPr id="194" name="Google Shape;194;p33"/>
          <p:cNvPicPr preferRelativeResize="0"/>
          <p:nvPr/>
        </p:nvPicPr>
        <p:blipFill>
          <a:blip r:embed="rId4">
            <a:alphaModFix/>
          </a:blip>
          <a:stretch>
            <a:fillRect/>
          </a:stretch>
        </p:blipFill>
        <p:spPr>
          <a:xfrm>
            <a:off x="5232150" y="2187825"/>
            <a:ext cx="2556889" cy="2886075"/>
          </a:xfrm>
          <a:prstGeom prst="rect">
            <a:avLst/>
          </a:prstGeom>
          <a:noFill/>
          <a:ln cap="flat" cmpd="sng" w="9525">
            <a:solidFill>
              <a:schemeClr val="dk1"/>
            </a:solidFill>
            <a:prstDash val="solid"/>
            <a:round/>
            <a:headEnd len="sm" w="sm" type="none"/>
            <a:tailEnd len="sm" w="sm" type="none"/>
          </a:ln>
        </p:spPr>
      </p:pic>
      <p:pic>
        <p:nvPicPr>
          <p:cNvPr id="195" name="Google Shape;195;p33"/>
          <p:cNvPicPr preferRelativeResize="0"/>
          <p:nvPr/>
        </p:nvPicPr>
        <p:blipFill>
          <a:blip r:embed="rId5">
            <a:alphaModFix/>
          </a:blip>
          <a:stretch>
            <a:fillRect/>
          </a:stretch>
        </p:blipFill>
        <p:spPr>
          <a:xfrm>
            <a:off x="1691563" y="5378498"/>
            <a:ext cx="5760876" cy="1363775"/>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4"/>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Traditional Programming Concepts</a:t>
            </a:r>
            <a:endParaRPr/>
          </a:p>
        </p:txBody>
      </p:sp>
      <p:sp>
        <p:nvSpPr>
          <p:cNvPr id="201" name="Google Shape;201;p34"/>
          <p:cNvSpPr txBox="1"/>
          <p:nvPr>
            <p:ph idx="1" type="body"/>
          </p:nvPr>
        </p:nvSpPr>
        <p:spPr>
          <a:xfrm>
            <a:off x="311700" y="930375"/>
            <a:ext cx="8709300" cy="58119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b="1" lang="en"/>
              <a:t>Comments</a:t>
            </a:r>
            <a:endParaRPr b="1"/>
          </a:p>
          <a:p>
            <a:pPr indent="-393700" lvl="0" marL="457200" rtl="0" algn="just">
              <a:spcBef>
                <a:spcPts val="1200"/>
              </a:spcBef>
              <a:spcAft>
                <a:spcPts val="0"/>
              </a:spcAft>
              <a:buSzPts val="2600"/>
              <a:buChar char="●"/>
            </a:pPr>
            <a:r>
              <a:rPr lang="en"/>
              <a:t>explanatory statements</a:t>
            </a:r>
            <a:endParaRPr/>
          </a:p>
          <a:p>
            <a:pPr indent="-393700" lvl="0" marL="457200" rtl="0" algn="just">
              <a:spcBef>
                <a:spcPts val="0"/>
              </a:spcBef>
              <a:spcAft>
                <a:spcPts val="0"/>
              </a:spcAft>
              <a:buSzPts val="2600"/>
              <a:buChar char="●"/>
            </a:pPr>
            <a:r>
              <a:rPr lang="en"/>
              <a:t>These statements are ignored by a translator,</a:t>
            </a:r>
            <a:endParaRPr/>
          </a:p>
          <a:p>
            <a:pPr indent="-387350" lvl="1" marL="914400" rtl="0" algn="just">
              <a:spcBef>
                <a:spcPts val="0"/>
              </a:spcBef>
              <a:spcAft>
                <a:spcPts val="0"/>
              </a:spcAft>
              <a:buSzPts val="2500"/>
              <a:buChar char="○"/>
            </a:pPr>
            <a:r>
              <a:rPr lang="en"/>
              <a:t>therefore their presence or absence does not affect the program from a machine’s point of view.</a:t>
            </a:r>
            <a:endParaRPr/>
          </a:p>
        </p:txBody>
      </p:sp>
      <p:pic>
        <p:nvPicPr>
          <p:cNvPr id="202" name="Google Shape;202;p34"/>
          <p:cNvPicPr preferRelativeResize="0"/>
          <p:nvPr/>
        </p:nvPicPr>
        <p:blipFill>
          <a:blip r:embed="rId3">
            <a:alphaModFix/>
          </a:blip>
          <a:stretch>
            <a:fillRect/>
          </a:stretch>
        </p:blipFill>
        <p:spPr>
          <a:xfrm>
            <a:off x="2067734" y="3664578"/>
            <a:ext cx="5008528" cy="29063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5"/>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Procedural Units</a:t>
            </a:r>
            <a:endParaRPr/>
          </a:p>
        </p:txBody>
      </p:sp>
      <p:sp>
        <p:nvSpPr>
          <p:cNvPr id="208" name="Google Shape;208;p35"/>
          <p:cNvSpPr txBox="1"/>
          <p:nvPr>
            <p:ph idx="1" type="body"/>
          </p:nvPr>
        </p:nvSpPr>
        <p:spPr>
          <a:xfrm>
            <a:off x="311700" y="930375"/>
            <a:ext cx="8709300" cy="5811900"/>
          </a:xfrm>
          <a:prstGeom prst="rect">
            <a:avLst/>
          </a:prstGeom>
        </p:spPr>
        <p:txBody>
          <a:bodyPr anchorCtr="0" anchor="t" bIns="91425" lIns="91425" spcFirstLastPara="1" rIns="91425" wrap="square" tIns="91425">
            <a:normAutofit/>
          </a:bodyPr>
          <a:lstStyle/>
          <a:p>
            <a:pPr indent="0" lvl="0" marL="0" rtl="0" algn="just">
              <a:spcBef>
                <a:spcPts val="0"/>
              </a:spcBef>
              <a:spcAft>
                <a:spcPts val="1200"/>
              </a:spcAft>
              <a:buNone/>
            </a:pPr>
            <a:r>
              <a:rPr lang="en"/>
              <a:t>A </a:t>
            </a:r>
            <a:r>
              <a:rPr b="1" lang="en"/>
              <a:t>function</a:t>
            </a:r>
            <a:r>
              <a:rPr lang="en"/>
              <a:t>, in its generic sense, is a set of instructions for performing a task that can be used as an abstract tool by other program units.</a:t>
            </a:r>
            <a:endParaRPr/>
          </a:p>
        </p:txBody>
      </p:sp>
      <p:pic>
        <p:nvPicPr>
          <p:cNvPr id="209" name="Google Shape;209;p35"/>
          <p:cNvPicPr preferRelativeResize="0"/>
          <p:nvPr/>
        </p:nvPicPr>
        <p:blipFill>
          <a:blip r:embed="rId3">
            <a:alphaModFix/>
          </a:blip>
          <a:stretch>
            <a:fillRect/>
          </a:stretch>
        </p:blipFill>
        <p:spPr>
          <a:xfrm>
            <a:off x="972863" y="2643697"/>
            <a:ext cx="7198273" cy="38368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6"/>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Procedural Units</a:t>
            </a:r>
            <a:endParaRPr/>
          </a:p>
        </p:txBody>
      </p:sp>
      <p:sp>
        <p:nvSpPr>
          <p:cNvPr id="215" name="Google Shape;215;p36"/>
          <p:cNvSpPr txBox="1"/>
          <p:nvPr>
            <p:ph idx="1" type="body"/>
          </p:nvPr>
        </p:nvSpPr>
        <p:spPr>
          <a:xfrm>
            <a:off x="311700" y="930375"/>
            <a:ext cx="8709300" cy="58119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b="1" lang="en"/>
              <a:t>Functions</a:t>
            </a:r>
            <a:r>
              <a:rPr lang="en"/>
              <a:t> are often written using generic terms that are made specific when the function is applied.</a:t>
            </a:r>
            <a:endParaRPr/>
          </a:p>
          <a:p>
            <a:pPr indent="-393700" lvl="0" marL="457200" rtl="0" algn="just">
              <a:spcBef>
                <a:spcPts val="1200"/>
              </a:spcBef>
              <a:spcAft>
                <a:spcPts val="0"/>
              </a:spcAft>
              <a:buSzPts val="2600"/>
              <a:buChar char="●"/>
            </a:pPr>
            <a:r>
              <a:rPr lang="en"/>
              <a:t>Such generic terms within functions are called </a:t>
            </a:r>
            <a:r>
              <a:rPr b="1" lang="en"/>
              <a:t>parameters (</a:t>
            </a:r>
            <a:r>
              <a:rPr b="1" lang="en">
                <a:solidFill>
                  <a:schemeClr val="dk1"/>
                </a:solidFill>
              </a:rPr>
              <a:t>formal parameters)</a:t>
            </a:r>
            <a:endParaRPr b="1"/>
          </a:p>
          <a:p>
            <a:pPr indent="-393700" lvl="0" marL="457200" rtl="0" algn="just">
              <a:spcBef>
                <a:spcPts val="0"/>
              </a:spcBef>
              <a:spcAft>
                <a:spcPts val="0"/>
              </a:spcAft>
              <a:buSzPts val="2600"/>
              <a:buChar char="●"/>
            </a:pPr>
            <a:r>
              <a:rPr lang="en"/>
              <a:t>The precise meanings assigned to these formal parameters when the function is applied are called </a:t>
            </a:r>
            <a:r>
              <a:rPr b="1" lang="en"/>
              <a:t>actual parameters.</a:t>
            </a:r>
            <a:endParaRPr b="1"/>
          </a:p>
          <a:p>
            <a:pPr indent="-387350" lvl="1" marL="914400" rtl="0" algn="just">
              <a:spcBef>
                <a:spcPts val="0"/>
              </a:spcBef>
              <a:spcAft>
                <a:spcPts val="0"/>
              </a:spcAft>
              <a:buSzPts val="2500"/>
              <a:buChar char="○"/>
            </a:pPr>
            <a:r>
              <a:rPr b="1" lang="en"/>
              <a:t>The task of transferring data between actual and formal parameters is handled in a variety of ways</a:t>
            </a:r>
            <a:endParaRPr b="1"/>
          </a:p>
          <a:p>
            <a:pPr indent="-381000" lvl="2" marL="1371600" rtl="0" algn="just">
              <a:spcBef>
                <a:spcPts val="0"/>
              </a:spcBef>
              <a:spcAft>
                <a:spcPts val="0"/>
              </a:spcAft>
              <a:buSzPts val="2400"/>
              <a:buChar char="■"/>
            </a:pPr>
            <a:r>
              <a:rPr b="1" lang="en"/>
              <a:t>passed by VALUE</a:t>
            </a:r>
            <a:endParaRPr b="1"/>
          </a:p>
          <a:p>
            <a:pPr indent="-381000" lvl="2" marL="1371600" rtl="0" algn="just">
              <a:spcBef>
                <a:spcPts val="0"/>
              </a:spcBef>
              <a:spcAft>
                <a:spcPts val="0"/>
              </a:spcAft>
              <a:buSzPts val="2400"/>
              <a:buChar char="■"/>
            </a:pPr>
            <a:r>
              <a:rPr b="1" lang="en"/>
              <a:t>passed by REFERENCE</a:t>
            </a:r>
            <a:endParaRPr b="1"/>
          </a:p>
          <a:p>
            <a:pPr indent="0" lvl="0" marL="0" rtl="0" algn="just">
              <a:spcBef>
                <a:spcPts val="1200"/>
              </a:spcBef>
              <a:spcAft>
                <a:spcPts val="120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7"/>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Procedural Units</a:t>
            </a:r>
            <a:endParaRPr/>
          </a:p>
        </p:txBody>
      </p:sp>
      <p:pic>
        <p:nvPicPr>
          <p:cNvPr id="221" name="Google Shape;221;p37"/>
          <p:cNvPicPr preferRelativeResize="0"/>
          <p:nvPr/>
        </p:nvPicPr>
        <p:blipFill>
          <a:blip r:embed="rId3">
            <a:alphaModFix/>
          </a:blip>
          <a:stretch>
            <a:fillRect/>
          </a:stretch>
        </p:blipFill>
        <p:spPr>
          <a:xfrm>
            <a:off x="0" y="1121127"/>
            <a:ext cx="9144000" cy="498219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8"/>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solidFill>
                  <a:schemeClr val="dk1"/>
                </a:solidFill>
              </a:rPr>
              <a:t>Procedural Units</a:t>
            </a:r>
            <a:endParaRPr/>
          </a:p>
        </p:txBody>
      </p:sp>
      <p:sp>
        <p:nvSpPr>
          <p:cNvPr id="227" name="Google Shape;227;p38"/>
          <p:cNvSpPr txBox="1"/>
          <p:nvPr>
            <p:ph idx="1" type="body"/>
          </p:nvPr>
        </p:nvSpPr>
        <p:spPr>
          <a:xfrm>
            <a:off x="311700" y="930375"/>
            <a:ext cx="8709300" cy="5811900"/>
          </a:xfrm>
          <a:prstGeom prst="rect">
            <a:avLst/>
          </a:prstGeom>
        </p:spPr>
        <p:txBody>
          <a:bodyPr anchorCtr="0" anchor="t" bIns="91425" lIns="91425" spcFirstLastPara="1" rIns="91425" wrap="square" tIns="91425">
            <a:normAutofit/>
          </a:bodyPr>
          <a:lstStyle/>
          <a:p>
            <a:pPr indent="0" lvl="0" marL="0" rtl="0" algn="just">
              <a:spcBef>
                <a:spcPts val="0"/>
              </a:spcBef>
              <a:spcAft>
                <a:spcPts val="1200"/>
              </a:spcAft>
              <a:buNone/>
            </a:pPr>
            <a:r>
              <a:t/>
            </a:r>
            <a:endParaRPr/>
          </a:p>
        </p:txBody>
      </p:sp>
      <p:pic>
        <p:nvPicPr>
          <p:cNvPr id="228" name="Google Shape;228;p38"/>
          <p:cNvPicPr preferRelativeResize="0"/>
          <p:nvPr/>
        </p:nvPicPr>
        <p:blipFill>
          <a:blip r:embed="rId3">
            <a:alphaModFix/>
          </a:blip>
          <a:stretch>
            <a:fillRect/>
          </a:stretch>
        </p:blipFill>
        <p:spPr>
          <a:xfrm>
            <a:off x="0" y="1044147"/>
            <a:ext cx="4408023" cy="5584365"/>
          </a:xfrm>
          <a:prstGeom prst="rect">
            <a:avLst/>
          </a:prstGeom>
          <a:noFill/>
          <a:ln>
            <a:noFill/>
          </a:ln>
        </p:spPr>
      </p:pic>
      <p:pic>
        <p:nvPicPr>
          <p:cNvPr id="229" name="Google Shape;229;p38"/>
          <p:cNvPicPr preferRelativeResize="0"/>
          <p:nvPr/>
        </p:nvPicPr>
        <p:blipFill>
          <a:blip r:embed="rId4">
            <a:alphaModFix/>
          </a:blip>
          <a:stretch>
            <a:fillRect/>
          </a:stretch>
        </p:blipFill>
        <p:spPr>
          <a:xfrm>
            <a:off x="4735977" y="1044137"/>
            <a:ext cx="4408023" cy="558436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9"/>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Research Themes</a:t>
            </a:r>
            <a:endParaRPr/>
          </a:p>
        </p:txBody>
      </p:sp>
      <p:sp>
        <p:nvSpPr>
          <p:cNvPr id="235" name="Google Shape;235;p39"/>
          <p:cNvSpPr txBox="1"/>
          <p:nvPr>
            <p:ph idx="1" type="body"/>
          </p:nvPr>
        </p:nvSpPr>
        <p:spPr>
          <a:xfrm>
            <a:off x="311700" y="930375"/>
            <a:ext cx="8709300" cy="5811900"/>
          </a:xfrm>
          <a:prstGeom prst="rect">
            <a:avLst/>
          </a:prstGeom>
        </p:spPr>
        <p:txBody>
          <a:bodyPr anchorCtr="0" anchor="t" bIns="91425" lIns="91425" spcFirstLastPara="1" rIns="91425" wrap="square" tIns="91425">
            <a:normAutofit/>
          </a:bodyPr>
          <a:lstStyle/>
          <a:p>
            <a:pPr indent="-393700" lvl="0" marL="457200" rtl="0" algn="just">
              <a:spcBef>
                <a:spcPts val="0"/>
              </a:spcBef>
              <a:spcAft>
                <a:spcPts val="0"/>
              </a:spcAft>
              <a:buSzPts val="2600"/>
              <a:buAutoNum type="arabicPeriod"/>
            </a:pPr>
            <a:r>
              <a:rPr lang="en"/>
              <a:t>Debugging.</a:t>
            </a:r>
            <a:endParaRPr/>
          </a:p>
          <a:p>
            <a:pPr indent="-393700" lvl="0" marL="457200" rtl="0" algn="just">
              <a:spcBef>
                <a:spcPts val="0"/>
              </a:spcBef>
              <a:spcAft>
                <a:spcPts val="0"/>
              </a:spcAft>
              <a:buSzPts val="2600"/>
              <a:buAutoNum type="arabicPeriod"/>
            </a:pPr>
            <a:r>
              <a:rPr lang="en"/>
              <a:t>IDEs and Coding Environments.</a:t>
            </a:r>
            <a:endParaRPr/>
          </a:p>
          <a:p>
            <a:pPr indent="-393700" lvl="0" marL="457200" rtl="0" algn="just">
              <a:spcBef>
                <a:spcPts val="0"/>
              </a:spcBef>
              <a:spcAft>
                <a:spcPts val="0"/>
              </a:spcAft>
              <a:buSzPts val="2600"/>
              <a:buAutoNum type="arabicPeriod"/>
            </a:pPr>
            <a:r>
              <a:rPr lang="en"/>
              <a:t>Probabilistic programming</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40"/>
          <p:cNvSpPr txBox="1"/>
          <p:nvPr>
            <p:ph type="ctrTitle"/>
          </p:nvPr>
        </p:nvSpPr>
        <p:spPr>
          <a:xfrm>
            <a:off x="311708" y="992767"/>
            <a:ext cx="8520600" cy="27369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COM1013</a:t>
            </a:r>
            <a:endParaRPr/>
          </a:p>
          <a:p>
            <a:pPr indent="0" lvl="0" marL="0" rtl="0" algn="ctr">
              <a:spcBef>
                <a:spcPts val="0"/>
              </a:spcBef>
              <a:spcAft>
                <a:spcPts val="0"/>
              </a:spcAft>
              <a:buNone/>
            </a:pPr>
            <a:r>
              <a:rPr lang="en"/>
              <a:t>INTRODUCTION TO COMPUTER SCIENCE</a:t>
            </a:r>
            <a:endParaRPr/>
          </a:p>
        </p:txBody>
      </p:sp>
      <p:sp>
        <p:nvSpPr>
          <p:cNvPr id="241" name="Google Shape;241;p40"/>
          <p:cNvSpPr txBox="1"/>
          <p:nvPr>
            <p:ph idx="1" type="subTitle"/>
          </p:nvPr>
        </p:nvSpPr>
        <p:spPr>
          <a:xfrm>
            <a:off x="311700" y="3778800"/>
            <a:ext cx="8520600" cy="27369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Lecturer: Begüm MUTLU BİLGE, PhD</a:t>
            </a:r>
            <a:endParaRPr/>
          </a:p>
          <a:p>
            <a:pPr indent="0" lvl="0" marL="0" rtl="0" algn="ctr">
              <a:spcBef>
                <a:spcPts val="0"/>
              </a:spcBef>
              <a:spcAft>
                <a:spcPts val="0"/>
              </a:spcAft>
              <a:buNone/>
            </a:pPr>
            <a:r>
              <a:t/>
            </a:r>
            <a:endParaRPr/>
          </a:p>
          <a:p>
            <a:pPr indent="0" lvl="0" marL="0" rtl="0" algn="l">
              <a:spcBef>
                <a:spcPts val="0"/>
              </a:spcBef>
              <a:spcAft>
                <a:spcPts val="0"/>
              </a:spcAft>
              <a:buNone/>
            </a:pPr>
            <a:r>
              <a:rPr lang="en" sz="2200" u="sng">
                <a:solidFill>
                  <a:schemeClr val="hlink"/>
                </a:solidFill>
                <a:hlinkClick r:id="rId3"/>
              </a:rPr>
              <a:t>begummutlubilge+com1013@gmail.com</a:t>
            </a:r>
            <a:r>
              <a:rPr lang="en" sz="2200"/>
              <a:t> (recommended)</a:t>
            </a:r>
            <a:endParaRPr sz="2200"/>
          </a:p>
          <a:p>
            <a:pPr indent="0" lvl="0" marL="0" rtl="0" algn="l">
              <a:spcBef>
                <a:spcPts val="0"/>
              </a:spcBef>
              <a:spcAft>
                <a:spcPts val="0"/>
              </a:spcAft>
              <a:buNone/>
            </a:pPr>
            <a:r>
              <a:rPr lang="en" sz="2200" u="sng">
                <a:solidFill>
                  <a:schemeClr val="hlink"/>
                </a:solidFill>
                <a:hlinkClick r:id="rId4"/>
              </a:rPr>
              <a:t>bmbilge@ankara.edu.tr</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41"/>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solidFill>
                  <a:schemeClr val="dk1"/>
                </a:solidFill>
              </a:rPr>
              <a:t>Language Implementation</a:t>
            </a:r>
            <a:endParaRPr/>
          </a:p>
        </p:txBody>
      </p:sp>
      <p:sp>
        <p:nvSpPr>
          <p:cNvPr id="247" name="Google Shape;247;p41"/>
          <p:cNvSpPr txBox="1"/>
          <p:nvPr>
            <p:ph idx="1" type="body"/>
          </p:nvPr>
        </p:nvSpPr>
        <p:spPr>
          <a:xfrm>
            <a:off x="311700" y="930375"/>
            <a:ext cx="8709300" cy="5811900"/>
          </a:xfrm>
          <a:prstGeom prst="rect">
            <a:avLst/>
          </a:prstGeom>
        </p:spPr>
        <p:txBody>
          <a:bodyPr anchorCtr="0" anchor="t" bIns="91425" lIns="91425" spcFirstLastPara="1" rIns="91425" wrap="square" tIns="91425">
            <a:normAutofit/>
          </a:bodyPr>
          <a:lstStyle/>
          <a:p>
            <a:pPr indent="0" lvl="0" marL="0" rtl="0" algn="just">
              <a:spcBef>
                <a:spcPts val="0"/>
              </a:spcBef>
              <a:spcAft>
                <a:spcPts val="1200"/>
              </a:spcAft>
              <a:buNone/>
            </a:pPr>
            <a:r>
              <a:rPr lang="en"/>
              <a:t>T</a:t>
            </a:r>
            <a:r>
              <a:rPr lang="en"/>
              <a:t>ranslation: The process of converting a program from one language to another</a:t>
            </a:r>
            <a:endParaRPr/>
          </a:p>
        </p:txBody>
      </p:sp>
      <p:pic>
        <p:nvPicPr>
          <p:cNvPr id="248" name="Google Shape;248;p41"/>
          <p:cNvPicPr preferRelativeResize="0"/>
          <p:nvPr/>
        </p:nvPicPr>
        <p:blipFill>
          <a:blip r:embed="rId3">
            <a:alphaModFix/>
          </a:blip>
          <a:stretch>
            <a:fillRect/>
          </a:stretch>
        </p:blipFill>
        <p:spPr>
          <a:xfrm>
            <a:off x="0" y="2725413"/>
            <a:ext cx="9144001" cy="14071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2"/>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solidFill>
                  <a:schemeClr val="dk1"/>
                </a:solidFill>
              </a:rPr>
              <a:t>The Translation Process</a:t>
            </a:r>
            <a:endParaRPr/>
          </a:p>
        </p:txBody>
      </p:sp>
      <p:sp>
        <p:nvSpPr>
          <p:cNvPr id="254" name="Google Shape;254;p42"/>
          <p:cNvSpPr txBox="1"/>
          <p:nvPr>
            <p:ph idx="1" type="body"/>
          </p:nvPr>
        </p:nvSpPr>
        <p:spPr>
          <a:xfrm>
            <a:off x="311700" y="930375"/>
            <a:ext cx="8709300" cy="58119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b="1" lang="en"/>
              <a:t>Lexical analysis</a:t>
            </a:r>
            <a:r>
              <a:rPr lang="en"/>
              <a:t> is the process of recognizing which strings of symbols from the source program represent a single entity, or token. </a:t>
            </a:r>
            <a:endParaRPr/>
          </a:p>
          <a:p>
            <a:pPr indent="0" lvl="0" marL="0" rtl="0" algn="just">
              <a:spcBef>
                <a:spcPts val="1200"/>
              </a:spcBef>
              <a:spcAft>
                <a:spcPts val="0"/>
              </a:spcAft>
              <a:buNone/>
            </a:pPr>
            <a:r>
              <a:t/>
            </a:r>
            <a:endParaRPr/>
          </a:p>
          <a:p>
            <a:pPr indent="0" lvl="0" marL="0" rtl="0" algn="just">
              <a:spcBef>
                <a:spcPts val="1200"/>
              </a:spcBef>
              <a:spcAft>
                <a:spcPts val="0"/>
              </a:spcAft>
              <a:buNone/>
            </a:pPr>
            <a:r>
              <a:rPr lang="en"/>
              <a:t>Lexical analyzer reads the source program symbol by symbol, identifying which groups of symbols represent tokens, and classifying those tokens according to whether they are numeric values, words, arithmetic operators, and so on. </a:t>
            </a:r>
            <a:endParaRPr/>
          </a:p>
          <a:p>
            <a:pPr indent="0" lvl="0" marL="0" rtl="0" algn="just">
              <a:spcBef>
                <a:spcPts val="1200"/>
              </a:spcBef>
              <a:spcAft>
                <a:spcPts val="0"/>
              </a:spcAft>
              <a:buNone/>
            </a:pPr>
            <a:r>
              <a:t/>
            </a:r>
            <a:endParaRPr/>
          </a:p>
          <a:p>
            <a:pPr indent="0" lvl="0" marL="0" rtl="0" algn="just">
              <a:spcBef>
                <a:spcPts val="1200"/>
              </a:spcBef>
              <a:spcAft>
                <a:spcPts val="120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3"/>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The Translation Process</a:t>
            </a:r>
            <a:endParaRPr/>
          </a:p>
        </p:txBody>
      </p:sp>
      <p:sp>
        <p:nvSpPr>
          <p:cNvPr id="260" name="Google Shape;260;p43"/>
          <p:cNvSpPr txBox="1"/>
          <p:nvPr>
            <p:ph idx="1" type="body"/>
          </p:nvPr>
        </p:nvSpPr>
        <p:spPr>
          <a:xfrm>
            <a:off x="311700" y="930375"/>
            <a:ext cx="8709300" cy="58119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a:t>The </a:t>
            </a:r>
            <a:r>
              <a:rPr b="1" lang="en"/>
              <a:t>parsing process </a:t>
            </a:r>
            <a:r>
              <a:rPr lang="en"/>
              <a:t>is based on a set of rules that define the syntax of the programming language. </a:t>
            </a:r>
            <a:endParaRPr/>
          </a:p>
          <a:p>
            <a:pPr indent="0" lvl="0" marL="0" rtl="0" algn="just">
              <a:spcBef>
                <a:spcPts val="1200"/>
              </a:spcBef>
              <a:spcAft>
                <a:spcPts val="0"/>
              </a:spcAft>
              <a:buNone/>
            </a:pPr>
            <a:r>
              <a:rPr lang="en"/>
              <a:t>Collectively, these rules are called a grammar. </a:t>
            </a:r>
            <a:endParaRPr/>
          </a:p>
          <a:p>
            <a:pPr indent="0" lvl="0" marL="0" rtl="0" algn="just">
              <a:spcBef>
                <a:spcPts val="1200"/>
              </a:spcBef>
              <a:spcAft>
                <a:spcPts val="0"/>
              </a:spcAft>
              <a:buNone/>
            </a:pPr>
            <a:r>
              <a:rPr lang="en"/>
              <a:t>One way of expressing these rules is by means of syntax diagrams, which are pictorial representations of a language’s grammatical structure.</a:t>
            </a:r>
            <a:endParaRPr/>
          </a:p>
          <a:p>
            <a:pPr indent="0" lvl="0" marL="0" rtl="0" algn="just">
              <a:spcBef>
                <a:spcPts val="1200"/>
              </a:spcBef>
              <a:spcAft>
                <a:spcPts val="1200"/>
              </a:spcAft>
              <a:buNone/>
            </a:pPr>
            <a:r>
              <a:t/>
            </a:r>
            <a:endParaRPr/>
          </a:p>
        </p:txBody>
      </p:sp>
      <p:pic>
        <p:nvPicPr>
          <p:cNvPr id="261" name="Google Shape;261;p43"/>
          <p:cNvPicPr preferRelativeResize="0"/>
          <p:nvPr/>
        </p:nvPicPr>
        <p:blipFill>
          <a:blip r:embed="rId3">
            <a:alphaModFix/>
          </a:blip>
          <a:stretch>
            <a:fillRect/>
          </a:stretch>
        </p:blipFill>
        <p:spPr>
          <a:xfrm>
            <a:off x="0" y="4763961"/>
            <a:ext cx="9144002" cy="1256428"/>
          </a:xfrm>
          <a:prstGeom prst="rect">
            <a:avLst/>
          </a:prstGeom>
          <a:noFill/>
          <a:ln>
            <a:noFill/>
          </a:ln>
        </p:spPr>
      </p:pic>
      <p:sp>
        <p:nvSpPr>
          <p:cNvPr id="262" name="Google Shape;262;p43"/>
          <p:cNvSpPr txBox="1"/>
          <p:nvPr/>
        </p:nvSpPr>
        <p:spPr>
          <a:xfrm>
            <a:off x="311700" y="6249675"/>
            <a:ext cx="8709300" cy="492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t>A syntax diagram of Python's if-else statement</a:t>
            </a:r>
            <a:endParaRPr sz="20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pic>
        <p:nvPicPr>
          <p:cNvPr id="267" name="Google Shape;267;p44"/>
          <p:cNvPicPr preferRelativeResize="0"/>
          <p:nvPr/>
        </p:nvPicPr>
        <p:blipFill>
          <a:blip r:embed="rId3">
            <a:alphaModFix/>
          </a:blip>
          <a:stretch>
            <a:fillRect/>
          </a:stretch>
        </p:blipFill>
        <p:spPr>
          <a:xfrm>
            <a:off x="1884613" y="799500"/>
            <a:ext cx="5563474" cy="5610899"/>
          </a:xfrm>
          <a:prstGeom prst="rect">
            <a:avLst/>
          </a:prstGeom>
          <a:noFill/>
          <a:ln>
            <a:noFill/>
          </a:ln>
        </p:spPr>
      </p:pic>
      <p:sp>
        <p:nvSpPr>
          <p:cNvPr id="268" name="Google Shape;268;p44"/>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solidFill>
                  <a:schemeClr val="dk1"/>
                </a:solidFill>
              </a:rPr>
              <a:t>The Translation Process</a:t>
            </a:r>
            <a:endParaRPr/>
          </a:p>
        </p:txBody>
      </p:sp>
      <p:sp>
        <p:nvSpPr>
          <p:cNvPr id="269" name="Google Shape;269;p44"/>
          <p:cNvSpPr txBox="1"/>
          <p:nvPr>
            <p:ph idx="1" type="body"/>
          </p:nvPr>
        </p:nvSpPr>
        <p:spPr>
          <a:xfrm>
            <a:off x="311700" y="5706275"/>
            <a:ext cx="8709300" cy="1035900"/>
          </a:xfrm>
          <a:prstGeom prst="rect">
            <a:avLst/>
          </a:prstGeom>
        </p:spPr>
        <p:txBody>
          <a:bodyPr anchorCtr="0" anchor="b" bIns="91425" lIns="91425" spcFirstLastPara="1" rIns="91425" wrap="square" tIns="91425">
            <a:normAutofit/>
          </a:bodyPr>
          <a:lstStyle/>
          <a:p>
            <a:pPr indent="0" lvl="0" marL="0" rtl="0" algn="ctr">
              <a:spcBef>
                <a:spcPts val="0"/>
              </a:spcBef>
              <a:spcAft>
                <a:spcPts val="1200"/>
              </a:spcAft>
              <a:buNone/>
            </a:pPr>
            <a:r>
              <a:rPr lang="en" sz="1900"/>
              <a:t>Syntax diagrams describing the structure of a simple algebraic expression</a:t>
            </a:r>
            <a:endParaRPr sz="19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5"/>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The Translation Process</a:t>
            </a:r>
            <a:endParaRPr/>
          </a:p>
        </p:txBody>
      </p:sp>
      <p:pic>
        <p:nvPicPr>
          <p:cNvPr id="275" name="Google Shape;275;p45"/>
          <p:cNvPicPr preferRelativeResize="0"/>
          <p:nvPr/>
        </p:nvPicPr>
        <p:blipFill>
          <a:blip r:embed="rId3">
            <a:alphaModFix/>
          </a:blip>
          <a:stretch>
            <a:fillRect/>
          </a:stretch>
        </p:blipFill>
        <p:spPr>
          <a:xfrm>
            <a:off x="2145713" y="930367"/>
            <a:ext cx="4852582" cy="5622833"/>
          </a:xfrm>
          <a:prstGeom prst="rect">
            <a:avLst/>
          </a:prstGeom>
          <a:noFill/>
          <a:ln>
            <a:noFill/>
          </a:ln>
        </p:spPr>
      </p:pic>
      <p:sp>
        <p:nvSpPr>
          <p:cNvPr id="276" name="Google Shape;276;p45"/>
          <p:cNvSpPr txBox="1"/>
          <p:nvPr>
            <p:ph idx="1" type="body"/>
          </p:nvPr>
        </p:nvSpPr>
        <p:spPr>
          <a:xfrm>
            <a:off x="311700" y="5706275"/>
            <a:ext cx="8709300" cy="1035900"/>
          </a:xfrm>
          <a:prstGeom prst="rect">
            <a:avLst/>
          </a:prstGeom>
        </p:spPr>
        <p:txBody>
          <a:bodyPr anchorCtr="0" anchor="b" bIns="91425" lIns="91425" spcFirstLastPara="1" rIns="91425" wrap="square" tIns="91425">
            <a:normAutofit/>
          </a:bodyPr>
          <a:lstStyle/>
          <a:p>
            <a:pPr indent="0" lvl="0" marL="0" rtl="0" algn="ctr">
              <a:spcBef>
                <a:spcPts val="0"/>
              </a:spcBef>
              <a:spcAft>
                <a:spcPts val="1200"/>
              </a:spcAft>
              <a:buNone/>
            </a:pPr>
            <a:r>
              <a:rPr lang="en" sz="1900"/>
              <a:t>The parse tree for the string x + y * z based on the syntax diagrams in prev. slide.</a:t>
            </a:r>
            <a:endParaRPr sz="19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6"/>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The Translation Process</a:t>
            </a:r>
            <a:endParaRPr/>
          </a:p>
        </p:txBody>
      </p:sp>
      <p:sp>
        <p:nvSpPr>
          <p:cNvPr id="282" name="Google Shape;282;p46"/>
          <p:cNvSpPr txBox="1"/>
          <p:nvPr>
            <p:ph idx="1" type="body"/>
          </p:nvPr>
        </p:nvSpPr>
        <p:spPr>
          <a:xfrm>
            <a:off x="311700" y="930375"/>
            <a:ext cx="8709300" cy="58119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a:t>The final activity in the translation process is </a:t>
            </a:r>
            <a:r>
              <a:rPr b="1" lang="en"/>
              <a:t>code</a:t>
            </a:r>
            <a:r>
              <a:rPr lang="en"/>
              <a:t> </a:t>
            </a:r>
            <a:r>
              <a:rPr b="1" lang="en"/>
              <a:t>generation</a:t>
            </a:r>
            <a:r>
              <a:rPr lang="en"/>
              <a:t>, which is the process of constructing the machine-language instructions to implement the statements recognized by the parser. </a:t>
            </a:r>
            <a:endParaRPr/>
          </a:p>
          <a:p>
            <a:pPr indent="0" lvl="0" marL="0" rtl="0" algn="just">
              <a:spcBef>
                <a:spcPts val="1200"/>
              </a:spcBef>
              <a:spcAft>
                <a:spcPts val="0"/>
              </a:spcAft>
              <a:buNone/>
            </a:pPr>
            <a:r>
              <a:t/>
            </a:r>
            <a:endParaRPr/>
          </a:p>
          <a:p>
            <a:pPr indent="0" lvl="0" marL="0" rtl="0" algn="just">
              <a:spcBef>
                <a:spcPts val="1200"/>
              </a:spcBef>
              <a:spcAft>
                <a:spcPts val="0"/>
              </a:spcAft>
              <a:buNone/>
            </a:pPr>
            <a:r>
              <a:rPr lang="en"/>
              <a:t>x = y + z</a:t>
            </a:r>
            <a:endParaRPr/>
          </a:p>
          <a:p>
            <a:pPr indent="0" lvl="0" marL="0" rtl="0" algn="just">
              <a:spcBef>
                <a:spcPts val="1200"/>
              </a:spcBef>
              <a:spcAft>
                <a:spcPts val="0"/>
              </a:spcAft>
              <a:buNone/>
            </a:pPr>
            <a:r>
              <a:rPr lang="en"/>
              <a:t>w = x + z</a:t>
            </a:r>
            <a:endParaRPr/>
          </a:p>
          <a:p>
            <a:pPr indent="0" lvl="0" marL="0" rtl="0" algn="just">
              <a:spcBef>
                <a:spcPts val="1200"/>
              </a:spcBef>
              <a:spcAft>
                <a:spcPts val="0"/>
              </a:spcAft>
              <a:buNone/>
            </a:pPr>
            <a:r>
              <a:t/>
            </a:r>
            <a:endParaRPr/>
          </a:p>
          <a:p>
            <a:pPr indent="0" lvl="0" marL="0" rtl="0" algn="just">
              <a:spcBef>
                <a:spcPts val="1200"/>
              </a:spcBef>
              <a:spcAft>
                <a:spcPts val="1200"/>
              </a:spcAft>
              <a:buNone/>
            </a:pPr>
            <a:r>
              <a:t/>
            </a:r>
            <a:endParaRPr/>
          </a:p>
        </p:txBody>
      </p:sp>
      <p:sp>
        <p:nvSpPr>
          <p:cNvPr id="283" name="Google Shape;283;p46"/>
          <p:cNvSpPr txBox="1"/>
          <p:nvPr/>
        </p:nvSpPr>
        <p:spPr>
          <a:xfrm>
            <a:off x="2739225" y="3924075"/>
            <a:ext cx="42414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t>Requires </a:t>
            </a:r>
            <a:r>
              <a:rPr lang="en" sz="2400"/>
              <a:t>code optimization</a:t>
            </a:r>
            <a:endParaRPr sz="2400"/>
          </a:p>
        </p:txBody>
      </p:sp>
      <p:sp>
        <p:nvSpPr>
          <p:cNvPr id="284" name="Google Shape;284;p46"/>
          <p:cNvSpPr/>
          <p:nvPr/>
        </p:nvSpPr>
        <p:spPr>
          <a:xfrm>
            <a:off x="1675225" y="3350475"/>
            <a:ext cx="759000" cy="17013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7"/>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Object-Oriented Programming</a:t>
            </a:r>
            <a:endParaRPr/>
          </a:p>
        </p:txBody>
      </p:sp>
      <p:sp>
        <p:nvSpPr>
          <p:cNvPr id="290" name="Google Shape;290;p47"/>
          <p:cNvSpPr txBox="1"/>
          <p:nvPr>
            <p:ph idx="1" type="body"/>
          </p:nvPr>
        </p:nvSpPr>
        <p:spPr>
          <a:xfrm>
            <a:off x="311700" y="930375"/>
            <a:ext cx="8709300" cy="58119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a:t>object-oriented programming languages provide statements for describing objects and their behavior.</a:t>
            </a:r>
            <a:endParaRPr/>
          </a:p>
          <a:p>
            <a:pPr indent="0" lvl="0" marL="0" rtl="0" algn="just">
              <a:spcBef>
                <a:spcPts val="1200"/>
              </a:spcBef>
              <a:spcAft>
                <a:spcPts val="0"/>
              </a:spcAft>
              <a:buNone/>
            </a:pPr>
            <a:r>
              <a:rPr lang="en"/>
              <a:t>C++, Java, and C#, which are three of the more prominent object-oriented languages used today</a:t>
            </a:r>
            <a:endParaRPr/>
          </a:p>
          <a:p>
            <a:pPr indent="0" lvl="0" marL="0" rtl="0" algn="just">
              <a:spcBef>
                <a:spcPts val="1200"/>
              </a:spcBef>
              <a:spcAft>
                <a:spcPts val="1200"/>
              </a:spcAft>
              <a:buNone/>
            </a:pPr>
            <a:r>
              <a:rPr lang="en"/>
              <a:t>In the object-oriented paradigm a template for a collection of objects is called a </a:t>
            </a:r>
            <a:r>
              <a:rPr b="1" lang="en"/>
              <a:t>class</a:t>
            </a:r>
            <a:r>
              <a:rPr lang="en"/>
              <a:t>.</a:t>
            </a:r>
            <a:endParaRPr/>
          </a:p>
        </p:txBody>
      </p:sp>
      <p:pic>
        <p:nvPicPr>
          <p:cNvPr id="291" name="Google Shape;291;p47"/>
          <p:cNvPicPr preferRelativeResize="0"/>
          <p:nvPr/>
        </p:nvPicPr>
        <p:blipFill>
          <a:blip r:embed="rId3">
            <a:alphaModFix/>
          </a:blip>
          <a:stretch>
            <a:fillRect/>
          </a:stretch>
        </p:blipFill>
        <p:spPr>
          <a:xfrm>
            <a:off x="3341025" y="4389588"/>
            <a:ext cx="2095500" cy="235267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8"/>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Object-Oriented Programming</a:t>
            </a:r>
            <a:endParaRPr/>
          </a:p>
        </p:txBody>
      </p:sp>
      <p:sp>
        <p:nvSpPr>
          <p:cNvPr id="297" name="Google Shape;297;p48"/>
          <p:cNvSpPr txBox="1"/>
          <p:nvPr>
            <p:ph idx="1" type="body"/>
          </p:nvPr>
        </p:nvSpPr>
        <p:spPr>
          <a:xfrm>
            <a:off x="311700" y="930375"/>
            <a:ext cx="8709300" cy="5811900"/>
          </a:xfrm>
          <a:prstGeom prst="rect">
            <a:avLst/>
          </a:prstGeom>
        </p:spPr>
        <p:txBody>
          <a:bodyPr anchorCtr="0" anchor="t" bIns="91425" lIns="91425" spcFirstLastPara="1" rIns="91425" wrap="square" tIns="91425">
            <a:normAutofit/>
          </a:bodyPr>
          <a:lstStyle/>
          <a:p>
            <a:pPr indent="0" lvl="0" marL="0" rtl="0" algn="just">
              <a:spcBef>
                <a:spcPts val="0"/>
              </a:spcBef>
              <a:spcAft>
                <a:spcPts val="1200"/>
              </a:spcAft>
              <a:buNone/>
            </a:pPr>
            <a:r>
              <a:t/>
            </a:r>
            <a:endParaRPr/>
          </a:p>
        </p:txBody>
      </p:sp>
      <p:pic>
        <p:nvPicPr>
          <p:cNvPr id="298" name="Google Shape;298;p48"/>
          <p:cNvPicPr preferRelativeResize="0"/>
          <p:nvPr/>
        </p:nvPicPr>
        <p:blipFill>
          <a:blip r:embed="rId3">
            <a:alphaModFix/>
          </a:blip>
          <a:stretch>
            <a:fillRect/>
          </a:stretch>
        </p:blipFill>
        <p:spPr>
          <a:xfrm>
            <a:off x="94350" y="1213842"/>
            <a:ext cx="9144001" cy="524496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9"/>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Object-Oriented Programming</a:t>
            </a:r>
            <a:endParaRPr/>
          </a:p>
        </p:txBody>
      </p:sp>
      <p:sp>
        <p:nvSpPr>
          <p:cNvPr id="304" name="Google Shape;304;p49"/>
          <p:cNvSpPr txBox="1"/>
          <p:nvPr>
            <p:ph idx="1" type="body"/>
          </p:nvPr>
        </p:nvSpPr>
        <p:spPr>
          <a:xfrm>
            <a:off x="311700" y="930375"/>
            <a:ext cx="8709300" cy="58119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a:t>Once we have described the class </a:t>
            </a:r>
            <a:r>
              <a:rPr lang="en">
                <a:solidFill>
                  <a:schemeClr val="accent1"/>
                </a:solidFill>
              </a:rPr>
              <a:t>LaserClass</a:t>
            </a:r>
            <a:r>
              <a:rPr lang="en"/>
              <a:t> in our game program, we can declare three variables Laser1, Laser2, and Laser3 to be of “type” ­</a:t>
            </a:r>
            <a:r>
              <a:rPr lang="en">
                <a:solidFill>
                  <a:schemeClr val="accent1"/>
                </a:solidFill>
              </a:rPr>
              <a:t>LaserClass</a:t>
            </a:r>
            <a:endParaRPr>
              <a:solidFill>
                <a:schemeClr val="accent1"/>
              </a:solidFill>
            </a:endParaRPr>
          </a:p>
          <a:p>
            <a:pPr indent="0" lvl="0" marL="0" rtl="0" algn="just">
              <a:spcBef>
                <a:spcPts val="1200"/>
              </a:spcBef>
              <a:spcAft>
                <a:spcPts val="0"/>
              </a:spcAft>
              <a:buNone/>
            </a:pPr>
            <a:r>
              <a:rPr lang="en"/>
              <a:t>by a statement of the form</a:t>
            </a:r>
            <a:endParaRPr/>
          </a:p>
          <a:p>
            <a:pPr indent="0" lvl="0" marL="0" rtl="0" algn="ctr">
              <a:spcBef>
                <a:spcPts val="1200"/>
              </a:spcBef>
              <a:spcAft>
                <a:spcPts val="0"/>
              </a:spcAft>
              <a:buNone/>
            </a:pPr>
            <a:r>
              <a:rPr lang="en">
                <a:solidFill>
                  <a:schemeClr val="accent1"/>
                </a:solidFill>
              </a:rPr>
              <a:t>LaserClass</a:t>
            </a:r>
            <a:r>
              <a:rPr lang="en"/>
              <a:t> Laser1, Laser2, Laser3;</a:t>
            </a:r>
            <a:endParaRPr/>
          </a:p>
          <a:p>
            <a:pPr indent="0" lvl="0" marL="0" rtl="0" algn="just">
              <a:spcBef>
                <a:spcPts val="1200"/>
              </a:spcBef>
              <a:spcAft>
                <a:spcPts val="0"/>
              </a:spcAft>
              <a:buNone/>
            </a:pPr>
            <a:r>
              <a:rPr lang="en"/>
              <a:t>Note that this is the same format as the statement</a:t>
            </a:r>
            <a:endParaRPr/>
          </a:p>
          <a:p>
            <a:pPr indent="0" lvl="0" marL="0" rtl="0" algn="ctr">
              <a:spcBef>
                <a:spcPts val="1200"/>
              </a:spcBef>
              <a:spcAft>
                <a:spcPts val="1200"/>
              </a:spcAft>
              <a:buNone/>
            </a:pPr>
            <a:r>
              <a:rPr lang="en">
                <a:solidFill>
                  <a:schemeClr val="accent1"/>
                </a:solidFill>
              </a:rPr>
              <a:t>int</a:t>
            </a:r>
            <a:r>
              <a:rPr lang="en"/>
              <a:t> x, y, z;</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50"/>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Object-Oriented Programming</a:t>
            </a:r>
            <a:endParaRPr/>
          </a:p>
        </p:txBody>
      </p:sp>
      <p:sp>
        <p:nvSpPr>
          <p:cNvPr id="310" name="Google Shape;310;p50"/>
          <p:cNvSpPr txBox="1"/>
          <p:nvPr>
            <p:ph idx="1" type="body"/>
          </p:nvPr>
        </p:nvSpPr>
        <p:spPr>
          <a:xfrm>
            <a:off x="311700" y="930375"/>
            <a:ext cx="8709300" cy="5811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Once we have declared the variables Laser1, Laser2, and Laser3 to be of “type” </a:t>
            </a:r>
            <a:r>
              <a:rPr lang="en">
                <a:solidFill>
                  <a:schemeClr val="accent1"/>
                </a:solidFill>
              </a:rPr>
              <a:t>LaserClass</a:t>
            </a:r>
            <a:r>
              <a:rPr lang="en"/>
              <a:t>, we can assign them values. </a:t>
            </a:r>
            <a:endParaRPr/>
          </a:p>
          <a:p>
            <a:pPr indent="-393700" lvl="0" marL="457200" rtl="0" algn="l">
              <a:spcBef>
                <a:spcPts val="1200"/>
              </a:spcBef>
              <a:spcAft>
                <a:spcPts val="0"/>
              </a:spcAft>
              <a:buSzPts val="2600"/>
              <a:buChar char="●"/>
            </a:pPr>
            <a:r>
              <a:rPr lang="en"/>
              <a:t>In this case the values must be objects that conform to the “type” </a:t>
            </a:r>
            <a:r>
              <a:rPr lang="en">
                <a:solidFill>
                  <a:schemeClr val="accent1"/>
                </a:solidFill>
              </a:rPr>
              <a:t>LaserClass</a:t>
            </a:r>
            <a:r>
              <a:rPr lang="en"/>
              <a:t>.</a:t>
            </a:r>
            <a:endParaRPr/>
          </a:p>
          <a:p>
            <a:pPr indent="0" lvl="0" marL="0" rtl="0" algn="l">
              <a:spcBef>
                <a:spcPts val="1200"/>
              </a:spcBef>
              <a:spcAft>
                <a:spcPts val="0"/>
              </a:spcAft>
              <a:buNone/>
            </a:pPr>
            <a:r>
              <a:rPr lang="en">
                <a:solidFill>
                  <a:schemeClr val="accent1"/>
                </a:solidFill>
              </a:rPr>
              <a:t>LaserClass</a:t>
            </a:r>
            <a:r>
              <a:rPr lang="en"/>
              <a:t> Laser1, Laser2, Laser3;</a:t>
            </a:r>
            <a:endParaRPr/>
          </a:p>
          <a:p>
            <a:pPr indent="-393700" lvl="0" marL="457200" rtl="0" algn="l">
              <a:spcBef>
                <a:spcPts val="1200"/>
              </a:spcBef>
              <a:spcAft>
                <a:spcPts val="0"/>
              </a:spcAft>
              <a:buSzPts val="2600"/>
              <a:buChar char="●"/>
            </a:pPr>
            <a:r>
              <a:rPr lang="en"/>
              <a:t>not only establishes the variables Laser1, Laser2, and Laser3, but also creates three objects of “type” </a:t>
            </a:r>
            <a:r>
              <a:rPr lang="en">
                <a:solidFill>
                  <a:schemeClr val="accent1"/>
                </a:solidFill>
              </a:rPr>
              <a:t>LaserClass</a:t>
            </a:r>
            <a:r>
              <a:rPr lang="en"/>
              <a:t>, one as the value of each variable.</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51"/>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Object-Oriented Programming</a:t>
            </a:r>
            <a:endParaRPr/>
          </a:p>
        </p:txBody>
      </p:sp>
      <p:sp>
        <p:nvSpPr>
          <p:cNvPr id="316" name="Google Shape;316;p51"/>
          <p:cNvSpPr txBox="1"/>
          <p:nvPr>
            <p:ph idx="1" type="body"/>
          </p:nvPr>
        </p:nvSpPr>
        <p:spPr>
          <a:xfrm>
            <a:off x="311700" y="930375"/>
            <a:ext cx="8709300" cy="5811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accent1"/>
                </a:solidFill>
              </a:rPr>
              <a:t>LaserClass</a:t>
            </a:r>
            <a:r>
              <a:rPr lang="en"/>
              <a:t> Laser1 = new </a:t>
            </a:r>
            <a:r>
              <a:rPr lang="en">
                <a:solidFill>
                  <a:schemeClr val="accent1"/>
                </a:solidFill>
              </a:rPr>
              <a:t>LaserClass</a:t>
            </a:r>
            <a:r>
              <a:rPr lang="en"/>
              <a:t>();</a:t>
            </a:r>
            <a:endParaRPr/>
          </a:p>
          <a:p>
            <a:pPr indent="0" lvl="0" marL="0" rtl="0" algn="l">
              <a:spcBef>
                <a:spcPts val="1200"/>
              </a:spcBef>
              <a:spcAft>
                <a:spcPts val="0"/>
              </a:spcAft>
              <a:buNone/>
            </a:pPr>
            <a:r>
              <a:rPr lang="en"/>
              <a:t>declares the variable Laser1 to be of “type” </a:t>
            </a:r>
            <a:r>
              <a:rPr lang="en">
                <a:solidFill>
                  <a:schemeClr val="accent1"/>
                </a:solidFill>
              </a:rPr>
              <a:t>LaserClass</a:t>
            </a:r>
            <a:r>
              <a:rPr lang="en"/>
              <a:t> and also creates a new object using the </a:t>
            </a:r>
            <a:r>
              <a:rPr lang="en">
                <a:solidFill>
                  <a:schemeClr val="accent1"/>
                </a:solidFill>
              </a:rPr>
              <a:t>LaserClass</a:t>
            </a:r>
            <a:r>
              <a:rPr lang="en"/>
              <a:t> template and assigns that object as the starting value of Laser1.</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Laser1.</a:t>
            </a:r>
            <a:r>
              <a:rPr lang="en">
                <a:solidFill>
                  <a:schemeClr val="accent1"/>
                </a:solidFill>
              </a:rPr>
              <a:t>fire</a:t>
            </a:r>
            <a:r>
              <a:rPr lang="en"/>
              <a:t>();</a:t>
            </a:r>
            <a:endParaRPr/>
          </a:p>
          <a:p>
            <a:pPr indent="0" lvl="0" marL="0" rtl="0" algn="l">
              <a:spcBef>
                <a:spcPts val="1200"/>
              </a:spcBef>
              <a:spcAft>
                <a:spcPts val="1200"/>
              </a:spcAft>
              <a:buNone/>
            </a:pPr>
            <a:r>
              <a:rPr lang="en"/>
              <a:t>Laser2.</a:t>
            </a:r>
            <a:r>
              <a:rPr lang="en">
                <a:solidFill>
                  <a:schemeClr val="accent1"/>
                </a:solidFill>
              </a:rPr>
              <a:t>turnLeft</a:t>
            </a:r>
            <a:r>
              <a:rPr lang="en"/>
              <a:t>();</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pic>
        <p:nvPicPr>
          <p:cNvPr id="321" name="Google Shape;321;p52"/>
          <p:cNvPicPr preferRelativeResize="0"/>
          <p:nvPr/>
        </p:nvPicPr>
        <p:blipFill>
          <a:blip r:embed="rId3">
            <a:alphaModFix/>
          </a:blip>
          <a:stretch>
            <a:fillRect/>
          </a:stretch>
        </p:blipFill>
        <p:spPr>
          <a:xfrm>
            <a:off x="1846463" y="810413"/>
            <a:ext cx="5451074" cy="5237175"/>
          </a:xfrm>
          <a:prstGeom prst="rect">
            <a:avLst/>
          </a:prstGeom>
          <a:noFill/>
          <a:ln>
            <a:noFill/>
          </a:ln>
        </p:spPr>
      </p:pic>
      <p:sp>
        <p:nvSpPr>
          <p:cNvPr id="322" name="Google Shape;322;p52"/>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Object-Oriented Programming</a:t>
            </a:r>
            <a:endParaRPr/>
          </a:p>
        </p:txBody>
      </p:sp>
      <p:sp>
        <p:nvSpPr>
          <p:cNvPr id="323" name="Google Shape;323;p52"/>
          <p:cNvSpPr txBox="1"/>
          <p:nvPr>
            <p:ph idx="1" type="body"/>
          </p:nvPr>
        </p:nvSpPr>
        <p:spPr>
          <a:xfrm>
            <a:off x="311700" y="5978775"/>
            <a:ext cx="87093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 structure of a typical object-oriented program</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53"/>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C</a:t>
            </a:r>
            <a:r>
              <a:rPr lang="en"/>
              <a:t>onstructors</a:t>
            </a:r>
            <a:endParaRPr/>
          </a:p>
        </p:txBody>
      </p:sp>
      <p:sp>
        <p:nvSpPr>
          <p:cNvPr id="329" name="Google Shape;329;p53"/>
          <p:cNvSpPr txBox="1"/>
          <p:nvPr>
            <p:ph idx="1" type="body"/>
          </p:nvPr>
        </p:nvSpPr>
        <p:spPr>
          <a:xfrm>
            <a:off x="311700" y="930375"/>
            <a:ext cx="8709300" cy="58119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a:t>Constructors are executed automatically when an object is constructed from the class. </a:t>
            </a:r>
            <a:endParaRPr/>
          </a:p>
          <a:p>
            <a:pPr indent="0" lvl="0" marL="0" rtl="0" algn="just">
              <a:spcBef>
                <a:spcPts val="1200"/>
              </a:spcBef>
              <a:spcAft>
                <a:spcPts val="1200"/>
              </a:spcAft>
              <a:buNone/>
            </a:pPr>
            <a:r>
              <a:rPr lang="en"/>
              <a:t>A constructor is identified within a class definition by the fact that it is a method with the same name as the class.</a:t>
            </a:r>
            <a:endParaRPr/>
          </a:p>
        </p:txBody>
      </p:sp>
      <p:pic>
        <p:nvPicPr>
          <p:cNvPr id="330" name="Google Shape;330;p53"/>
          <p:cNvPicPr preferRelativeResize="0"/>
          <p:nvPr/>
        </p:nvPicPr>
        <p:blipFill>
          <a:blip r:embed="rId3">
            <a:alphaModFix/>
          </a:blip>
          <a:stretch>
            <a:fillRect/>
          </a:stretch>
        </p:blipFill>
        <p:spPr>
          <a:xfrm>
            <a:off x="2183816" y="3010200"/>
            <a:ext cx="4965076" cy="3847800"/>
          </a:xfrm>
          <a:prstGeom prst="rect">
            <a:avLst/>
          </a:prstGeom>
          <a:noFill/>
          <a:ln>
            <a:noFill/>
          </a:ln>
        </p:spPr>
      </p:pic>
      <p:sp>
        <p:nvSpPr>
          <p:cNvPr id="331" name="Google Shape;331;p53"/>
          <p:cNvSpPr txBox="1"/>
          <p:nvPr/>
        </p:nvSpPr>
        <p:spPr>
          <a:xfrm>
            <a:off x="3010200" y="5965200"/>
            <a:ext cx="6133800" cy="892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2300">
                <a:solidFill>
                  <a:schemeClr val="accent1"/>
                </a:solidFill>
              </a:rPr>
              <a:t>LaserClass</a:t>
            </a:r>
            <a:r>
              <a:rPr lang="en" sz="2300"/>
              <a:t> Laser1 = new </a:t>
            </a:r>
            <a:r>
              <a:rPr lang="en" sz="2300">
                <a:solidFill>
                  <a:schemeClr val="accent1"/>
                </a:solidFill>
              </a:rPr>
              <a:t>LaserClass</a:t>
            </a:r>
            <a:r>
              <a:rPr lang="en" sz="2300"/>
              <a:t>(50);</a:t>
            </a:r>
            <a:endParaRPr sz="2300"/>
          </a:p>
          <a:p>
            <a:pPr indent="0" lvl="0" marL="0" rtl="0" algn="r">
              <a:spcBef>
                <a:spcPts val="0"/>
              </a:spcBef>
              <a:spcAft>
                <a:spcPts val="0"/>
              </a:spcAft>
              <a:buNone/>
            </a:pPr>
            <a:r>
              <a:rPr lang="en" sz="2300">
                <a:solidFill>
                  <a:schemeClr val="accent1"/>
                </a:solidFill>
              </a:rPr>
              <a:t>LaserClass</a:t>
            </a:r>
            <a:r>
              <a:rPr lang="en" sz="2300"/>
              <a:t> Laser2 = new </a:t>
            </a:r>
            <a:r>
              <a:rPr lang="en" sz="2300">
                <a:solidFill>
                  <a:schemeClr val="accent1"/>
                </a:solidFill>
              </a:rPr>
              <a:t>LaserClass</a:t>
            </a:r>
            <a:r>
              <a:rPr lang="en" sz="2300"/>
              <a:t>(100);</a:t>
            </a:r>
            <a:endParaRPr sz="23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54"/>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solidFill>
                  <a:schemeClr val="dk1"/>
                </a:solidFill>
              </a:rPr>
              <a:t>Object-Oriented Programming</a:t>
            </a:r>
            <a:endParaRPr/>
          </a:p>
        </p:txBody>
      </p:sp>
      <p:sp>
        <p:nvSpPr>
          <p:cNvPr id="337" name="Google Shape;337;p54"/>
          <p:cNvSpPr txBox="1"/>
          <p:nvPr>
            <p:ph idx="1" type="body"/>
          </p:nvPr>
        </p:nvSpPr>
        <p:spPr>
          <a:xfrm>
            <a:off x="311700" y="930375"/>
            <a:ext cx="8709300" cy="58119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a:t>The four basic concepts of OOP are </a:t>
            </a:r>
            <a:endParaRPr/>
          </a:p>
          <a:p>
            <a:pPr indent="-393700" lvl="0" marL="457200" rtl="0" algn="just">
              <a:spcBef>
                <a:spcPts val="1200"/>
              </a:spcBef>
              <a:spcAft>
                <a:spcPts val="0"/>
              </a:spcAft>
              <a:buSzPts val="2600"/>
              <a:buChar char="●"/>
            </a:pPr>
            <a:r>
              <a:rPr lang="en"/>
              <a:t>Inheritance, </a:t>
            </a:r>
            <a:endParaRPr/>
          </a:p>
          <a:p>
            <a:pPr indent="-393700" lvl="0" marL="457200" rtl="0" algn="just">
              <a:spcBef>
                <a:spcPts val="0"/>
              </a:spcBef>
              <a:spcAft>
                <a:spcPts val="0"/>
              </a:spcAft>
              <a:buSzPts val="2600"/>
              <a:buChar char="●"/>
            </a:pPr>
            <a:r>
              <a:rPr lang="en"/>
              <a:t>Abstraction, </a:t>
            </a:r>
            <a:endParaRPr/>
          </a:p>
          <a:p>
            <a:pPr indent="-393700" lvl="0" marL="457200" rtl="0" algn="just">
              <a:spcBef>
                <a:spcPts val="0"/>
              </a:spcBef>
              <a:spcAft>
                <a:spcPts val="0"/>
              </a:spcAft>
              <a:buSzPts val="2600"/>
              <a:buChar char="●"/>
            </a:pPr>
            <a:r>
              <a:rPr lang="en"/>
              <a:t>Polymorphism and </a:t>
            </a:r>
            <a:endParaRPr/>
          </a:p>
          <a:p>
            <a:pPr indent="-393700" lvl="0" marL="457200" rtl="0" algn="just">
              <a:spcBef>
                <a:spcPts val="0"/>
              </a:spcBef>
              <a:spcAft>
                <a:spcPts val="0"/>
              </a:spcAft>
              <a:buSzPts val="2600"/>
              <a:buChar char="●"/>
            </a:pPr>
            <a:r>
              <a:rPr lang="en"/>
              <a:t>Encapsulation</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55"/>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Inheretance</a:t>
            </a:r>
            <a:endParaRPr/>
          </a:p>
        </p:txBody>
      </p:sp>
      <p:sp>
        <p:nvSpPr>
          <p:cNvPr id="343" name="Google Shape;343;p55"/>
          <p:cNvSpPr txBox="1"/>
          <p:nvPr>
            <p:ph idx="1" type="body"/>
          </p:nvPr>
        </p:nvSpPr>
        <p:spPr>
          <a:xfrm>
            <a:off x="311700" y="930375"/>
            <a:ext cx="8709300" cy="58119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a:t>O</a:t>
            </a:r>
            <a:r>
              <a:rPr lang="en"/>
              <a:t>bject-oriented languages allow one class to encompass the properties of another through a technique known as </a:t>
            </a:r>
            <a:r>
              <a:rPr b="1" lang="en"/>
              <a:t>inheritance</a:t>
            </a:r>
            <a:r>
              <a:rPr lang="en"/>
              <a:t>.</a:t>
            </a:r>
            <a:endParaRPr/>
          </a:p>
          <a:p>
            <a:pPr indent="0" lvl="0" marL="0" rtl="0" algn="just">
              <a:spcBef>
                <a:spcPts val="1200"/>
              </a:spcBef>
              <a:spcAft>
                <a:spcPts val="0"/>
              </a:spcAft>
              <a:buNone/>
            </a:pPr>
            <a:r>
              <a:t/>
            </a:r>
            <a:endParaRPr/>
          </a:p>
          <a:p>
            <a:pPr indent="0" lvl="0" marL="0" rtl="0" algn="just">
              <a:spcBef>
                <a:spcPts val="1200"/>
              </a:spcBef>
              <a:spcAft>
                <a:spcPts val="0"/>
              </a:spcAft>
              <a:buNone/>
            </a:pPr>
            <a:r>
              <a:t/>
            </a:r>
            <a:endParaRPr/>
          </a:p>
          <a:p>
            <a:pPr indent="0" lvl="0" marL="0" rtl="0" algn="just">
              <a:spcBef>
                <a:spcPts val="1200"/>
              </a:spcBef>
              <a:spcAft>
                <a:spcPts val="0"/>
              </a:spcAft>
              <a:buNone/>
            </a:pPr>
            <a:r>
              <a:t/>
            </a:r>
            <a:endParaRPr/>
          </a:p>
          <a:p>
            <a:pPr indent="0" lvl="0" marL="0" rtl="0" algn="just">
              <a:spcBef>
                <a:spcPts val="1200"/>
              </a:spcBef>
              <a:spcAft>
                <a:spcPts val="0"/>
              </a:spcAft>
              <a:buNone/>
            </a:pPr>
            <a:r>
              <a:t/>
            </a:r>
            <a:endParaRPr/>
          </a:p>
          <a:p>
            <a:pPr indent="0" lvl="0" marL="0" rtl="0" algn="just">
              <a:spcBef>
                <a:spcPts val="1200"/>
              </a:spcBef>
              <a:spcAft>
                <a:spcPts val="0"/>
              </a:spcAft>
              <a:buNone/>
            </a:pPr>
            <a:r>
              <a:t/>
            </a:r>
            <a:endParaRPr/>
          </a:p>
          <a:p>
            <a:pPr indent="0" lvl="0" marL="0" rtl="0" algn="just">
              <a:spcBef>
                <a:spcPts val="1200"/>
              </a:spcBef>
              <a:spcAft>
                <a:spcPts val="0"/>
              </a:spcAft>
              <a:buNone/>
            </a:pPr>
            <a:r>
              <a:rPr lang="en">
                <a:solidFill>
                  <a:schemeClr val="accent1"/>
                </a:solidFill>
              </a:rPr>
              <a:t>LaserClass </a:t>
            </a:r>
            <a:r>
              <a:rPr lang="en"/>
              <a:t>Laser1, Laser2;</a:t>
            </a:r>
            <a:endParaRPr/>
          </a:p>
          <a:p>
            <a:pPr indent="0" lvl="0" marL="0" rtl="0" algn="just">
              <a:spcBef>
                <a:spcPts val="1200"/>
              </a:spcBef>
              <a:spcAft>
                <a:spcPts val="1200"/>
              </a:spcAft>
              <a:buNone/>
            </a:pPr>
            <a:r>
              <a:rPr lang="en">
                <a:solidFill>
                  <a:schemeClr val="accent1"/>
                </a:solidFill>
              </a:rPr>
              <a:t>RechargeableLaser </a:t>
            </a:r>
            <a:r>
              <a:rPr lang="en"/>
              <a:t>Laser3, Laser4;</a:t>
            </a:r>
            <a:endParaRPr/>
          </a:p>
        </p:txBody>
      </p:sp>
      <p:pic>
        <p:nvPicPr>
          <p:cNvPr id="344" name="Google Shape;344;p55"/>
          <p:cNvPicPr preferRelativeResize="0"/>
          <p:nvPr/>
        </p:nvPicPr>
        <p:blipFill rotWithShape="1">
          <a:blip r:embed="rId3">
            <a:alphaModFix/>
          </a:blip>
          <a:srcRect b="43641" l="13793" r="70222" t="35629"/>
          <a:stretch/>
        </p:blipFill>
        <p:spPr>
          <a:xfrm>
            <a:off x="1520950" y="2689025"/>
            <a:ext cx="6290801" cy="22946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56"/>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Abstraction</a:t>
            </a:r>
            <a:endParaRPr/>
          </a:p>
        </p:txBody>
      </p:sp>
      <p:sp>
        <p:nvSpPr>
          <p:cNvPr id="350" name="Google Shape;350;p56"/>
          <p:cNvSpPr txBox="1"/>
          <p:nvPr>
            <p:ph idx="1" type="body"/>
          </p:nvPr>
        </p:nvSpPr>
        <p:spPr>
          <a:xfrm>
            <a:off x="311700" y="930375"/>
            <a:ext cx="8709300" cy="5811900"/>
          </a:xfrm>
          <a:prstGeom prst="rect">
            <a:avLst/>
          </a:prstGeom>
        </p:spPr>
        <p:txBody>
          <a:bodyPr anchorCtr="0" anchor="t" bIns="91425" lIns="91425" spcFirstLastPara="1" rIns="91425" wrap="square" tIns="91425">
            <a:normAutofit/>
          </a:bodyPr>
          <a:lstStyle/>
          <a:p>
            <a:pPr indent="0" lvl="0" marL="0" rtl="0" algn="just">
              <a:spcBef>
                <a:spcPts val="0"/>
              </a:spcBef>
              <a:spcAft>
                <a:spcPts val="1200"/>
              </a:spcAft>
              <a:buNone/>
            </a:pPr>
            <a:r>
              <a:rPr lang="en"/>
              <a:t>Abstraction is the process of hiding the internal details of an application from the outer world.</a:t>
            </a:r>
            <a:endParaRPr/>
          </a:p>
        </p:txBody>
      </p:sp>
      <p:pic>
        <p:nvPicPr>
          <p:cNvPr id="351" name="Google Shape;351;p56"/>
          <p:cNvPicPr preferRelativeResize="0"/>
          <p:nvPr/>
        </p:nvPicPr>
        <p:blipFill>
          <a:blip r:embed="rId3">
            <a:alphaModFix/>
          </a:blip>
          <a:stretch>
            <a:fillRect/>
          </a:stretch>
        </p:blipFill>
        <p:spPr>
          <a:xfrm>
            <a:off x="0" y="2452900"/>
            <a:ext cx="4455620" cy="3429210"/>
          </a:xfrm>
          <a:prstGeom prst="rect">
            <a:avLst/>
          </a:prstGeom>
          <a:noFill/>
          <a:ln>
            <a:noFill/>
          </a:ln>
        </p:spPr>
      </p:pic>
      <p:pic>
        <p:nvPicPr>
          <p:cNvPr id="352" name="Google Shape;352;p56"/>
          <p:cNvPicPr preferRelativeResize="0"/>
          <p:nvPr/>
        </p:nvPicPr>
        <p:blipFill>
          <a:blip r:embed="rId4">
            <a:alphaModFix/>
          </a:blip>
          <a:stretch>
            <a:fillRect/>
          </a:stretch>
        </p:blipFill>
        <p:spPr>
          <a:xfrm>
            <a:off x="4455621" y="2452888"/>
            <a:ext cx="4587353" cy="3429212"/>
          </a:xfrm>
          <a:prstGeom prst="rect">
            <a:avLst/>
          </a:prstGeom>
          <a:noFill/>
          <a:ln>
            <a:noFill/>
          </a:ln>
        </p:spPr>
      </p:pic>
      <p:sp>
        <p:nvSpPr>
          <p:cNvPr id="353" name="Google Shape;353;p56"/>
          <p:cNvSpPr txBox="1"/>
          <p:nvPr/>
        </p:nvSpPr>
        <p:spPr>
          <a:xfrm>
            <a:off x="170550" y="6504000"/>
            <a:ext cx="8991600" cy="3540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100">
                <a:solidFill>
                  <a:schemeClr val="dk1"/>
                </a:solidFill>
              </a:rPr>
              <a:t>Figure from: https://www.digitalocean.com/community/tutorials/what-is-abstraction-in-oops</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pic>
        <p:nvPicPr>
          <p:cNvPr id="358" name="Google Shape;358;p57"/>
          <p:cNvPicPr preferRelativeResize="0"/>
          <p:nvPr/>
        </p:nvPicPr>
        <p:blipFill rotWithShape="1">
          <a:blip r:embed="rId3">
            <a:alphaModFix/>
          </a:blip>
          <a:srcRect b="0" l="20425" r="27387" t="0"/>
          <a:stretch/>
        </p:blipFill>
        <p:spPr>
          <a:xfrm>
            <a:off x="2206174" y="675675"/>
            <a:ext cx="5626075" cy="6066600"/>
          </a:xfrm>
          <a:prstGeom prst="rect">
            <a:avLst/>
          </a:prstGeom>
          <a:noFill/>
          <a:ln>
            <a:noFill/>
          </a:ln>
        </p:spPr>
      </p:pic>
      <p:sp>
        <p:nvSpPr>
          <p:cNvPr id="359" name="Google Shape;359;p57"/>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solidFill>
                  <a:schemeClr val="dk1"/>
                </a:solidFill>
              </a:rPr>
              <a:t>Polymorphism</a:t>
            </a:r>
            <a:endParaRPr/>
          </a:p>
        </p:txBody>
      </p:sp>
      <p:sp>
        <p:nvSpPr>
          <p:cNvPr id="360" name="Google Shape;360;p57"/>
          <p:cNvSpPr txBox="1"/>
          <p:nvPr>
            <p:ph idx="1" type="body"/>
          </p:nvPr>
        </p:nvSpPr>
        <p:spPr>
          <a:xfrm>
            <a:off x="311700" y="930375"/>
            <a:ext cx="8709300" cy="5811900"/>
          </a:xfrm>
          <a:prstGeom prst="rect">
            <a:avLst/>
          </a:prstGeom>
        </p:spPr>
        <p:txBody>
          <a:bodyPr anchorCtr="0" anchor="t" bIns="91425" lIns="91425" spcFirstLastPara="1" rIns="91425" wrap="square" tIns="91425">
            <a:normAutofit/>
          </a:bodyPr>
          <a:lstStyle/>
          <a:p>
            <a:pPr indent="0" lvl="0" marL="0" rtl="0" algn="just">
              <a:spcBef>
                <a:spcPts val="0"/>
              </a:spcBef>
              <a:spcAft>
                <a:spcPts val="1200"/>
              </a:spcAft>
              <a:buNone/>
            </a:pPr>
            <a:r>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58"/>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Encapsulation</a:t>
            </a:r>
            <a:endParaRPr/>
          </a:p>
        </p:txBody>
      </p:sp>
      <p:pic>
        <p:nvPicPr>
          <p:cNvPr id="366" name="Google Shape;366;p58"/>
          <p:cNvPicPr preferRelativeResize="0"/>
          <p:nvPr/>
        </p:nvPicPr>
        <p:blipFill rotWithShape="1">
          <a:blip r:embed="rId3">
            <a:alphaModFix/>
          </a:blip>
          <a:srcRect b="15304" l="15873" r="61375" t="18324"/>
          <a:stretch/>
        </p:blipFill>
        <p:spPr>
          <a:xfrm>
            <a:off x="1330325" y="1306300"/>
            <a:ext cx="6483338" cy="531967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59"/>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Encapsulation</a:t>
            </a:r>
            <a:endParaRPr/>
          </a:p>
        </p:txBody>
      </p:sp>
      <p:pic>
        <p:nvPicPr>
          <p:cNvPr id="372" name="Google Shape;372;p59"/>
          <p:cNvPicPr preferRelativeResize="0"/>
          <p:nvPr/>
        </p:nvPicPr>
        <p:blipFill rotWithShape="1">
          <a:blip r:embed="rId3">
            <a:alphaModFix/>
          </a:blip>
          <a:srcRect b="5711" l="6536" r="6544" t="14854"/>
          <a:stretch/>
        </p:blipFill>
        <p:spPr>
          <a:xfrm>
            <a:off x="0" y="1158325"/>
            <a:ext cx="9144003" cy="4541341"/>
          </a:xfrm>
          <a:prstGeom prst="rect">
            <a:avLst/>
          </a:prstGeom>
          <a:noFill/>
          <a:ln>
            <a:noFill/>
          </a:ln>
        </p:spPr>
      </p:pic>
      <p:sp>
        <p:nvSpPr>
          <p:cNvPr id="373" name="Google Shape;373;p59"/>
          <p:cNvSpPr txBox="1"/>
          <p:nvPr/>
        </p:nvSpPr>
        <p:spPr>
          <a:xfrm>
            <a:off x="152400" y="6504000"/>
            <a:ext cx="8991600" cy="3540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100">
                <a:solidFill>
                  <a:schemeClr val="dk1"/>
                </a:solidFill>
              </a:rPr>
              <a:t>Figure from https://www.crio.do/blog/encapsulation-in-java/</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60"/>
          <p:cNvSpPr txBox="1"/>
          <p:nvPr>
            <p:ph type="title"/>
          </p:nvPr>
        </p:nvSpPr>
        <p:spPr>
          <a:xfrm>
            <a:off x="311700" y="166867"/>
            <a:ext cx="8520600" cy="763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Research Themes</a:t>
            </a:r>
            <a:endParaRPr/>
          </a:p>
        </p:txBody>
      </p:sp>
      <p:sp>
        <p:nvSpPr>
          <p:cNvPr id="379" name="Google Shape;379;p60"/>
          <p:cNvSpPr txBox="1"/>
          <p:nvPr>
            <p:ph idx="1" type="body"/>
          </p:nvPr>
        </p:nvSpPr>
        <p:spPr>
          <a:xfrm>
            <a:off x="311700" y="930375"/>
            <a:ext cx="8709300" cy="5811900"/>
          </a:xfrm>
          <a:prstGeom prst="rect">
            <a:avLst/>
          </a:prstGeom>
        </p:spPr>
        <p:txBody>
          <a:bodyPr anchorCtr="0" anchor="t" bIns="91425" lIns="91425" spcFirstLastPara="1" rIns="91425" wrap="square" tIns="91425">
            <a:normAutofit/>
          </a:bodyPr>
          <a:lstStyle/>
          <a:p>
            <a:pPr indent="-393700" lvl="0" marL="457200" rtl="0" algn="just">
              <a:spcBef>
                <a:spcPts val="0"/>
              </a:spcBef>
              <a:spcAft>
                <a:spcPts val="0"/>
              </a:spcAft>
              <a:buSzPts val="2600"/>
              <a:buAutoNum type="arabicPeriod"/>
            </a:pPr>
            <a:r>
              <a:rPr lang="en"/>
              <a:t>Debugging.</a:t>
            </a:r>
            <a:endParaRPr/>
          </a:p>
          <a:p>
            <a:pPr indent="-393700" lvl="0" marL="457200" rtl="0" algn="just">
              <a:spcBef>
                <a:spcPts val="0"/>
              </a:spcBef>
              <a:spcAft>
                <a:spcPts val="0"/>
              </a:spcAft>
              <a:buSzPts val="2600"/>
              <a:buAutoNum type="arabicPeriod"/>
            </a:pPr>
            <a:r>
              <a:rPr lang="en"/>
              <a:t>IDEs and Coding Environments.</a:t>
            </a:r>
            <a:endParaRPr/>
          </a:p>
          <a:p>
            <a:pPr indent="-393700" lvl="0" marL="457200" rtl="0" algn="just">
              <a:spcBef>
                <a:spcPts val="0"/>
              </a:spcBef>
              <a:spcAft>
                <a:spcPts val="0"/>
              </a:spcAft>
              <a:buSzPts val="2600"/>
              <a:buAutoNum type="arabicPeriod"/>
            </a:pPr>
            <a:r>
              <a:rPr lang="en"/>
              <a:t>Probabilistic programming</a:t>
            </a:r>
            <a:endParaRPr/>
          </a:p>
          <a:p>
            <a:pPr indent="-393700" lvl="0" marL="457200" rtl="0" algn="just">
              <a:spcBef>
                <a:spcPts val="0"/>
              </a:spcBef>
              <a:spcAft>
                <a:spcPts val="0"/>
              </a:spcAft>
              <a:buSzPts val="2600"/>
              <a:buAutoNum type="arabicPeriod"/>
            </a:pPr>
            <a:r>
              <a:rPr lang="en"/>
              <a:t>Design patterns</a:t>
            </a:r>
            <a:endParaRPr/>
          </a:p>
          <a:p>
            <a:pPr indent="-393700" lvl="0" marL="457200" rtl="0" algn="just">
              <a:spcBef>
                <a:spcPts val="0"/>
              </a:spcBef>
              <a:spcAft>
                <a:spcPts val="0"/>
              </a:spcAft>
              <a:buSzPts val="2600"/>
              <a:buAutoNum type="arabicPeriod"/>
            </a:pPr>
            <a:r>
              <a:rPr lang="en"/>
              <a:t>Concepts and paradigms of object-oriented programming</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61"/>
          <p:cNvSpPr txBox="1"/>
          <p:nvPr>
            <p:ph type="ctrTitle"/>
          </p:nvPr>
        </p:nvSpPr>
        <p:spPr>
          <a:xfrm>
            <a:off x="311708" y="992767"/>
            <a:ext cx="8520600" cy="27369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COM1013</a:t>
            </a:r>
            <a:endParaRPr/>
          </a:p>
          <a:p>
            <a:pPr indent="0" lvl="0" marL="0" rtl="0" algn="ctr">
              <a:spcBef>
                <a:spcPts val="0"/>
              </a:spcBef>
              <a:spcAft>
                <a:spcPts val="0"/>
              </a:spcAft>
              <a:buNone/>
            </a:pPr>
            <a:r>
              <a:rPr lang="en"/>
              <a:t>INTRODUCTION TO COMPUTER SCIENCE</a:t>
            </a:r>
            <a:endParaRPr/>
          </a:p>
        </p:txBody>
      </p:sp>
      <p:sp>
        <p:nvSpPr>
          <p:cNvPr id="385" name="Google Shape;385;p61"/>
          <p:cNvSpPr txBox="1"/>
          <p:nvPr>
            <p:ph idx="1" type="subTitle"/>
          </p:nvPr>
        </p:nvSpPr>
        <p:spPr>
          <a:xfrm>
            <a:off x="311700" y="3778800"/>
            <a:ext cx="8520600" cy="27369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Lecturer: Begüm MUTLU BİLGE, PhD</a:t>
            </a:r>
            <a:endParaRPr/>
          </a:p>
          <a:p>
            <a:pPr indent="0" lvl="0" marL="0" rtl="0" algn="ctr">
              <a:spcBef>
                <a:spcPts val="0"/>
              </a:spcBef>
              <a:spcAft>
                <a:spcPts val="0"/>
              </a:spcAft>
              <a:buNone/>
            </a:pPr>
            <a:r>
              <a:t/>
            </a:r>
            <a:endParaRPr/>
          </a:p>
          <a:p>
            <a:pPr indent="0" lvl="0" marL="0" rtl="0" algn="l">
              <a:spcBef>
                <a:spcPts val="0"/>
              </a:spcBef>
              <a:spcAft>
                <a:spcPts val="0"/>
              </a:spcAft>
              <a:buNone/>
            </a:pPr>
            <a:r>
              <a:rPr lang="en" sz="2200" u="sng">
                <a:solidFill>
                  <a:schemeClr val="hlink"/>
                </a:solidFill>
                <a:hlinkClick r:id="rId3"/>
              </a:rPr>
              <a:t>begummutlubilge+com1013@gmail.com</a:t>
            </a:r>
            <a:r>
              <a:rPr lang="en" sz="2200"/>
              <a:t> (recommended)</a:t>
            </a:r>
            <a:endParaRPr sz="2200"/>
          </a:p>
          <a:p>
            <a:pPr indent="0" lvl="0" marL="0" rtl="0" algn="l">
              <a:spcBef>
                <a:spcPts val="0"/>
              </a:spcBef>
              <a:spcAft>
                <a:spcPts val="0"/>
              </a:spcAft>
              <a:buNone/>
            </a:pPr>
            <a:r>
              <a:rPr lang="en" sz="2200" u="sng">
                <a:solidFill>
                  <a:schemeClr val="hlink"/>
                </a:solidFill>
                <a:hlinkClick r:id="rId4"/>
              </a:rPr>
              <a:t>bmbilge@ankara.edu.tr</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OM1013">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