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6858000" cx="9144000"/>
  <p:notesSz cx="6858000" cy="9144000"/>
  <p:embeddedFontLst>
    <p:embeddedFont>
      <p:font typeface="PT Sans Narrow"/>
      <p:regular r:id="rId43"/>
      <p:bold r:id="rId44"/>
    </p:embeddedFont>
    <p:embeddedFont>
      <p:font typeface="Open Sans Light"/>
      <p:regular r:id="rId45"/>
      <p:bold r:id="rId46"/>
      <p:italic r:id="rId47"/>
      <p:boldItalic r:id="rId48"/>
    </p:embeddedFont>
    <p:embeddedFont>
      <p:font typeface="Open Sans"/>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PTSansNarrow-bold.fntdata"/><Relationship Id="rId43" Type="http://schemas.openxmlformats.org/officeDocument/2006/relationships/font" Target="fonts/PTSansNarrow-regular.fntdata"/><Relationship Id="rId46" Type="http://schemas.openxmlformats.org/officeDocument/2006/relationships/font" Target="fonts/OpenSansLight-bold.fntdata"/><Relationship Id="rId45" Type="http://schemas.openxmlformats.org/officeDocument/2006/relationships/font" Target="fonts/OpenSansLigh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OpenSansLight-boldItalic.fntdata"/><Relationship Id="rId47" Type="http://schemas.openxmlformats.org/officeDocument/2006/relationships/font" Target="fonts/OpenSansLight-italic.fntdata"/><Relationship Id="rId49" Type="http://schemas.openxmlformats.org/officeDocument/2006/relationships/font" Target="fonts/OpenSans-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OpenSans-italic.fntdata"/><Relationship Id="rId50" Type="http://schemas.openxmlformats.org/officeDocument/2006/relationships/font" Target="fonts/OpenSans-bold.fntdata"/><Relationship Id="rId52" Type="http://schemas.openxmlformats.org/officeDocument/2006/relationships/font" Target="fonts/Open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7936fd2991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7936fd29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7b4a5b18d2_0_2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7b4a5b18d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Today’s technology is capable of storing extremely large amounts of data, but</a:t>
            </a:r>
            <a:endParaRPr/>
          </a:p>
          <a:p>
            <a:pPr indent="0" lvl="0" marL="0" rtl="0" algn="l">
              <a:spcBef>
                <a:spcPts val="0"/>
              </a:spcBef>
              <a:spcAft>
                <a:spcPts val="0"/>
              </a:spcAft>
              <a:buNone/>
            </a:pPr>
            <a:r>
              <a:rPr lang="en"/>
              <a:t>such data collections are useless unless we are able to extract those particular</a:t>
            </a:r>
            <a:endParaRPr/>
          </a:p>
          <a:p>
            <a:pPr indent="0" lvl="0" marL="0" rtl="0" algn="l">
              <a:spcBef>
                <a:spcPts val="0"/>
              </a:spcBef>
              <a:spcAft>
                <a:spcPts val="0"/>
              </a:spcAft>
              <a:buNone/>
            </a:pPr>
            <a:r>
              <a:rPr lang="en"/>
              <a:t>items of information that are pertinent to the task at hand. In this chapter we will</a:t>
            </a:r>
            <a:endParaRPr/>
          </a:p>
          <a:p>
            <a:pPr indent="0" lvl="0" marL="0" rtl="0" algn="l">
              <a:spcBef>
                <a:spcPts val="0"/>
              </a:spcBef>
              <a:spcAft>
                <a:spcPts val="0"/>
              </a:spcAft>
              <a:buNone/>
            </a:pPr>
            <a:r>
              <a:rPr lang="en"/>
              <a:t>study database systems and learn how these systems apply abstraction to convert large data conglomerates into useful information sources. As a related topic,</a:t>
            </a:r>
            <a:endParaRPr/>
          </a:p>
          <a:p>
            <a:pPr indent="0" lvl="0" marL="0" rtl="0" algn="l">
              <a:spcBef>
                <a:spcPts val="0"/>
              </a:spcBef>
              <a:spcAft>
                <a:spcPts val="0"/>
              </a:spcAft>
              <a:buNone/>
            </a:pPr>
            <a:r>
              <a:rPr lang="en"/>
              <a:t>we will investigate the rapidly expanding field of data mining, whose goal is to</a:t>
            </a:r>
            <a:endParaRPr/>
          </a:p>
          <a:p>
            <a:pPr indent="0" lvl="0" marL="0" rtl="0" algn="l">
              <a:spcBef>
                <a:spcPts val="0"/>
              </a:spcBef>
              <a:spcAft>
                <a:spcPts val="0"/>
              </a:spcAft>
              <a:buNone/>
            </a:pPr>
            <a:r>
              <a:rPr lang="en"/>
              <a:t>develop techniques for identifying and exploring patterns within data collections.</a:t>
            </a:r>
            <a:endParaRPr/>
          </a:p>
          <a:p>
            <a:pPr indent="0" lvl="0" marL="0" rtl="0" algn="l">
              <a:spcBef>
                <a:spcPts val="0"/>
              </a:spcBef>
              <a:spcAft>
                <a:spcPts val="0"/>
              </a:spcAft>
              <a:buNone/>
            </a:pPr>
            <a:r>
              <a:rPr lang="en"/>
              <a:t>We will also examine the principles of traditional file structures, which provide</a:t>
            </a:r>
            <a:endParaRPr/>
          </a:p>
          <a:p>
            <a:pPr indent="0" lvl="0" marL="0" rtl="0" algn="l">
              <a:spcBef>
                <a:spcPts val="0"/>
              </a:spcBef>
              <a:spcAft>
                <a:spcPts val="0"/>
              </a:spcAft>
              <a:buNone/>
            </a:pPr>
            <a:r>
              <a:rPr lang="en"/>
              <a:t>the underpinnings for today’s database and data mining systems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8317b2e5b3_0_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8317b2e5b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term database refers to a collection of data that is multidimensional in the</a:t>
            </a:r>
            <a:endParaRPr/>
          </a:p>
          <a:p>
            <a:pPr indent="0" lvl="0" marL="0" rtl="0" algn="l">
              <a:spcBef>
                <a:spcPts val="0"/>
              </a:spcBef>
              <a:spcAft>
                <a:spcPts val="0"/>
              </a:spcAft>
              <a:buNone/>
            </a:pPr>
            <a:r>
              <a:rPr lang="en"/>
              <a:t>sense that internal links between its entries make the information accessible</a:t>
            </a:r>
            <a:endParaRPr/>
          </a:p>
          <a:p>
            <a:pPr indent="0" lvl="0" marL="0" rtl="0" algn="l">
              <a:spcBef>
                <a:spcPts val="0"/>
              </a:spcBef>
              <a:spcAft>
                <a:spcPts val="0"/>
              </a:spcAft>
              <a:buNone/>
            </a:pPr>
            <a:r>
              <a:rPr lang="en"/>
              <a:t>from a variety of perspectives. </a:t>
            </a:r>
            <a:endParaRPr/>
          </a:p>
          <a:p>
            <a:pPr indent="0" lvl="0" marL="0" rtl="0" algn="l">
              <a:spcBef>
                <a:spcPts val="0"/>
              </a:spcBef>
              <a:spcAft>
                <a:spcPts val="0"/>
              </a:spcAft>
              <a:buNone/>
            </a:pPr>
            <a:r>
              <a:rPr lang="en"/>
              <a:t>This is in contrast to a traditional file system (Section 9.5), sometimes called a flat file, which is a one-dimensional storage system, meaning that it presents its information from a single point of view.</a:t>
            </a:r>
            <a:endParaRPr/>
          </a:p>
          <a:p>
            <a:pPr indent="0" lvl="0" marL="0" rtl="0" algn="l">
              <a:spcBef>
                <a:spcPts val="0"/>
              </a:spcBef>
              <a:spcAft>
                <a:spcPts val="0"/>
              </a:spcAft>
              <a:buNone/>
            </a:pPr>
            <a:r>
              <a:rPr lang="en"/>
              <a:t>Whereas a flat file containing information about composers and their compositions might provide a list of compositions arranged by composer, a database might present all the works by a single composer, all the composers who wrote</a:t>
            </a:r>
            <a:endParaRPr/>
          </a:p>
          <a:p>
            <a:pPr indent="0" lvl="0" marL="0" rtl="0" algn="l">
              <a:spcBef>
                <a:spcPts val="0"/>
              </a:spcBef>
              <a:spcAft>
                <a:spcPts val="0"/>
              </a:spcAft>
              <a:buNone/>
            </a:pPr>
            <a:r>
              <a:rPr lang="en"/>
              <a:t>a particular type of music, and perhaps the composers who wrote variations of another composer’s work.</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8317b2e5b3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8317b2e5b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Historically, as computing machinery found broader uses in information management, each application tended to be implemented as a separate system with its own collection of data. Payroll was processed using the payroll file, the personnel department maintained its own employee records, and inventory was managed via an inventory file. </a:t>
            </a:r>
            <a:endParaRPr/>
          </a:p>
          <a:p>
            <a:pPr indent="0" lvl="0" marL="0" rtl="0" algn="l">
              <a:spcBef>
                <a:spcPts val="0"/>
              </a:spcBef>
              <a:spcAft>
                <a:spcPts val="0"/>
              </a:spcAft>
              <a:buNone/>
            </a:pPr>
            <a:r>
              <a:rPr lang="en"/>
              <a:t>This meant that much of the information required by an organization was duplicated throughout the company, while many different but</a:t>
            </a:r>
            <a:endParaRPr/>
          </a:p>
          <a:p>
            <a:pPr indent="0" lvl="0" marL="0" rtl="0" algn="l">
              <a:spcBef>
                <a:spcPts val="0"/>
              </a:spcBef>
              <a:spcAft>
                <a:spcPts val="0"/>
              </a:spcAft>
              <a:buNone/>
            </a:pPr>
            <a:r>
              <a:rPr lang="en"/>
              <a:t>related items were stored in separate systems. </a:t>
            </a:r>
            <a:endParaRPr/>
          </a:p>
          <a:p>
            <a:pPr indent="0" lvl="0" marL="0" rtl="0" algn="l">
              <a:spcBef>
                <a:spcPts val="0"/>
              </a:spcBef>
              <a:spcAft>
                <a:spcPts val="0"/>
              </a:spcAft>
              <a:buNone/>
            </a:pPr>
            <a:r>
              <a:rPr lang="en"/>
              <a:t>In this setting, database systems emerged as a means of integrating the information stored and maintained by a particular organization (Figure 9.1). With such a system, the same sales data could be used to produce restocking orders; create reports on market trends, direct advertisements, and product announcements to customers who are most likely to respond favorably to such information; and generate bonus checks for members of the sales force.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8317b2e5b3_0_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8317b2e5b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Such integrated pools of information provided a valuable resource with which management decisions could be made, assuming the information could</a:t>
            </a:r>
            <a:endParaRPr/>
          </a:p>
          <a:p>
            <a:pPr indent="0" lvl="0" marL="0" rtl="0" algn="l">
              <a:spcBef>
                <a:spcPts val="0"/>
              </a:spcBef>
              <a:spcAft>
                <a:spcPts val="0"/>
              </a:spcAft>
              <a:buNone/>
            </a:pPr>
            <a:r>
              <a:rPr lang="en"/>
              <a:t>be accessed in a meaningful way. In turn, database research focused on developing techniques by which the information in a database could be brought to the decision-making process. Much progress has been made in this regard. Today, database technology, combined with data mining techniques, is an important management tool, allowing the management of an organization to extract pertinent information from enormous amounts of data covering all aspects of the organization and its environment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8317b2e5b3_0_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8317b2e5b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Moreover, database systems have become the underlying technology that supports many of the more popular sites on the World Wide Web. The underlying theme of sites such as Google, eBay, and Amazon is to provide an interface between clients and databases. To respond to a client’s request, the server interrogates a database, organizes the results in the form of a Web page, and sends that page to the client. Such Web interfaces have popularized a new role for database technology in which a database is no longer a means of storing a company’s records but, instead, is the company’s product. Indeed, by combining database technology with Web interfaces, the Internet has become a major worldwide information source.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8317b2e5b3_0_2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8317b2e5b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8317b2e5b3_0_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8317b2e5b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provide different users access to different information within a database, database systems often rely on schemas and subschemas. </a:t>
            </a:r>
            <a:endParaRPr/>
          </a:p>
          <a:p>
            <a:pPr indent="0" lvl="0" marL="0" rtl="0" algn="l">
              <a:spcBef>
                <a:spcPts val="0"/>
              </a:spcBef>
              <a:spcAft>
                <a:spcPts val="0"/>
              </a:spcAft>
              <a:buNone/>
            </a:pPr>
            <a:r>
              <a:rPr lang="en"/>
              <a:t>A schema is a description of the entire database structure that is used by the database software to maintain the database. </a:t>
            </a:r>
            <a:endParaRPr/>
          </a:p>
          <a:p>
            <a:pPr indent="0" lvl="0" marL="0" rtl="0" algn="l">
              <a:spcBef>
                <a:spcPts val="0"/>
              </a:spcBef>
              <a:spcAft>
                <a:spcPts val="0"/>
              </a:spcAft>
              <a:buNone/>
            </a:pPr>
            <a:r>
              <a:rPr lang="en"/>
              <a:t>A subschema is a description of only that portion of the database pertinent to a particular user’s needs.</a:t>
            </a:r>
            <a:endParaRPr/>
          </a:p>
          <a:p>
            <a:pPr indent="0" lvl="0" marL="0" rtl="0" algn="l">
              <a:spcBef>
                <a:spcPts val="0"/>
              </a:spcBef>
              <a:spcAft>
                <a:spcPts val="0"/>
              </a:spcAft>
              <a:buNone/>
            </a:pPr>
            <a:r>
              <a:rPr lang="en" sz="1500">
                <a:solidFill>
                  <a:srgbClr val="202124"/>
                </a:solidFill>
                <a:highlight>
                  <a:srgbClr val="FFFFFF"/>
                </a:highlight>
              </a:rPr>
              <a:t>A subschema provides a view of the database as seen by an application program</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8317b2e5b3_0_3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8317b2e5b3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typical database application involves multiple software layers, which we will group into two major layers—an application layer and a database management layer.</a:t>
            </a:r>
            <a:endParaRPr/>
          </a:p>
          <a:p>
            <a:pPr indent="0" lvl="0" marL="0" rtl="0" algn="l">
              <a:spcBef>
                <a:spcPts val="0"/>
              </a:spcBef>
              <a:spcAft>
                <a:spcPts val="0"/>
              </a:spcAft>
              <a:buNone/>
            </a:pPr>
            <a:r>
              <a:rPr lang="en"/>
              <a:t>The application software handles the communication with the user of the database and may be quite complex, as exemplified by applications in which users access a database by means of a website. In that case the entire application layer consists of clients throughout the Internet and a server that uses the database to fill the requests from the clients.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Note that the application software does not directly manipulate the database. The actual manipulation of the database is accomplished by the database management system (DBMS). Once the application software has determined what action the user is requesting, it uses the DBMS as an abstract tool to obtain the results. If the request is to add or delete data, it is the DBMS that actually alters the database. If the request is to retrieve information, it is the DBMS that performs the required searches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8317b2e5b3_0_4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8317b2e5b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8317b2e5b3_0_5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8317b2e5b3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want to include information about the jobs held by the employees. </a:t>
            </a:r>
            <a:endParaRPr/>
          </a:p>
          <a:p>
            <a:pPr indent="0" lvl="0" marL="0" rtl="0" algn="l">
              <a:spcBef>
                <a:spcPts val="0"/>
              </a:spcBef>
              <a:spcAft>
                <a:spcPts val="0"/>
              </a:spcAft>
              <a:buNone/>
            </a:pPr>
            <a:r>
              <a:rPr lang="en"/>
              <a:t>We might want to include a job history associated with each employee that consists of such attributes as </a:t>
            </a:r>
            <a:r>
              <a:rPr b="1" lang="en"/>
              <a:t>job title</a:t>
            </a:r>
            <a:r>
              <a:rPr lang="en"/>
              <a:t> (secretary, office manager, floor supervisor), a</a:t>
            </a:r>
            <a:r>
              <a:rPr b="1" lang="en"/>
              <a:t> job identification code</a:t>
            </a:r>
            <a:r>
              <a:rPr lang="en"/>
              <a:t> (unique to each job), the </a:t>
            </a:r>
            <a:r>
              <a:rPr b="1" lang="en"/>
              <a:t>skill code associated with each job</a:t>
            </a:r>
            <a:r>
              <a:rPr lang="en"/>
              <a:t>, the department in which the job exists, and the period during which the employee held the job in terms of a starting date and termination date.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use an asterisk as the termination date if the job represents the employee’s current position.)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8317b2e5b3_0_5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8317b2e5b3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approach to this problem is to extend the relation (in prev figure) to include these attributes as additional columns in the table, as shown in this figure.</a:t>
            </a:r>
            <a:endParaRPr/>
          </a:p>
          <a:p>
            <a:pPr indent="0" lvl="0" marL="0" rtl="0" algn="l">
              <a:spcBef>
                <a:spcPts val="0"/>
              </a:spcBef>
              <a:spcAft>
                <a:spcPts val="0"/>
              </a:spcAft>
              <a:buNone/>
            </a:pPr>
            <a:r>
              <a:rPr lang="en"/>
              <a:t> several problems. One is a lack of efficiency due to redundancy. The relation no longer contains one tuple for each employee but rather one tuple for each assignment of an employee to a job. If an employee has advanced in the company through a sequence of several jobs, several tuples in the new relation must contain the same information about the employee (name, address, identification number, and Social Security number). For example, the personal information about Baker and Smith is repeated because they have held more than one job. Moreover, when a particular position has been held by numerous employees, the department associated with that job along with the appropriate skill code must be repeated in each tuple representing an assignment of the job. For example, the description of the floor manager job is duplicated because more than one employee has held this position. Another, perhaps more serious, problem with our extended relation surfaces when we consider deleting information from the database. Suppose for example that Joe E. Baker is the only employee to hold the job identified as D7. If he were to leave the company and be deleted from the database represented in Figure 9.4, we would lose the information about job D7. After all, the only tuple containing the fact that job D7 requires a skill level of K2 is the tuple relating to Joe Baker. You might argue that the ability to erase only a portion of a tuple could solve the problem, but this would in turn introduce other complications. For instance, should the information relating to job F5 also be retained in a partial tuple, or does this information reside elsewhere in the relation? Moreover, the temptation to use partial tuples is a strong indication that the design of the database can be improved. The cause of</a:t>
            </a:r>
            <a:r>
              <a:rPr b="1" lang="en"/>
              <a:t> all these problems is that we have combined more than one concept in a single relation</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proposed, the extended relation in Figure 9.4 contains information dealing directly with employees (name, identification number, address, Social Security number), information about the jobs available in the company (job identification, job title, department, skill code), and information regarding the relationship between employees and jobs (start date, termination date).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8317b2e5b3_0_6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8317b2e5b3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 the basis of this observation, we can solve our problems by redesigning the system using three relations—one for each of the preceding categories. We can keep the original relation in Figure 9.3 (which we now call the EMPLOYEE relation) and insert the additional information in the form of the two new relations called JOB and ASSIGNMENT, which produces the database in Figure 9.5.</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8317b2e5b3_0_7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8317b2e5b3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database consisting of these three relations contains the pertinent information about employees in the EMPLOYEE relation, about available jobs in the JOB relation, and about job history in the ASSIGNMENT relation. Additional information is implicitly available by combining the information from different relations. For instance, if we know an employee’s identification number, we can</a:t>
            </a:r>
            <a:endParaRPr/>
          </a:p>
          <a:p>
            <a:pPr indent="0" lvl="0" marL="0" rtl="0" algn="l">
              <a:spcBef>
                <a:spcPts val="0"/>
              </a:spcBef>
              <a:spcAft>
                <a:spcPts val="0"/>
              </a:spcAft>
              <a:buNone/>
            </a:pPr>
            <a:r>
              <a:rPr lang="en"/>
              <a:t>find the departments in which that employee has worked by first finding all the</a:t>
            </a:r>
            <a:endParaRPr/>
          </a:p>
          <a:p>
            <a:pPr indent="0" lvl="0" marL="0" rtl="0" algn="l">
              <a:spcBef>
                <a:spcPts val="0"/>
              </a:spcBef>
              <a:spcAft>
                <a:spcPts val="0"/>
              </a:spcAft>
              <a:buNone/>
            </a:pPr>
            <a:r>
              <a:rPr lang="en"/>
              <a:t>jobs that employee has held using the ASSIGNMENT relation and then finding the</a:t>
            </a:r>
            <a:endParaRPr/>
          </a:p>
          <a:p>
            <a:pPr indent="0" lvl="0" marL="0" rtl="0" algn="l">
              <a:spcBef>
                <a:spcPts val="0"/>
              </a:spcBef>
              <a:spcAft>
                <a:spcPts val="0"/>
              </a:spcAft>
              <a:buNone/>
            </a:pPr>
            <a:r>
              <a:rPr lang="en"/>
              <a:t>departments associated with those jobs by means of the JOB relation (Figure 9.6).</a:t>
            </a:r>
            <a:endParaRPr/>
          </a:p>
          <a:p>
            <a:pPr indent="0" lvl="0" marL="0" rtl="0" algn="l">
              <a:spcBef>
                <a:spcPts val="0"/>
              </a:spcBef>
              <a:spcAft>
                <a:spcPts val="0"/>
              </a:spcAft>
              <a:buNone/>
            </a:pPr>
            <a:r>
              <a:rPr lang="en"/>
              <a:t>Through processes such as these, any information that could be obtained from</a:t>
            </a:r>
            <a:endParaRPr/>
          </a:p>
          <a:p>
            <a:pPr indent="0" lvl="0" marL="0" rtl="0" algn="l">
              <a:spcBef>
                <a:spcPts val="0"/>
              </a:spcBef>
              <a:spcAft>
                <a:spcPts val="0"/>
              </a:spcAft>
              <a:buNone/>
            </a:pPr>
            <a:r>
              <a:rPr lang="en"/>
              <a:t>the single large relation can be obtained from the three smaller relations without</a:t>
            </a:r>
            <a:endParaRPr/>
          </a:p>
          <a:p>
            <a:pPr indent="0" lvl="0" marL="0" rtl="0" algn="l">
              <a:spcBef>
                <a:spcPts val="0"/>
              </a:spcBef>
              <a:spcAft>
                <a:spcPts val="0"/>
              </a:spcAft>
              <a:buNone/>
            </a:pPr>
            <a:r>
              <a:rPr lang="en"/>
              <a:t>the problems previously cited.</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8317b2e5b3_0_8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8317b2e5b3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Unfortunately, dividing information into various relations is not always as trouble-free as in the preceding example. </a:t>
            </a:r>
            <a:endParaRPr/>
          </a:p>
          <a:p>
            <a:pPr indent="0" lvl="0" marL="0" rtl="0" algn="l">
              <a:spcBef>
                <a:spcPts val="0"/>
              </a:spcBef>
              <a:spcAft>
                <a:spcPts val="0"/>
              </a:spcAft>
              <a:buNone/>
            </a:pPr>
            <a:r>
              <a:rPr lang="en"/>
              <a:t>For instance, compare the original relation in Figure 9.7, with attributes EmplId, JobTitle, and Dept, to the proposed decomposition into two relations. </a:t>
            </a:r>
            <a:endParaRPr/>
          </a:p>
          <a:p>
            <a:pPr indent="0" lvl="0" marL="0" rtl="0" algn="l">
              <a:spcBef>
                <a:spcPts val="0"/>
              </a:spcBef>
              <a:spcAft>
                <a:spcPts val="0"/>
              </a:spcAft>
              <a:buNone/>
            </a:pPr>
            <a:r>
              <a:rPr lang="en"/>
              <a:t>At first glance, the two-relation system might appear to contain the same information as the single-relation system, but, in fact, it does not. </a:t>
            </a:r>
            <a:endParaRPr/>
          </a:p>
          <a:p>
            <a:pPr indent="0" lvl="0" marL="0" rtl="0" algn="l">
              <a:spcBef>
                <a:spcPts val="0"/>
              </a:spcBef>
              <a:spcAft>
                <a:spcPts val="0"/>
              </a:spcAft>
              <a:buNone/>
            </a:pPr>
            <a:r>
              <a:rPr lang="en"/>
              <a:t>Consider for example the problem of finding the department in which a given employee works. </a:t>
            </a:r>
            <a:endParaRPr/>
          </a:p>
          <a:p>
            <a:pPr indent="0" lvl="0" marL="0" rtl="0" algn="l">
              <a:spcBef>
                <a:spcPts val="0"/>
              </a:spcBef>
              <a:spcAft>
                <a:spcPts val="0"/>
              </a:spcAft>
              <a:buNone/>
            </a:pPr>
            <a:r>
              <a:rPr lang="en"/>
              <a:t>This is easily done in the single-relation system by interrogating the tuple containing the employee identification number of the target employee and extracting the corresponding department. However, in the two-relation system, the desired information is not necessarily available. We can find the job title of the target employee and a department having such a job but this does not necessarily mean that the target employee works in that particular department, because several departments might have jobs with the same title.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8317b2e5b3_0_8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8317b2e5b3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see, then, that sometimes dividing a relation into smaller relations causes the loss of information, and sometimes it does not. (The latter is called a lossless decomposition—or sometimes a nonloss decomposition.) </a:t>
            </a:r>
            <a:endParaRPr/>
          </a:p>
          <a:p>
            <a:pPr indent="0" lvl="0" marL="0" rtl="0" algn="l">
              <a:spcBef>
                <a:spcPts val="0"/>
              </a:spcBef>
              <a:spcAft>
                <a:spcPts val="0"/>
              </a:spcAft>
              <a:buNone/>
            </a:pPr>
            <a:r>
              <a:rPr lang="en"/>
              <a:t>Such relational characteristics are important design considerations. </a:t>
            </a:r>
            <a:endParaRPr/>
          </a:p>
          <a:p>
            <a:pPr indent="0" lvl="0" marL="0" rtl="0" algn="l">
              <a:spcBef>
                <a:spcPts val="0"/>
              </a:spcBef>
              <a:spcAft>
                <a:spcPts val="0"/>
              </a:spcAft>
              <a:buNone/>
            </a:pPr>
            <a:r>
              <a:rPr lang="en"/>
              <a:t>The goal is to identify the relational characteristics that can lead to problems in database design and find ways to reorganize those relations to remove these problematic characteristics.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8317b2e5b3_0_9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8317b2e5b3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8317b2e5b3_0_9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8317b2e5b3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8317b2e5b3_0_10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8317b2e5b3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8317b2e5b3_0_10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8317b2e5b3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87fa771425_0_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87fa77142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87fa771425_0_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87fa77142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87fa771425_0_4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87fa771425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87fa771425_0_2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87fa77142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87fa771425_0_3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87fa771425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87fa771425_0_3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87fa77142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87fa771425_0_5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87fa771425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87fa771425_0_6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87fa771425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87fa771425_0_6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87fa771425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example, one could construct a simple employee file by agreeing to enter each employee</a:t>
            </a:r>
            <a:endParaRPr/>
          </a:p>
          <a:p>
            <a:pPr indent="0" lvl="0" marL="0" rtl="0" algn="l">
              <a:spcBef>
                <a:spcPts val="0"/>
              </a:spcBef>
              <a:spcAft>
                <a:spcPts val="0"/>
              </a:spcAft>
              <a:buNone/>
            </a:pPr>
            <a:r>
              <a:rPr lang="en"/>
              <a:t>record as a string of 31 characters, consisting of a field of 25 characters containing the employee’s name (filled with enough blanks to complete the 25-character</a:t>
            </a:r>
            <a:endParaRPr/>
          </a:p>
          <a:p>
            <a:pPr indent="0" lvl="0" marL="0" rtl="0" algn="l">
              <a:spcBef>
                <a:spcPts val="0"/>
              </a:spcBef>
              <a:spcAft>
                <a:spcPts val="0"/>
              </a:spcAft>
              <a:buNone/>
            </a:pPr>
            <a:r>
              <a:rPr lang="en"/>
              <a:t>field), followed by a field of 6 characters representing the employee’s identification</a:t>
            </a:r>
            <a:endParaRPr/>
          </a:p>
          <a:p>
            <a:pPr indent="0" lvl="0" marL="0" rtl="0" algn="l">
              <a:spcBef>
                <a:spcPts val="0"/>
              </a:spcBef>
              <a:spcAft>
                <a:spcPts val="0"/>
              </a:spcAft>
              <a:buNone/>
            </a:pPr>
            <a:r>
              <a:rPr lang="en"/>
              <a:t>number. The final file would be a long string of encoded characters in which each</a:t>
            </a:r>
            <a:endParaRPr/>
          </a:p>
          <a:p>
            <a:pPr indent="0" lvl="0" marL="0" rtl="0" algn="l">
              <a:spcBef>
                <a:spcPts val="0"/>
              </a:spcBef>
              <a:spcAft>
                <a:spcPts val="0"/>
              </a:spcAft>
              <a:buNone/>
            </a:pPr>
            <a:r>
              <a:rPr lang="en"/>
              <a:t>31-character block represents the information about a single employee (Figure 9.14).</a:t>
            </a:r>
            <a:endParaRPr/>
          </a:p>
          <a:p>
            <a:pPr indent="0" lvl="0" marL="0" rtl="0" algn="l">
              <a:spcBef>
                <a:spcPts val="0"/>
              </a:spcBef>
              <a:spcAft>
                <a:spcPts val="0"/>
              </a:spcAft>
              <a:buNone/>
            </a:pPr>
            <a:r>
              <a:rPr lang="en"/>
              <a:t>Information would be retrieved from the file in terms of logical records consisting of</a:t>
            </a:r>
            <a:endParaRPr/>
          </a:p>
          <a:p>
            <a:pPr indent="0" lvl="0" marL="0" rtl="0" algn="l">
              <a:spcBef>
                <a:spcPts val="0"/>
              </a:spcBef>
              <a:spcAft>
                <a:spcPts val="0"/>
              </a:spcAft>
              <a:buNone/>
            </a:pPr>
            <a:r>
              <a:rPr lang="en"/>
              <a:t>31-character blocks. Within each of these blocks, individual fields would be identified according to the uniform format with which the blocks were constructed.</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87fa771425_0_7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87fa771425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87fa771425_0_8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87fa771425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file’s index is normally stored as a separate file on the same mass storage device as the indexed file. The index is usually transferred to main memory before file processing begins so that it is easily accessible when access to records in the file is required (Figure 9.17). A classic example of an indexed file occurs in the context of maintaining employee records. Here an index can be used to avoid lengthy searches when you are retrieving an individual record. In particular, if the file of employee records is indexed by employee identification numbers, then an employee’s record can be retrieved quickly when the employee’s identification number is known. Another example is found on audio CDs where an index is used to allow relatively quick access to individual recordings. Over the years numerous variations of the basic index concept have been used. One variation constructs an index in a hierarchical manner so that the index takes on a layered or tree structure. A prominent example is the hierarchical directory system used by most operating systems for organizing file storage. In such a case, the directories, or folders, play the role of indexes, each containing links to its subindexes. From this perspective, the entire file system is merely one large indexed file</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87fa771425_0_8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87fa771425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87fa771425_0_9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87fa771425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 us apply the hashing technique to the classic employee file in which each</a:t>
            </a:r>
            <a:endParaRPr/>
          </a:p>
          <a:p>
            <a:pPr indent="0" lvl="0" marL="0" rtl="0" algn="l">
              <a:spcBef>
                <a:spcPts val="0"/>
              </a:spcBef>
              <a:spcAft>
                <a:spcPts val="0"/>
              </a:spcAft>
              <a:buNone/>
            </a:pPr>
            <a:r>
              <a:rPr lang="en"/>
              <a:t>record contains information about a single employee in a company. First, we</a:t>
            </a:r>
            <a:endParaRPr/>
          </a:p>
          <a:p>
            <a:pPr indent="0" lvl="0" marL="0" rtl="0" algn="l">
              <a:spcBef>
                <a:spcPts val="0"/>
              </a:spcBef>
              <a:spcAft>
                <a:spcPts val="0"/>
              </a:spcAft>
              <a:buNone/>
            </a:pPr>
            <a:r>
              <a:rPr lang="en"/>
              <a:t>establish several available areas of mass storage that will play the role of buckets.</a:t>
            </a:r>
            <a:endParaRPr/>
          </a:p>
          <a:p>
            <a:pPr indent="0" lvl="0" marL="0" rtl="0" algn="l">
              <a:spcBef>
                <a:spcPts val="0"/>
              </a:spcBef>
              <a:spcAft>
                <a:spcPts val="0"/>
              </a:spcAft>
              <a:buNone/>
            </a:pPr>
            <a:r>
              <a:rPr lang="en"/>
              <a:t>The number of buckets and the size of each bucket are design decisions that we</a:t>
            </a:r>
            <a:endParaRPr/>
          </a:p>
          <a:p>
            <a:pPr indent="0" lvl="0" marL="0" rtl="0" algn="l">
              <a:spcBef>
                <a:spcPts val="0"/>
              </a:spcBef>
              <a:spcAft>
                <a:spcPts val="0"/>
              </a:spcAft>
              <a:buNone/>
            </a:pPr>
            <a:r>
              <a:rPr lang="en"/>
              <a:t>will consider later. For now, let us assume that we have created 41 buckets, which</a:t>
            </a:r>
            <a:endParaRPr/>
          </a:p>
          <a:p>
            <a:pPr indent="0" lvl="0" marL="0" rtl="0" algn="l">
              <a:spcBef>
                <a:spcPts val="0"/>
              </a:spcBef>
              <a:spcAft>
                <a:spcPts val="0"/>
              </a:spcAft>
              <a:buNone/>
            </a:pPr>
            <a:r>
              <a:rPr lang="en"/>
              <a:t>we refer to as bucket number 0, bucket number 1, through bucket number 40. (The</a:t>
            </a:r>
            <a:endParaRPr/>
          </a:p>
          <a:p>
            <a:pPr indent="0" lvl="0" marL="0" rtl="0" algn="l">
              <a:spcBef>
                <a:spcPts val="0"/>
              </a:spcBef>
              <a:spcAft>
                <a:spcPts val="0"/>
              </a:spcAft>
              <a:buNone/>
            </a:pPr>
            <a:r>
              <a:rPr lang="en"/>
              <a:t>reason we selected 41 buckets rather than an even 40 will be explained shortly.)</a:t>
            </a:r>
            <a:endParaRPr/>
          </a:p>
          <a:p>
            <a:pPr indent="0" lvl="0" marL="0" rtl="0" algn="l">
              <a:spcBef>
                <a:spcPts val="0"/>
              </a:spcBef>
              <a:spcAft>
                <a:spcPts val="0"/>
              </a:spcAft>
              <a:buNone/>
            </a:pPr>
            <a:r>
              <a:rPr lang="en"/>
              <a:t>Let us assume that an employee’s identification number will be used as the</a:t>
            </a:r>
            <a:endParaRPr/>
          </a:p>
          <a:p>
            <a:pPr indent="0" lvl="0" marL="0" rtl="0" algn="l">
              <a:spcBef>
                <a:spcPts val="0"/>
              </a:spcBef>
              <a:spcAft>
                <a:spcPts val="0"/>
              </a:spcAft>
              <a:buNone/>
            </a:pPr>
            <a:r>
              <a:rPr lang="en"/>
              <a:t>key for identifying the employee’s record. Our next task, then, is to develop</a:t>
            </a:r>
            <a:endParaRPr/>
          </a:p>
          <a:p>
            <a:pPr indent="0" lvl="0" marL="0" rtl="0" algn="l">
              <a:spcBef>
                <a:spcPts val="0"/>
              </a:spcBef>
              <a:spcAft>
                <a:spcPts val="0"/>
              </a:spcAft>
              <a:buNone/>
            </a:pPr>
            <a:r>
              <a:rPr lang="en"/>
              <a:t>a hash function for converting these keys into bucket numbers. Although the</a:t>
            </a:r>
            <a:endParaRPr/>
          </a:p>
          <a:p>
            <a:pPr indent="0" lvl="0" marL="0" rtl="0" algn="l">
              <a:spcBef>
                <a:spcPts val="0"/>
              </a:spcBef>
              <a:spcAft>
                <a:spcPts val="0"/>
              </a:spcAft>
              <a:buNone/>
            </a:pPr>
            <a:r>
              <a:rPr lang="en"/>
              <a:t>employee identification “numbers” might have the form 25X3Z or J2X35 and are</a:t>
            </a:r>
            <a:endParaRPr/>
          </a:p>
          <a:p>
            <a:pPr indent="0" lvl="0" marL="0" rtl="0" algn="l">
              <a:spcBef>
                <a:spcPts val="0"/>
              </a:spcBef>
              <a:spcAft>
                <a:spcPts val="0"/>
              </a:spcAft>
              <a:buNone/>
            </a:pPr>
            <a:r>
              <a:rPr lang="en"/>
              <a:t>therefore not numeric, they are stored as bit patterns, and we can interpret the</a:t>
            </a:r>
            <a:endParaRPr/>
          </a:p>
          <a:p>
            <a:pPr indent="0" lvl="0" marL="0" rtl="0" algn="l">
              <a:spcBef>
                <a:spcPts val="0"/>
              </a:spcBef>
              <a:spcAft>
                <a:spcPts val="0"/>
              </a:spcAft>
              <a:buNone/>
            </a:pPr>
            <a:r>
              <a:rPr lang="en"/>
              <a:t>bit patterns as numbers. Using this numeric interpretation, we can divide any</a:t>
            </a:r>
            <a:endParaRPr/>
          </a:p>
          <a:p>
            <a:pPr indent="0" lvl="0" marL="0" rtl="0" algn="l">
              <a:spcBef>
                <a:spcPts val="0"/>
              </a:spcBef>
              <a:spcAft>
                <a:spcPts val="0"/>
              </a:spcAft>
              <a:buNone/>
            </a:pPr>
            <a:r>
              <a:rPr lang="en"/>
              <a:t>key by the number of buckets available and record the remainder, which in our</a:t>
            </a:r>
            <a:endParaRPr/>
          </a:p>
          <a:p>
            <a:pPr indent="0" lvl="0" marL="0" rtl="0" algn="l">
              <a:spcBef>
                <a:spcPts val="0"/>
              </a:spcBef>
              <a:spcAft>
                <a:spcPts val="0"/>
              </a:spcAft>
              <a:buNone/>
            </a:pPr>
            <a:r>
              <a:rPr lang="en"/>
              <a:t>case will be an integer in the range from 0 to 40. Thus we can use the remainder</a:t>
            </a:r>
            <a:endParaRPr/>
          </a:p>
          <a:p>
            <a:pPr indent="0" lvl="0" marL="0" rtl="0" algn="l">
              <a:spcBef>
                <a:spcPts val="0"/>
              </a:spcBef>
              <a:spcAft>
                <a:spcPts val="0"/>
              </a:spcAft>
              <a:buNone/>
            </a:pPr>
            <a:r>
              <a:rPr lang="en"/>
              <a:t>of this division process to identify one of the 41 buckets (Figure 9.18).</a:t>
            </a:r>
            <a:endParaRPr/>
          </a:p>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87fa771425_0_9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87fa771425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Using this as our hash function, we proceed to construct the file by considering each record individually, applying our divide-by-41 hash function to its key to obtain a bucket number, and then storing the record in that bucket (Figure 9.19).</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Later, if we need to retrieve a record, we need merely apply our hash function to</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record’s key to identify the appropriate bucket and then search that bucket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for the record in question.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87fa771425_0_5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87fa771425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7c5b0d55fe_0_20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7c5b0d55fe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3000"/>
              <a:buNone/>
              <a:defRPr sz="3000"/>
            </a:lvl1pPr>
            <a:lvl2pPr lvl="1" algn="ctr">
              <a:lnSpc>
                <a:spcPct val="100000"/>
              </a:lnSpc>
              <a:spcBef>
                <a:spcPts val="0"/>
              </a:spcBef>
              <a:spcAft>
                <a:spcPts val="0"/>
              </a:spcAft>
              <a:buSzPts val="4000"/>
              <a:buNone/>
              <a:defRPr sz="4000"/>
            </a:lvl2pPr>
            <a:lvl3pPr lvl="2" algn="ctr">
              <a:lnSpc>
                <a:spcPct val="100000"/>
              </a:lnSpc>
              <a:spcBef>
                <a:spcPts val="0"/>
              </a:spcBef>
              <a:spcAft>
                <a:spcPts val="0"/>
              </a:spcAft>
              <a:buSzPts val="4000"/>
              <a:buNone/>
              <a:defRPr sz="4000"/>
            </a:lvl3pPr>
            <a:lvl4pPr lvl="3" algn="ctr">
              <a:lnSpc>
                <a:spcPct val="100000"/>
              </a:lnSpc>
              <a:spcBef>
                <a:spcPts val="0"/>
              </a:spcBef>
              <a:spcAft>
                <a:spcPts val="0"/>
              </a:spcAft>
              <a:buSzPts val="4000"/>
              <a:buNone/>
              <a:defRPr sz="4000"/>
            </a:lvl4pPr>
            <a:lvl5pPr lvl="4" algn="ctr">
              <a:lnSpc>
                <a:spcPct val="100000"/>
              </a:lnSpc>
              <a:spcBef>
                <a:spcPts val="0"/>
              </a:spcBef>
              <a:spcAft>
                <a:spcPts val="0"/>
              </a:spcAft>
              <a:buSzPts val="4000"/>
              <a:buNone/>
              <a:defRPr sz="4000"/>
            </a:lvl5pPr>
            <a:lvl6pPr lvl="5" algn="ctr">
              <a:lnSpc>
                <a:spcPct val="100000"/>
              </a:lnSpc>
              <a:spcBef>
                <a:spcPts val="0"/>
              </a:spcBef>
              <a:spcAft>
                <a:spcPts val="0"/>
              </a:spcAft>
              <a:buSzPts val="4000"/>
              <a:buNone/>
              <a:defRPr sz="4000"/>
            </a:lvl6pPr>
            <a:lvl7pPr lvl="6" algn="ctr">
              <a:lnSpc>
                <a:spcPct val="100000"/>
              </a:lnSpc>
              <a:spcBef>
                <a:spcPts val="0"/>
              </a:spcBef>
              <a:spcAft>
                <a:spcPts val="0"/>
              </a:spcAft>
              <a:buSzPts val="4000"/>
              <a:buNone/>
              <a:defRPr sz="4000"/>
            </a:lvl7pPr>
            <a:lvl8pPr lvl="7" algn="ctr">
              <a:lnSpc>
                <a:spcPct val="100000"/>
              </a:lnSpc>
              <a:spcBef>
                <a:spcPts val="0"/>
              </a:spcBef>
              <a:spcAft>
                <a:spcPts val="0"/>
              </a:spcAft>
              <a:buSzPts val="4000"/>
              <a:buNone/>
              <a:defRPr sz="4000"/>
            </a:lvl8pPr>
            <a:lvl9pPr lvl="8" algn="ctr">
              <a:lnSpc>
                <a:spcPct val="100000"/>
              </a:lnSpc>
              <a:spcBef>
                <a:spcPts val="0"/>
              </a:spcBef>
              <a:spcAft>
                <a:spcPts val="0"/>
              </a:spcAft>
              <a:buSzPts val="4000"/>
              <a:buNone/>
              <a:defRPr sz="40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lvl1pPr indent="-393700" lvl="0" marL="457200">
              <a:spcBef>
                <a:spcPts val="0"/>
              </a:spcBef>
              <a:spcAft>
                <a:spcPts val="0"/>
              </a:spcAft>
              <a:buSzPts val="2600"/>
              <a:buChar char="●"/>
              <a:defRPr/>
            </a:lvl1pPr>
            <a:lvl2pPr indent="-387350" lvl="1" marL="914400">
              <a:spcBef>
                <a:spcPts val="0"/>
              </a:spcBef>
              <a:spcAft>
                <a:spcPts val="0"/>
              </a:spcAft>
              <a:buSzPts val="2500"/>
              <a:buChar char="○"/>
              <a:defRPr/>
            </a:lvl2pPr>
            <a:lvl3pPr indent="-381000" lvl="2" marL="1371600">
              <a:spcBef>
                <a:spcPts val="0"/>
              </a:spcBef>
              <a:spcAft>
                <a:spcPts val="0"/>
              </a:spcAft>
              <a:buSzPts val="2400"/>
              <a:buChar char="■"/>
              <a:defRPr/>
            </a:lvl3pPr>
            <a:lvl4pPr indent="-374650" lvl="3" marL="1828800">
              <a:spcBef>
                <a:spcPts val="0"/>
              </a:spcBef>
              <a:spcAft>
                <a:spcPts val="0"/>
              </a:spcAft>
              <a:buSzPts val="2300"/>
              <a:buChar char="●"/>
              <a:defRPr/>
            </a:lvl4pPr>
            <a:lvl5pPr indent="-368300" lvl="4" marL="2286000">
              <a:spcBef>
                <a:spcPts val="0"/>
              </a:spcBef>
              <a:spcAft>
                <a:spcPts val="0"/>
              </a:spcAft>
              <a:buSzPts val="2200"/>
              <a:buChar char="○"/>
              <a:defRPr/>
            </a:lvl5pPr>
            <a:lvl6pPr indent="-355600" lvl="5" marL="2743200">
              <a:spcBef>
                <a:spcPts val="0"/>
              </a:spcBef>
              <a:spcAft>
                <a:spcPts val="0"/>
              </a:spcAft>
              <a:buSzPts val="2000"/>
              <a:buChar char="■"/>
              <a:defRPr/>
            </a:lvl6pPr>
            <a:lvl7pPr indent="-355600" lvl="6" marL="3200400">
              <a:spcBef>
                <a:spcPts val="0"/>
              </a:spcBef>
              <a:spcAft>
                <a:spcPts val="0"/>
              </a:spcAft>
              <a:buSzPts val="2000"/>
              <a:buChar char="●"/>
              <a:defRPr/>
            </a:lvl7pPr>
            <a:lvl8pPr indent="-355600" lvl="7" marL="3657600">
              <a:spcBef>
                <a:spcPts val="0"/>
              </a:spcBef>
              <a:spcAft>
                <a:spcPts val="0"/>
              </a:spcAft>
              <a:buSzPts val="2000"/>
              <a:buChar char="○"/>
              <a:defRPr/>
            </a:lvl8pPr>
            <a:lvl9pPr indent="-355600" lvl="8" marL="4114800">
              <a:spcBef>
                <a:spcPts val="0"/>
              </a:spcBef>
              <a:spcAft>
                <a:spcPts val="0"/>
              </a:spcAft>
              <a:buSzPts val="20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93700" lvl="0" marL="457200">
              <a:spcBef>
                <a:spcPts val="0"/>
              </a:spcBef>
              <a:spcAft>
                <a:spcPts val="0"/>
              </a:spcAft>
              <a:buSzPts val="2600"/>
              <a:buChar char="●"/>
              <a:defRPr/>
            </a:lvl1pPr>
            <a:lvl2pPr indent="-387350" lvl="1" marL="914400">
              <a:spcBef>
                <a:spcPts val="0"/>
              </a:spcBef>
              <a:spcAft>
                <a:spcPts val="0"/>
              </a:spcAft>
              <a:buSzPts val="2500"/>
              <a:buChar char="○"/>
              <a:defRPr/>
            </a:lvl2pPr>
            <a:lvl3pPr indent="-381000" lvl="2" marL="1371600">
              <a:spcBef>
                <a:spcPts val="0"/>
              </a:spcBef>
              <a:spcAft>
                <a:spcPts val="0"/>
              </a:spcAft>
              <a:buSzPts val="2400"/>
              <a:buChar char="■"/>
              <a:defRPr/>
            </a:lvl3pPr>
            <a:lvl4pPr indent="-374650" lvl="3" marL="1828800">
              <a:spcBef>
                <a:spcPts val="0"/>
              </a:spcBef>
              <a:spcAft>
                <a:spcPts val="0"/>
              </a:spcAft>
              <a:buSzPts val="2300"/>
              <a:buChar char="●"/>
              <a:defRPr/>
            </a:lvl4pPr>
            <a:lvl5pPr indent="-368300" lvl="4" marL="2286000">
              <a:spcBef>
                <a:spcPts val="0"/>
              </a:spcBef>
              <a:spcAft>
                <a:spcPts val="0"/>
              </a:spcAft>
              <a:buSzPts val="2200"/>
              <a:buChar char="○"/>
              <a:defRPr/>
            </a:lvl5pPr>
            <a:lvl6pPr indent="-355600" lvl="5" marL="2743200">
              <a:spcBef>
                <a:spcPts val="0"/>
              </a:spcBef>
              <a:spcAft>
                <a:spcPts val="0"/>
              </a:spcAft>
              <a:buSzPts val="2000"/>
              <a:buChar char="■"/>
              <a:defRPr/>
            </a:lvl6pPr>
            <a:lvl7pPr indent="-355600" lvl="6" marL="3200400">
              <a:spcBef>
                <a:spcPts val="0"/>
              </a:spcBef>
              <a:spcAft>
                <a:spcPts val="0"/>
              </a:spcAft>
              <a:buSzPts val="2000"/>
              <a:buChar char="●"/>
              <a:defRPr/>
            </a:lvl7pPr>
            <a:lvl8pPr indent="-355600" lvl="7" marL="3657600">
              <a:spcBef>
                <a:spcPts val="0"/>
              </a:spcBef>
              <a:spcAft>
                <a:spcPts val="0"/>
              </a:spcAft>
              <a:buSzPts val="2000"/>
              <a:buChar char="○"/>
              <a:defRPr/>
            </a:lvl8pPr>
            <a:lvl9pPr indent="-355600" lvl="8" marL="4114800">
              <a:spcBef>
                <a:spcPts val="0"/>
              </a:spcBef>
              <a:spcAft>
                <a:spcPts val="0"/>
              </a:spcAft>
              <a:buSzPts val="20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6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93700" lvl="0" marL="457200" algn="ctr">
              <a:spcBef>
                <a:spcPts val="0"/>
              </a:spcBef>
              <a:spcAft>
                <a:spcPts val="0"/>
              </a:spcAft>
              <a:buSzPts val="2600"/>
              <a:buChar char="●"/>
              <a:defRPr/>
            </a:lvl1pPr>
            <a:lvl2pPr indent="-387350" lvl="1" marL="914400" algn="ctr">
              <a:spcBef>
                <a:spcPts val="0"/>
              </a:spcBef>
              <a:spcAft>
                <a:spcPts val="0"/>
              </a:spcAft>
              <a:buSzPts val="2500"/>
              <a:buChar char="○"/>
              <a:defRPr/>
            </a:lvl2pPr>
            <a:lvl3pPr indent="-381000" lvl="2" marL="1371600" algn="ctr">
              <a:spcBef>
                <a:spcPts val="0"/>
              </a:spcBef>
              <a:spcAft>
                <a:spcPts val="0"/>
              </a:spcAft>
              <a:buSzPts val="2400"/>
              <a:buChar char="■"/>
              <a:defRPr/>
            </a:lvl3pPr>
            <a:lvl4pPr indent="-374650" lvl="3" marL="1828800" algn="ctr">
              <a:spcBef>
                <a:spcPts val="0"/>
              </a:spcBef>
              <a:spcAft>
                <a:spcPts val="0"/>
              </a:spcAft>
              <a:buSzPts val="2300"/>
              <a:buChar char="●"/>
              <a:defRPr/>
            </a:lvl4pPr>
            <a:lvl5pPr indent="-368300" lvl="4" marL="2286000" algn="ctr">
              <a:spcBef>
                <a:spcPts val="0"/>
              </a:spcBef>
              <a:spcAft>
                <a:spcPts val="0"/>
              </a:spcAft>
              <a:buSzPts val="2200"/>
              <a:buChar char="○"/>
              <a:defRPr/>
            </a:lvl5pPr>
            <a:lvl6pPr indent="-355600" lvl="5" marL="2743200" algn="ctr">
              <a:spcBef>
                <a:spcPts val="0"/>
              </a:spcBef>
              <a:spcAft>
                <a:spcPts val="0"/>
              </a:spcAft>
              <a:buSzPts val="2000"/>
              <a:buChar char="■"/>
              <a:defRPr/>
            </a:lvl6pPr>
            <a:lvl7pPr indent="-355600" lvl="6" marL="3200400" algn="ctr">
              <a:spcBef>
                <a:spcPts val="0"/>
              </a:spcBef>
              <a:spcAft>
                <a:spcPts val="0"/>
              </a:spcAft>
              <a:buSzPts val="2000"/>
              <a:buChar char="●"/>
              <a:defRPr/>
            </a:lvl7pPr>
            <a:lvl8pPr indent="-355600" lvl="7" marL="3657600" algn="ctr">
              <a:spcBef>
                <a:spcPts val="0"/>
              </a:spcBef>
              <a:spcAft>
                <a:spcPts val="0"/>
              </a:spcAft>
              <a:buSzPts val="2000"/>
              <a:buChar char="○"/>
              <a:defRPr/>
            </a:lvl8pPr>
            <a:lvl9pPr indent="-355600" lvl="8" marL="4114800" algn="ctr">
              <a:spcBef>
                <a:spcPts val="0"/>
              </a:spcBef>
              <a:spcAft>
                <a:spcPts val="0"/>
              </a:spcAft>
              <a:buSzPts val="20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166867"/>
            <a:ext cx="8520600" cy="763500"/>
          </a:xfrm>
          <a:prstGeom prst="rect">
            <a:avLst/>
          </a:prstGeom>
          <a:noFill/>
          <a:ln>
            <a:noFill/>
          </a:ln>
        </p:spPr>
        <p:txBody>
          <a:bodyPr anchorCtr="0" anchor="ctr" bIns="91425" lIns="91425" spcFirstLastPara="1" rIns="91425" wrap="square" tIns="91425">
            <a:normAutofit/>
          </a:bodyPr>
          <a:lstStyle>
            <a:lvl1pPr lvl="0">
              <a:spcBef>
                <a:spcPts val="0"/>
              </a:spcBef>
              <a:spcAft>
                <a:spcPts val="0"/>
              </a:spcAft>
              <a:buSzPts val="3300"/>
              <a:buFont typeface="PT Sans Narrow"/>
              <a:buNone/>
              <a:defRPr b="1" sz="3300">
                <a:latin typeface="PT Sans Narrow"/>
                <a:ea typeface="PT Sans Narrow"/>
                <a:cs typeface="PT Sans Narrow"/>
                <a:sym typeface="PT Sans Narrow"/>
              </a:defRPr>
            </a:lvl1pPr>
            <a:lvl2pPr lvl="1">
              <a:spcBef>
                <a:spcPts val="0"/>
              </a:spcBef>
              <a:spcAft>
                <a:spcPts val="0"/>
              </a:spcAft>
              <a:buSzPts val="2800"/>
              <a:buFont typeface="PT Sans Narrow"/>
              <a:buNone/>
              <a:defRPr b="1" sz="2800">
                <a:latin typeface="PT Sans Narrow"/>
                <a:ea typeface="PT Sans Narrow"/>
                <a:cs typeface="PT Sans Narrow"/>
                <a:sym typeface="PT Sans Narrow"/>
              </a:defRPr>
            </a:lvl2pPr>
            <a:lvl3pPr lvl="2">
              <a:spcBef>
                <a:spcPts val="0"/>
              </a:spcBef>
              <a:spcAft>
                <a:spcPts val="0"/>
              </a:spcAft>
              <a:buSzPts val="2800"/>
              <a:buFont typeface="PT Sans Narrow"/>
              <a:buNone/>
              <a:defRPr b="1" sz="2800">
                <a:latin typeface="PT Sans Narrow"/>
                <a:ea typeface="PT Sans Narrow"/>
                <a:cs typeface="PT Sans Narrow"/>
                <a:sym typeface="PT Sans Narrow"/>
              </a:defRPr>
            </a:lvl3pPr>
            <a:lvl4pPr lvl="3">
              <a:spcBef>
                <a:spcPts val="0"/>
              </a:spcBef>
              <a:spcAft>
                <a:spcPts val="0"/>
              </a:spcAft>
              <a:buSzPts val="2800"/>
              <a:buFont typeface="PT Sans Narrow"/>
              <a:buNone/>
              <a:defRPr b="1" sz="2800">
                <a:latin typeface="PT Sans Narrow"/>
                <a:ea typeface="PT Sans Narrow"/>
                <a:cs typeface="PT Sans Narrow"/>
                <a:sym typeface="PT Sans Narrow"/>
              </a:defRPr>
            </a:lvl4pPr>
            <a:lvl5pPr lvl="4">
              <a:spcBef>
                <a:spcPts val="0"/>
              </a:spcBef>
              <a:spcAft>
                <a:spcPts val="0"/>
              </a:spcAft>
              <a:buSzPts val="2800"/>
              <a:buFont typeface="PT Sans Narrow"/>
              <a:buNone/>
              <a:defRPr b="1" sz="2800">
                <a:latin typeface="PT Sans Narrow"/>
                <a:ea typeface="PT Sans Narrow"/>
                <a:cs typeface="PT Sans Narrow"/>
                <a:sym typeface="PT Sans Narrow"/>
              </a:defRPr>
            </a:lvl5pPr>
            <a:lvl6pPr lvl="5">
              <a:spcBef>
                <a:spcPts val="0"/>
              </a:spcBef>
              <a:spcAft>
                <a:spcPts val="0"/>
              </a:spcAft>
              <a:buSzPts val="2800"/>
              <a:buFont typeface="PT Sans Narrow"/>
              <a:buNone/>
              <a:defRPr b="1" sz="2800">
                <a:latin typeface="PT Sans Narrow"/>
                <a:ea typeface="PT Sans Narrow"/>
                <a:cs typeface="PT Sans Narrow"/>
                <a:sym typeface="PT Sans Narrow"/>
              </a:defRPr>
            </a:lvl6pPr>
            <a:lvl7pPr lvl="6">
              <a:spcBef>
                <a:spcPts val="0"/>
              </a:spcBef>
              <a:spcAft>
                <a:spcPts val="0"/>
              </a:spcAft>
              <a:buSzPts val="2800"/>
              <a:buFont typeface="PT Sans Narrow"/>
              <a:buNone/>
              <a:defRPr b="1" sz="2800">
                <a:latin typeface="PT Sans Narrow"/>
                <a:ea typeface="PT Sans Narrow"/>
                <a:cs typeface="PT Sans Narrow"/>
                <a:sym typeface="PT Sans Narrow"/>
              </a:defRPr>
            </a:lvl7pPr>
            <a:lvl8pPr lvl="7">
              <a:spcBef>
                <a:spcPts val="0"/>
              </a:spcBef>
              <a:spcAft>
                <a:spcPts val="0"/>
              </a:spcAft>
              <a:buSzPts val="2800"/>
              <a:buFont typeface="PT Sans Narrow"/>
              <a:buNone/>
              <a:defRPr b="1" sz="2800">
                <a:latin typeface="PT Sans Narrow"/>
                <a:ea typeface="PT Sans Narrow"/>
                <a:cs typeface="PT Sans Narrow"/>
                <a:sym typeface="PT Sans Narrow"/>
              </a:defRPr>
            </a:lvl8pPr>
            <a:lvl9pPr lvl="8">
              <a:spcBef>
                <a:spcPts val="0"/>
              </a:spcBef>
              <a:spcAft>
                <a:spcPts val="0"/>
              </a:spcAft>
              <a:buSzPts val="2800"/>
              <a:buFont typeface="PT Sans Narrow"/>
              <a:buNone/>
              <a:defRPr b="1" sz="2800">
                <a:latin typeface="PT Sans Narrow"/>
                <a:ea typeface="PT Sans Narrow"/>
                <a:cs typeface="PT Sans Narrow"/>
                <a:sym typeface="PT Sans Narrow"/>
              </a:defRPr>
            </a:lvl9pPr>
          </a:lstStyle>
          <a:p/>
        </p:txBody>
      </p:sp>
      <p:sp>
        <p:nvSpPr>
          <p:cNvPr id="7" name="Google Shape;7;p1"/>
          <p:cNvSpPr txBox="1"/>
          <p:nvPr>
            <p:ph idx="1" type="body"/>
          </p:nvPr>
        </p:nvSpPr>
        <p:spPr>
          <a:xfrm>
            <a:off x="311700" y="930375"/>
            <a:ext cx="8709300" cy="5811900"/>
          </a:xfrm>
          <a:prstGeom prst="rect">
            <a:avLst/>
          </a:prstGeom>
          <a:noFill/>
          <a:ln>
            <a:noFill/>
          </a:ln>
        </p:spPr>
        <p:txBody>
          <a:bodyPr anchorCtr="0" anchor="t" bIns="91425" lIns="91425" spcFirstLastPara="1" rIns="91425" wrap="square" tIns="91425">
            <a:normAutofit/>
          </a:bodyPr>
          <a:lstStyle>
            <a:lvl1pPr indent="-393700" lvl="0" marL="457200" algn="just">
              <a:lnSpc>
                <a:spcPct val="115000"/>
              </a:lnSpc>
              <a:spcBef>
                <a:spcPts val="0"/>
              </a:spcBef>
              <a:spcAft>
                <a:spcPts val="0"/>
              </a:spcAft>
              <a:buSzPts val="2600"/>
              <a:buFont typeface="Open Sans"/>
              <a:buChar char="●"/>
              <a:defRPr sz="2600">
                <a:latin typeface="Open Sans"/>
                <a:ea typeface="Open Sans"/>
                <a:cs typeface="Open Sans"/>
                <a:sym typeface="Open Sans"/>
              </a:defRPr>
            </a:lvl1pPr>
            <a:lvl2pPr indent="-387350" lvl="1" marL="914400" algn="just">
              <a:lnSpc>
                <a:spcPct val="115000"/>
              </a:lnSpc>
              <a:spcBef>
                <a:spcPts val="0"/>
              </a:spcBef>
              <a:spcAft>
                <a:spcPts val="0"/>
              </a:spcAft>
              <a:buSzPts val="2500"/>
              <a:buFont typeface="Open Sans Light"/>
              <a:buChar char="○"/>
              <a:defRPr sz="2500">
                <a:latin typeface="Open Sans Light"/>
                <a:ea typeface="Open Sans Light"/>
                <a:cs typeface="Open Sans Light"/>
                <a:sym typeface="Open Sans Light"/>
              </a:defRPr>
            </a:lvl2pPr>
            <a:lvl3pPr indent="-381000" lvl="2" marL="1371600" algn="just">
              <a:lnSpc>
                <a:spcPct val="115000"/>
              </a:lnSpc>
              <a:spcBef>
                <a:spcPts val="0"/>
              </a:spcBef>
              <a:spcAft>
                <a:spcPts val="0"/>
              </a:spcAft>
              <a:buSzPts val="2400"/>
              <a:buFont typeface="Open Sans Light"/>
              <a:buChar char="■"/>
              <a:defRPr sz="2400">
                <a:latin typeface="Open Sans Light"/>
                <a:ea typeface="Open Sans Light"/>
                <a:cs typeface="Open Sans Light"/>
                <a:sym typeface="Open Sans Light"/>
              </a:defRPr>
            </a:lvl3pPr>
            <a:lvl4pPr indent="-374650" lvl="3" marL="1828800" algn="just">
              <a:lnSpc>
                <a:spcPct val="115000"/>
              </a:lnSpc>
              <a:spcBef>
                <a:spcPts val="0"/>
              </a:spcBef>
              <a:spcAft>
                <a:spcPts val="0"/>
              </a:spcAft>
              <a:buSzPts val="2300"/>
              <a:buFont typeface="Open Sans Light"/>
              <a:buChar char="●"/>
              <a:defRPr sz="2300">
                <a:latin typeface="Open Sans Light"/>
                <a:ea typeface="Open Sans Light"/>
                <a:cs typeface="Open Sans Light"/>
                <a:sym typeface="Open Sans Light"/>
              </a:defRPr>
            </a:lvl4pPr>
            <a:lvl5pPr indent="-368300" lvl="4" marL="2286000" algn="just">
              <a:lnSpc>
                <a:spcPct val="115000"/>
              </a:lnSpc>
              <a:spcBef>
                <a:spcPts val="0"/>
              </a:spcBef>
              <a:spcAft>
                <a:spcPts val="0"/>
              </a:spcAft>
              <a:buSzPts val="2200"/>
              <a:buFont typeface="Open Sans Light"/>
              <a:buChar char="○"/>
              <a:defRPr sz="2200">
                <a:latin typeface="Open Sans Light"/>
                <a:ea typeface="Open Sans Light"/>
                <a:cs typeface="Open Sans Light"/>
                <a:sym typeface="Open Sans Light"/>
              </a:defRPr>
            </a:lvl5pPr>
            <a:lvl6pPr indent="-355600" lvl="5" marL="2743200" algn="just">
              <a:lnSpc>
                <a:spcPct val="115000"/>
              </a:lnSpc>
              <a:spcBef>
                <a:spcPts val="0"/>
              </a:spcBef>
              <a:spcAft>
                <a:spcPts val="0"/>
              </a:spcAft>
              <a:buSzPts val="2000"/>
              <a:buFont typeface="Open Sans Light"/>
              <a:buChar char="■"/>
              <a:defRPr sz="2000">
                <a:latin typeface="Open Sans Light"/>
                <a:ea typeface="Open Sans Light"/>
                <a:cs typeface="Open Sans Light"/>
                <a:sym typeface="Open Sans Light"/>
              </a:defRPr>
            </a:lvl6pPr>
            <a:lvl7pPr indent="-355600" lvl="6" marL="3200400" algn="just">
              <a:lnSpc>
                <a:spcPct val="115000"/>
              </a:lnSpc>
              <a:spcBef>
                <a:spcPts val="0"/>
              </a:spcBef>
              <a:spcAft>
                <a:spcPts val="0"/>
              </a:spcAft>
              <a:buSzPts val="2000"/>
              <a:buFont typeface="Open Sans Light"/>
              <a:buChar char="●"/>
              <a:defRPr sz="2000">
                <a:latin typeface="Open Sans Light"/>
                <a:ea typeface="Open Sans Light"/>
                <a:cs typeface="Open Sans Light"/>
                <a:sym typeface="Open Sans Light"/>
              </a:defRPr>
            </a:lvl7pPr>
            <a:lvl8pPr indent="-355600" lvl="7" marL="3657600" algn="just">
              <a:lnSpc>
                <a:spcPct val="115000"/>
              </a:lnSpc>
              <a:spcBef>
                <a:spcPts val="0"/>
              </a:spcBef>
              <a:spcAft>
                <a:spcPts val="0"/>
              </a:spcAft>
              <a:buSzPts val="2000"/>
              <a:buFont typeface="Open Sans Light"/>
              <a:buChar char="○"/>
              <a:defRPr sz="2000">
                <a:latin typeface="Open Sans Light"/>
                <a:ea typeface="Open Sans Light"/>
                <a:cs typeface="Open Sans Light"/>
                <a:sym typeface="Open Sans Light"/>
              </a:defRPr>
            </a:lvl8pPr>
            <a:lvl9pPr indent="-355600" lvl="8" marL="4114800" algn="just">
              <a:lnSpc>
                <a:spcPct val="115000"/>
              </a:lnSpc>
              <a:spcBef>
                <a:spcPts val="0"/>
              </a:spcBef>
              <a:spcAft>
                <a:spcPts val="0"/>
              </a:spcAft>
              <a:buSzPts val="2000"/>
              <a:buFont typeface="Open Sans Light"/>
              <a:buChar char="■"/>
              <a:defRPr sz="2000">
                <a:latin typeface="Open Sans Light"/>
                <a:ea typeface="Open Sans Light"/>
                <a:cs typeface="Open Sans Light"/>
                <a:sym typeface="Open Sans Light"/>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begummutlubilge@gmail.com" TargetMode="External"/><Relationship Id="rId4" Type="http://schemas.openxmlformats.org/officeDocument/2006/relationships/hyperlink" Target="mailto:bmbilge@ankara.edu.tr"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hyperlink" Target="mailto:begummutlubilge@gmail.com" TargetMode="External"/><Relationship Id="rId4" Type="http://schemas.openxmlformats.org/officeDocument/2006/relationships/hyperlink" Target="mailto:bmbilge@ankara.edu.t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COM1013</a:t>
            </a:r>
            <a:endParaRPr/>
          </a:p>
          <a:p>
            <a:pPr indent="0" lvl="0" marL="0" rtl="0" algn="ctr">
              <a:spcBef>
                <a:spcPts val="0"/>
              </a:spcBef>
              <a:spcAft>
                <a:spcPts val="0"/>
              </a:spcAft>
              <a:buNone/>
            </a:pPr>
            <a:r>
              <a:rPr lang="en"/>
              <a:t>INTRODUCTION TO COMPUTER SCIENCE</a:t>
            </a:r>
            <a:endParaRPr/>
          </a:p>
        </p:txBody>
      </p:sp>
      <p:sp>
        <p:nvSpPr>
          <p:cNvPr id="55" name="Google Shape;55;p13"/>
          <p:cNvSpPr txBox="1"/>
          <p:nvPr>
            <p:ph idx="1" type="subTitle"/>
          </p:nvPr>
        </p:nvSpPr>
        <p:spPr>
          <a:xfrm>
            <a:off x="311700" y="3778800"/>
            <a:ext cx="8520600" cy="2736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Lecturer: Begüm MUTLU BİLGE, PhD</a:t>
            </a:r>
            <a:endParaRPr/>
          </a:p>
          <a:p>
            <a:pPr indent="0" lvl="0" marL="0" rtl="0" algn="ctr">
              <a:spcBef>
                <a:spcPts val="0"/>
              </a:spcBef>
              <a:spcAft>
                <a:spcPts val="0"/>
              </a:spcAft>
              <a:buNone/>
            </a:pPr>
            <a:r>
              <a:t/>
            </a:r>
            <a:endParaRPr/>
          </a:p>
          <a:p>
            <a:pPr indent="0" lvl="0" marL="0" rtl="0" algn="l">
              <a:spcBef>
                <a:spcPts val="0"/>
              </a:spcBef>
              <a:spcAft>
                <a:spcPts val="0"/>
              </a:spcAft>
              <a:buNone/>
            </a:pPr>
            <a:r>
              <a:rPr lang="en" sz="2200" u="sng">
                <a:solidFill>
                  <a:schemeClr val="hlink"/>
                </a:solidFill>
                <a:hlinkClick r:id="rId3"/>
              </a:rPr>
              <a:t>begummutlubilge+com1013@gmail.com</a:t>
            </a:r>
            <a:r>
              <a:rPr lang="en" sz="2200"/>
              <a:t> (recommended)</a:t>
            </a:r>
            <a:endParaRPr sz="2200"/>
          </a:p>
          <a:p>
            <a:pPr indent="0" lvl="0" marL="0" rtl="0" algn="l">
              <a:spcBef>
                <a:spcPts val="0"/>
              </a:spcBef>
              <a:spcAft>
                <a:spcPts val="0"/>
              </a:spcAft>
              <a:buNone/>
            </a:pPr>
            <a:r>
              <a:rPr lang="en" sz="2200" u="sng">
                <a:solidFill>
                  <a:schemeClr val="hlink"/>
                </a:solidFill>
                <a:hlinkClick r:id="rId4"/>
              </a:rPr>
              <a:t>bmbilge@ankara.edu.tr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61" name="Google Shape;61;p14"/>
          <p:cNvPicPr preferRelativeResize="0"/>
          <p:nvPr/>
        </p:nvPicPr>
        <p:blipFill>
          <a:blip r:embed="rId3">
            <a:alphaModFix/>
          </a:blip>
          <a:stretch>
            <a:fillRect/>
          </a:stretch>
        </p:blipFill>
        <p:spPr>
          <a:xfrm>
            <a:off x="0" y="1200534"/>
            <a:ext cx="9144000" cy="565746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Database Systems</a:t>
            </a:r>
            <a:endParaRPr/>
          </a:p>
        </p:txBody>
      </p:sp>
      <p:sp>
        <p:nvSpPr>
          <p:cNvPr id="67" name="Google Shape;67;p15"/>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n"/>
              <a:t>Today’s technology is capable of storing extremely </a:t>
            </a:r>
            <a:r>
              <a:rPr b="1" lang="en"/>
              <a:t>large amounts of data</a:t>
            </a:r>
            <a:r>
              <a:rPr lang="en"/>
              <a:t>, but such data collections are </a:t>
            </a:r>
            <a:r>
              <a:rPr b="1" lang="en"/>
              <a:t>useless </a:t>
            </a:r>
            <a:r>
              <a:rPr lang="en"/>
              <a:t>unless we are able to </a:t>
            </a:r>
            <a:r>
              <a:rPr b="1" lang="en"/>
              <a:t>extract </a:t>
            </a:r>
            <a:r>
              <a:rPr lang="en"/>
              <a:t>those particular items of </a:t>
            </a:r>
            <a:r>
              <a:rPr b="1" lang="en"/>
              <a:t>information </a:t>
            </a:r>
            <a:r>
              <a:rPr lang="en"/>
              <a:t>that are pertinent to the task at hand.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Database Fundamentals</a:t>
            </a:r>
            <a:endParaRPr/>
          </a:p>
        </p:txBody>
      </p:sp>
      <p:sp>
        <p:nvSpPr>
          <p:cNvPr id="73" name="Google Shape;73;p16"/>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The term </a:t>
            </a:r>
            <a:r>
              <a:rPr b="1" lang="en"/>
              <a:t>database </a:t>
            </a:r>
            <a:r>
              <a:rPr lang="en"/>
              <a:t>refers to a collection of data that is</a:t>
            </a:r>
            <a:endParaRPr/>
          </a:p>
          <a:p>
            <a:pPr indent="-393700" lvl="0" marL="457200" rtl="0" algn="just">
              <a:spcBef>
                <a:spcPts val="1200"/>
              </a:spcBef>
              <a:spcAft>
                <a:spcPts val="0"/>
              </a:spcAft>
              <a:buSzPts val="2600"/>
              <a:buChar char="●"/>
            </a:pPr>
            <a:r>
              <a:rPr lang="en"/>
              <a:t>multidimensional in the sense that internal links between its entries make the information accessible from a variety of perspectives. </a:t>
            </a:r>
            <a:endParaRPr/>
          </a:p>
          <a:p>
            <a:pPr indent="0" lvl="0" marL="0" rtl="0" algn="just">
              <a:spcBef>
                <a:spcPts val="1200"/>
              </a:spcBef>
              <a:spcAft>
                <a:spcPts val="0"/>
              </a:spcAft>
              <a:buNone/>
            </a:pPr>
            <a:r>
              <a:rPr lang="en"/>
              <a:t>Traditional file system, flat file: </a:t>
            </a:r>
            <a:endParaRPr/>
          </a:p>
          <a:p>
            <a:pPr indent="-393700" lvl="0" marL="457200" rtl="0" algn="just">
              <a:spcBef>
                <a:spcPts val="1200"/>
              </a:spcBef>
              <a:spcAft>
                <a:spcPts val="0"/>
              </a:spcAft>
              <a:buSzPts val="2600"/>
              <a:buChar char="●"/>
            </a:pPr>
            <a:r>
              <a:rPr lang="en"/>
              <a:t>a one-dimensional storage system, meaning that it presents its information from a single point of view</a:t>
            </a:r>
            <a:endParaRPr/>
          </a:p>
          <a:p>
            <a:pPr indent="0" lvl="0" marL="0" rtl="0" algn="just">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Significance of Database Systems</a:t>
            </a:r>
            <a:endParaRPr/>
          </a:p>
        </p:txBody>
      </p:sp>
      <p:sp>
        <p:nvSpPr>
          <p:cNvPr id="79" name="Google Shape;79;p17"/>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each application tended to be implemented as a separate system with its own collection of data.</a:t>
            </a:r>
            <a:endParaRPr/>
          </a:p>
          <a:p>
            <a:pPr indent="0" lvl="0" marL="0" rtl="0" algn="just">
              <a:spcBef>
                <a:spcPts val="1200"/>
              </a:spcBef>
              <a:spcAft>
                <a:spcPts val="0"/>
              </a:spcAft>
              <a:buNone/>
            </a:pPr>
            <a:r>
              <a:rPr lang="en"/>
              <a:t>many different but related items were stored in separate systems</a:t>
            </a:r>
            <a:endParaRPr/>
          </a:p>
          <a:p>
            <a:pPr indent="-393700" lvl="0" marL="457200" rtl="0" algn="just">
              <a:spcBef>
                <a:spcPts val="1200"/>
              </a:spcBef>
              <a:spcAft>
                <a:spcPts val="0"/>
              </a:spcAft>
              <a:buSzPts val="2600"/>
              <a:buChar char="●"/>
            </a:pPr>
            <a:r>
              <a:rPr lang="en"/>
              <a:t>Duplicated information</a:t>
            </a:r>
            <a:endParaRPr/>
          </a:p>
          <a:p>
            <a:pPr indent="0" lvl="0" marL="0" rtl="0" algn="just">
              <a:spcBef>
                <a:spcPts val="1200"/>
              </a:spcBef>
              <a:spcAft>
                <a:spcPts val="0"/>
              </a:spcAft>
              <a:buNone/>
            </a:pPr>
            <a:r>
              <a:rPr lang="en"/>
              <a:t>database systems emerged as a means of integrating the information stored and maintained by a particular organization</a:t>
            </a:r>
            <a:endParaRPr/>
          </a:p>
          <a:p>
            <a:pPr indent="0" lvl="0" marL="0" rtl="0" algn="just">
              <a:spcBef>
                <a:spcPts val="1200"/>
              </a:spcBef>
              <a:spcAft>
                <a:spcPts val="0"/>
              </a:spcAft>
              <a:buNone/>
            </a:pPr>
            <a:r>
              <a:t/>
            </a:r>
            <a:endParaRPr/>
          </a:p>
          <a:p>
            <a:pPr indent="0" lvl="0" marL="0" rtl="0" algn="just">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 file versus database organization</a:t>
            </a:r>
            <a:endParaRPr/>
          </a:p>
        </p:txBody>
      </p:sp>
      <p:sp>
        <p:nvSpPr>
          <p:cNvPr id="85" name="Google Shape;85;p18"/>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t/>
            </a:r>
            <a:endParaRPr/>
          </a:p>
        </p:txBody>
      </p:sp>
      <p:pic>
        <p:nvPicPr>
          <p:cNvPr id="86" name="Google Shape;86;p18"/>
          <p:cNvPicPr preferRelativeResize="0"/>
          <p:nvPr/>
        </p:nvPicPr>
        <p:blipFill>
          <a:blip r:embed="rId3">
            <a:alphaModFix/>
          </a:blip>
          <a:stretch>
            <a:fillRect/>
          </a:stretch>
        </p:blipFill>
        <p:spPr>
          <a:xfrm>
            <a:off x="2243863" y="930373"/>
            <a:ext cx="4656268" cy="58118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Significance of Database Systems</a:t>
            </a:r>
            <a:endParaRPr/>
          </a:p>
        </p:txBody>
      </p:sp>
      <p:sp>
        <p:nvSpPr>
          <p:cNvPr id="92" name="Google Shape;92;p19"/>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D</a:t>
            </a:r>
            <a:r>
              <a:rPr lang="en"/>
              <a:t>atabase systems have become the underlying technology that supports many of the more popular sites on the World Wide Web</a:t>
            </a:r>
            <a:endParaRPr/>
          </a:p>
          <a:p>
            <a:pPr indent="0" lvl="0" marL="0" rtl="0" algn="just">
              <a:spcBef>
                <a:spcPts val="1200"/>
              </a:spcBef>
              <a:spcAft>
                <a:spcPts val="0"/>
              </a:spcAft>
              <a:buNone/>
            </a:pPr>
            <a:r>
              <a:rPr lang="en"/>
              <a:t>Google, eBay, and Amazon provide an interface between clients and databases. </a:t>
            </a:r>
            <a:endParaRPr/>
          </a:p>
          <a:p>
            <a:pPr indent="-393700" lvl="0" marL="457200" rtl="0" algn="just">
              <a:spcBef>
                <a:spcPts val="1200"/>
              </a:spcBef>
              <a:spcAft>
                <a:spcPts val="0"/>
              </a:spcAft>
              <a:buSzPts val="2600"/>
              <a:buChar char="●"/>
            </a:pPr>
            <a:r>
              <a:rPr lang="en"/>
              <a:t>To respond to a client’s request, </a:t>
            </a:r>
            <a:endParaRPr/>
          </a:p>
          <a:p>
            <a:pPr indent="-387350" lvl="1" marL="914400" rtl="0" algn="just">
              <a:spcBef>
                <a:spcPts val="0"/>
              </a:spcBef>
              <a:spcAft>
                <a:spcPts val="0"/>
              </a:spcAft>
              <a:buSzPts val="2500"/>
              <a:buChar char="○"/>
            </a:pPr>
            <a:r>
              <a:rPr lang="en"/>
              <a:t>the server interrogates a database, </a:t>
            </a:r>
            <a:endParaRPr/>
          </a:p>
          <a:p>
            <a:pPr indent="-387350" lvl="1" marL="914400" rtl="0" algn="just">
              <a:spcBef>
                <a:spcPts val="0"/>
              </a:spcBef>
              <a:spcAft>
                <a:spcPts val="0"/>
              </a:spcAft>
              <a:buSzPts val="2500"/>
              <a:buChar char="○"/>
            </a:pPr>
            <a:r>
              <a:rPr lang="en"/>
              <a:t>organizes the results in the form of a Web page, and</a:t>
            </a:r>
            <a:endParaRPr/>
          </a:p>
          <a:p>
            <a:pPr indent="-387350" lvl="1" marL="914400" rtl="0" algn="just">
              <a:spcBef>
                <a:spcPts val="0"/>
              </a:spcBef>
              <a:spcAft>
                <a:spcPts val="0"/>
              </a:spcAft>
              <a:buSzPts val="2500"/>
              <a:buChar char="○"/>
            </a:pPr>
            <a:r>
              <a:rPr lang="en"/>
              <a:t>sends that page to the client.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Role of Schemas</a:t>
            </a:r>
            <a:endParaRPr/>
          </a:p>
        </p:txBody>
      </p:sp>
      <p:sp>
        <p:nvSpPr>
          <p:cNvPr id="98" name="Google Shape;98;p20"/>
          <p:cNvSpPr txBox="1"/>
          <p:nvPr>
            <p:ph idx="1" type="body"/>
          </p:nvPr>
        </p:nvSpPr>
        <p:spPr>
          <a:xfrm>
            <a:off x="311700" y="930375"/>
            <a:ext cx="8709300" cy="58119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None/>
            </a:pPr>
            <a:r>
              <a:rPr lang="en"/>
              <a:t>Danger: the potential of </a:t>
            </a:r>
            <a:r>
              <a:rPr b="1" lang="en"/>
              <a:t>sensitive data </a:t>
            </a:r>
            <a:r>
              <a:rPr lang="en"/>
              <a:t>being accessed by </a:t>
            </a:r>
            <a:r>
              <a:rPr b="1" lang="en"/>
              <a:t>unauthorized personnel</a:t>
            </a:r>
            <a:r>
              <a:rPr lang="en"/>
              <a:t>.</a:t>
            </a:r>
            <a:endParaRPr/>
          </a:p>
          <a:p>
            <a:pPr indent="-393700" lvl="0" marL="457200" rtl="0" algn="just">
              <a:spcBef>
                <a:spcPts val="1200"/>
              </a:spcBef>
              <a:spcAft>
                <a:spcPts val="0"/>
              </a:spcAft>
              <a:buSzPts val="2600"/>
              <a:buChar char="●"/>
            </a:pPr>
            <a:r>
              <a:rPr lang="en"/>
              <a:t>Someone placing an order at a company’s website should not have access to the company’s financial data; </a:t>
            </a:r>
            <a:endParaRPr/>
          </a:p>
          <a:p>
            <a:pPr indent="-393700" lvl="0" marL="457200" rtl="0" algn="just">
              <a:spcBef>
                <a:spcPts val="0"/>
              </a:spcBef>
              <a:spcAft>
                <a:spcPts val="0"/>
              </a:spcAft>
              <a:buSzPts val="2600"/>
              <a:buChar char="●"/>
            </a:pPr>
            <a:r>
              <a:rPr lang="en"/>
              <a:t>An employee in a company’s benefits department may need access to the company’s employee records but should not have access to the corporation’s inventory or sales records.</a:t>
            </a:r>
            <a:endParaRPr/>
          </a:p>
          <a:p>
            <a:pPr indent="0" lvl="0" marL="0" rtl="0" algn="just">
              <a:spcBef>
                <a:spcPts val="1200"/>
              </a:spcBef>
              <a:spcAft>
                <a:spcPts val="1200"/>
              </a:spcAft>
              <a:buNone/>
            </a:pPr>
            <a:r>
              <a:rPr lang="en"/>
              <a:t>Thus the ability to </a:t>
            </a:r>
            <a:r>
              <a:rPr b="1" lang="en"/>
              <a:t>control access to the information</a:t>
            </a:r>
            <a:r>
              <a:rPr lang="en"/>
              <a:t> in the database is as important as the ability to </a:t>
            </a:r>
            <a:r>
              <a:rPr b="1" lang="en"/>
              <a:t>share </a:t>
            </a:r>
            <a:r>
              <a:rPr lang="en"/>
              <a:t>it.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Role of Schemas</a:t>
            </a:r>
            <a:endParaRPr/>
          </a:p>
        </p:txBody>
      </p:sp>
      <p:sp>
        <p:nvSpPr>
          <p:cNvPr id="104" name="Google Shape;104;p21"/>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To provide different users access to different information within a database, database systems often rely on </a:t>
            </a:r>
            <a:r>
              <a:rPr b="1" lang="en"/>
              <a:t>schemas </a:t>
            </a:r>
            <a:r>
              <a:rPr lang="en"/>
              <a:t>and </a:t>
            </a:r>
            <a:r>
              <a:rPr b="1" lang="en"/>
              <a:t>subschemas</a:t>
            </a:r>
            <a:r>
              <a:rPr lang="en"/>
              <a:t>. </a:t>
            </a:r>
            <a:endParaRPr/>
          </a:p>
          <a:p>
            <a:pPr indent="0" lvl="0" marL="0" rtl="0" algn="just">
              <a:spcBef>
                <a:spcPts val="1200"/>
              </a:spcBef>
              <a:spcAft>
                <a:spcPts val="1200"/>
              </a:spcAft>
              <a:buNone/>
            </a:pPr>
            <a:r>
              <a:t/>
            </a:r>
            <a:endParaRPr/>
          </a:p>
        </p:txBody>
      </p:sp>
      <p:pic>
        <p:nvPicPr>
          <p:cNvPr id="105" name="Google Shape;105;p21"/>
          <p:cNvPicPr preferRelativeResize="0"/>
          <p:nvPr/>
        </p:nvPicPr>
        <p:blipFill rotWithShape="1">
          <a:blip r:embed="rId3">
            <a:alphaModFix/>
          </a:blip>
          <a:srcRect b="1687" l="3407" r="4757" t="22277"/>
          <a:stretch/>
        </p:blipFill>
        <p:spPr>
          <a:xfrm>
            <a:off x="1258827" y="2627725"/>
            <a:ext cx="6626326" cy="4114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Database Management Systems</a:t>
            </a:r>
            <a:endParaRPr/>
          </a:p>
        </p:txBody>
      </p:sp>
      <p:sp>
        <p:nvSpPr>
          <p:cNvPr id="111" name="Google Shape;111;p22"/>
          <p:cNvSpPr txBox="1"/>
          <p:nvPr>
            <p:ph idx="1" type="body"/>
          </p:nvPr>
        </p:nvSpPr>
        <p:spPr>
          <a:xfrm>
            <a:off x="311700" y="930375"/>
            <a:ext cx="8709300" cy="5146200"/>
          </a:xfrm>
          <a:prstGeom prst="rect">
            <a:avLst/>
          </a:prstGeom>
        </p:spPr>
        <p:txBody>
          <a:bodyPr anchorCtr="0" anchor="b" bIns="91425" lIns="91425" spcFirstLastPara="1" rIns="91425" wrap="square" tIns="91425">
            <a:normAutofit/>
          </a:bodyPr>
          <a:lstStyle/>
          <a:p>
            <a:pPr indent="0" lvl="0" marL="0" rtl="0" algn="ctr">
              <a:spcBef>
                <a:spcPts val="0"/>
              </a:spcBef>
              <a:spcAft>
                <a:spcPts val="1200"/>
              </a:spcAft>
              <a:buNone/>
            </a:pPr>
            <a:r>
              <a:rPr lang="en"/>
              <a:t>The conceptual layers of a database implementation</a:t>
            </a:r>
            <a:endParaRPr/>
          </a:p>
        </p:txBody>
      </p:sp>
      <p:pic>
        <p:nvPicPr>
          <p:cNvPr id="112" name="Google Shape;112;p22"/>
          <p:cNvPicPr preferRelativeResize="0"/>
          <p:nvPr/>
        </p:nvPicPr>
        <p:blipFill>
          <a:blip r:embed="rId3">
            <a:alphaModFix/>
          </a:blip>
          <a:stretch>
            <a:fillRect/>
          </a:stretch>
        </p:blipFill>
        <p:spPr>
          <a:xfrm>
            <a:off x="0" y="2056126"/>
            <a:ext cx="9143999" cy="274574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Database Models</a:t>
            </a:r>
            <a:endParaRPr/>
          </a:p>
        </p:txBody>
      </p:sp>
      <p:sp>
        <p:nvSpPr>
          <p:cNvPr id="118" name="Google Shape;118;p23"/>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This conceptual view of the database is called a database model.</a:t>
            </a:r>
            <a:endParaRPr/>
          </a:p>
          <a:p>
            <a:pPr indent="-393700" lvl="0" marL="457200" rtl="0" algn="just">
              <a:spcBef>
                <a:spcPts val="1200"/>
              </a:spcBef>
              <a:spcAft>
                <a:spcPts val="0"/>
              </a:spcAft>
              <a:buSzPts val="2600"/>
              <a:buChar char="●"/>
            </a:pPr>
            <a:r>
              <a:rPr lang="en"/>
              <a:t>the relational database model</a:t>
            </a:r>
            <a:endParaRPr/>
          </a:p>
          <a:p>
            <a:pPr indent="-393700" lvl="0" marL="457200" rtl="0" algn="just">
              <a:spcBef>
                <a:spcPts val="0"/>
              </a:spcBef>
              <a:spcAft>
                <a:spcPts val="0"/>
              </a:spcAft>
              <a:buSzPts val="2600"/>
              <a:buChar char="●"/>
            </a:pPr>
            <a:r>
              <a:rPr lang="en"/>
              <a:t>the object-oriented database model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Relational Model</a:t>
            </a:r>
            <a:endParaRPr/>
          </a:p>
        </p:txBody>
      </p:sp>
      <p:sp>
        <p:nvSpPr>
          <p:cNvPr id="124" name="Google Shape;124;p24"/>
          <p:cNvSpPr txBox="1"/>
          <p:nvPr>
            <p:ph idx="1" type="body"/>
          </p:nvPr>
        </p:nvSpPr>
        <p:spPr>
          <a:xfrm>
            <a:off x="311700" y="930375"/>
            <a:ext cx="8709300" cy="5927700"/>
          </a:xfrm>
          <a:prstGeom prst="rect">
            <a:avLst/>
          </a:prstGeom>
        </p:spPr>
        <p:txBody>
          <a:bodyPr anchorCtr="0" anchor="b" bIns="91425" lIns="91425" spcFirstLastPara="1" rIns="91425" wrap="square" tIns="91425">
            <a:normAutofit/>
          </a:bodyPr>
          <a:lstStyle/>
          <a:p>
            <a:pPr indent="0" lvl="0" marL="0" rtl="0" algn="just">
              <a:spcBef>
                <a:spcPts val="0"/>
              </a:spcBef>
              <a:spcAft>
                <a:spcPts val="0"/>
              </a:spcAft>
              <a:buNone/>
            </a:pPr>
            <a:r>
              <a:rPr lang="en"/>
              <a:t>W</a:t>
            </a:r>
            <a:r>
              <a:rPr lang="en"/>
              <a:t>e want to include information about the jobs held by the employees. HOW?</a:t>
            </a:r>
            <a:endParaRPr/>
          </a:p>
          <a:p>
            <a:pPr indent="0" lvl="0" marL="0" rtl="0" algn="just">
              <a:spcBef>
                <a:spcPts val="1200"/>
              </a:spcBef>
              <a:spcAft>
                <a:spcPts val="1200"/>
              </a:spcAft>
              <a:buNone/>
            </a:pPr>
            <a:r>
              <a:rPr b="1" lang="en"/>
              <a:t>What to add:</a:t>
            </a:r>
            <a:r>
              <a:rPr lang="en"/>
              <a:t> job title (secretary, office manager, floor supervisor), a job identification code (unique to each job), the skill code associated with each job, the department, and the period during which the employee held the job.</a:t>
            </a:r>
            <a:endParaRPr/>
          </a:p>
        </p:txBody>
      </p:sp>
      <p:pic>
        <p:nvPicPr>
          <p:cNvPr id="125" name="Google Shape;125;p24"/>
          <p:cNvPicPr preferRelativeResize="0"/>
          <p:nvPr/>
        </p:nvPicPr>
        <p:blipFill>
          <a:blip r:embed="rId3">
            <a:alphaModFix/>
          </a:blip>
          <a:stretch>
            <a:fillRect/>
          </a:stretch>
        </p:blipFill>
        <p:spPr>
          <a:xfrm>
            <a:off x="0" y="820443"/>
            <a:ext cx="9144000" cy="260856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Relational Model</a:t>
            </a:r>
            <a:endParaRPr/>
          </a:p>
        </p:txBody>
      </p:sp>
      <p:sp>
        <p:nvSpPr>
          <p:cNvPr id="131" name="Google Shape;131;p25"/>
          <p:cNvSpPr txBox="1"/>
          <p:nvPr>
            <p:ph idx="1" type="body"/>
          </p:nvPr>
        </p:nvSpPr>
        <p:spPr>
          <a:xfrm>
            <a:off x="311700" y="930375"/>
            <a:ext cx="8709300" cy="5811900"/>
          </a:xfrm>
          <a:prstGeom prst="rect">
            <a:avLst/>
          </a:prstGeom>
        </p:spPr>
        <p:txBody>
          <a:bodyPr anchorCtr="0" anchor="b" bIns="91425" lIns="91425" spcFirstLastPara="1" rIns="91425" wrap="square" tIns="91425">
            <a:normAutofit/>
          </a:bodyPr>
          <a:lstStyle/>
          <a:p>
            <a:pPr indent="0" lvl="0" marL="0" rtl="0" algn="just">
              <a:spcBef>
                <a:spcPts val="0"/>
              </a:spcBef>
              <a:spcAft>
                <a:spcPts val="0"/>
              </a:spcAft>
              <a:buNone/>
            </a:pPr>
            <a:r>
              <a:rPr lang="en"/>
              <a:t>What is your opinion about this design ?</a:t>
            </a:r>
            <a:endParaRPr/>
          </a:p>
          <a:p>
            <a:pPr indent="0" lvl="0" marL="0" rtl="0" algn="just">
              <a:spcBef>
                <a:spcPts val="1200"/>
              </a:spcBef>
              <a:spcAft>
                <a:spcPts val="1200"/>
              </a:spcAft>
              <a:buNone/>
            </a:pPr>
            <a:r>
              <a:rPr b="1" lang="en"/>
              <a:t>The cause of a</a:t>
            </a:r>
            <a:r>
              <a:rPr b="1" lang="en"/>
              <a:t>ll problems is that we have combined more than one concept in a single relation.</a:t>
            </a:r>
            <a:endParaRPr b="1"/>
          </a:p>
        </p:txBody>
      </p:sp>
      <p:pic>
        <p:nvPicPr>
          <p:cNvPr id="132" name="Google Shape;132;p25"/>
          <p:cNvPicPr preferRelativeResize="0"/>
          <p:nvPr/>
        </p:nvPicPr>
        <p:blipFill>
          <a:blip r:embed="rId3">
            <a:alphaModFix/>
          </a:blip>
          <a:stretch>
            <a:fillRect/>
          </a:stretch>
        </p:blipFill>
        <p:spPr>
          <a:xfrm>
            <a:off x="155850" y="1244263"/>
            <a:ext cx="8832300" cy="324976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Relational Model</a:t>
            </a:r>
            <a:endParaRPr/>
          </a:p>
        </p:txBody>
      </p:sp>
      <p:sp>
        <p:nvSpPr>
          <p:cNvPr id="138" name="Google Shape;138;p26"/>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t/>
            </a:r>
            <a:endParaRPr/>
          </a:p>
        </p:txBody>
      </p:sp>
      <p:pic>
        <p:nvPicPr>
          <p:cNvPr id="139" name="Google Shape;139;p26"/>
          <p:cNvPicPr preferRelativeResize="0"/>
          <p:nvPr/>
        </p:nvPicPr>
        <p:blipFill>
          <a:blip r:embed="rId3">
            <a:alphaModFix/>
          </a:blip>
          <a:stretch>
            <a:fillRect/>
          </a:stretch>
        </p:blipFill>
        <p:spPr>
          <a:xfrm>
            <a:off x="1589687" y="872512"/>
            <a:ext cx="5964620" cy="59276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Relational Model</a:t>
            </a:r>
            <a:endParaRPr/>
          </a:p>
        </p:txBody>
      </p:sp>
      <p:sp>
        <p:nvSpPr>
          <p:cNvPr id="145" name="Google Shape;145;p27"/>
          <p:cNvSpPr txBox="1"/>
          <p:nvPr>
            <p:ph idx="1" type="body"/>
          </p:nvPr>
        </p:nvSpPr>
        <p:spPr>
          <a:xfrm>
            <a:off x="311700" y="930375"/>
            <a:ext cx="8709300" cy="11223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n"/>
              <a:t>Finding the departments in which employee 23Y34 has worked</a:t>
            </a:r>
            <a:endParaRPr/>
          </a:p>
        </p:txBody>
      </p:sp>
      <p:pic>
        <p:nvPicPr>
          <p:cNvPr id="146" name="Google Shape;146;p27"/>
          <p:cNvPicPr preferRelativeResize="0"/>
          <p:nvPr/>
        </p:nvPicPr>
        <p:blipFill>
          <a:blip r:embed="rId3">
            <a:alphaModFix/>
          </a:blip>
          <a:stretch>
            <a:fillRect/>
          </a:stretch>
        </p:blipFill>
        <p:spPr>
          <a:xfrm>
            <a:off x="698488" y="1820175"/>
            <a:ext cx="7747020" cy="50378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8"/>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Relational Model</a:t>
            </a:r>
            <a:endParaRPr/>
          </a:p>
        </p:txBody>
      </p:sp>
      <p:sp>
        <p:nvSpPr>
          <p:cNvPr id="152" name="Google Shape;152;p28"/>
          <p:cNvSpPr txBox="1"/>
          <p:nvPr>
            <p:ph idx="1" type="body"/>
          </p:nvPr>
        </p:nvSpPr>
        <p:spPr>
          <a:xfrm>
            <a:off x="311700" y="930375"/>
            <a:ext cx="8709300" cy="5811900"/>
          </a:xfrm>
          <a:prstGeom prst="rect">
            <a:avLst/>
          </a:prstGeom>
        </p:spPr>
        <p:txBody>
          <a:bodyPr anchorCtr="0" anchor="b" bIns="91425" lIns="91425" spcFirstLastPara="1" rIns="91425" wrap="square" tIns="91425">
            <a:normAutofit/>
          </a:bodyPr>
          <a:lstStyle/>
          <a:p>
            <a:pPr indent="0" lvl="0" marL="0" rtl="0" algn="just">
              <a:spcBef>
                <a:spcPts val="0"/>
              </a:spcBef>
              <a:spcAft>
                <a:spcPts val="1200"/>
              </a:spcAft>
              <a:buNone/>
            </a:pPr>
            <a:r>
              <a:rPr lang="en"/>
              <a:t>D</a:t>
            </a:r>
            <a:r>
              <a:rPr lang="en"/>
              <a:t>ividing information into various relations is not always as trouble-free. </a:t>
            </a:r>
            <a:endParaRPr/>
          </a:p>
        </p:txBody>
      </p:sp>
      <p:pic>
        <p:nvPicPr>
          <p:cNvPr id="153" name="Google Shape;153;p28"/>
          <p:cNvPicPr preferRelativeResize="0"/>
          <p:nvPr/>
        </p:nvPicPr>
        <p:blipFill>
          <a:blip r:embed="rId3">
            <a:alphaModFix/>
          </a:blip>
          <a:stretch>
            <a:fillRect/>
          </a:stretch>
        </p:blipFill>
        <p:spPr>
          <a:xfrm>
            <a:off x="0" y="1376699"/>
            <a:ext cx="9144001" cy="410460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9"/>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Relational Model</a:t>
            </a:r>
            <a:endParaRPr/>
          </a:p>
        </p:txBody>
      </p:sp>
      <p:sp>
        <p:nvSpPr>
          <p:cNvPr id="159" name="Google Shape;159;p29"/>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S</a:t>
            </a:r>
            <a:r>
              <a:rPr lang="en"/>
              <a:t>ometimes dividing a relation into smaller relations causes the loss of information, and sometimes it does not.</a:t>
            </a:r>
            <a:endParaRPr/>
          </a:p>
          <a:p>
            <a:pPr indent="-393700" lvl="0" marL="457200" rtl="0" algn="just">
              <a:spcBef>
                <a:spcPts val="1200"/>
              </a:spcBef>
              <a:spcAft>
                <a:spcPts val="0"/>
              </a:spcAft>
              <a:buSzPts val="2600"/>
              <a:buChar char="●"/>
            </a:pPr>
            <a:r>
              <a:rPr lang="en"/>
              <a:t>Lossless (nonloss) decomposition</a:t>
            </a:r>
            <a:endParaRPr/>
          </a:p>
          <a:p>
            <a:pPr indent="-387350" lvl="1" marL="914400" rtl="0" algn="just">
              <a:spcBef>
                <a:spcPts val="0"/>
              </a:spcBef>
              <a:spcAft>
                <a:spcPts val="0"/>
              </a:spcAft>
              <a:buSzPts val="2500"/>
              <a:buChar char="○"/>
            </a:pPr>
            <a:r>
              <a:rPr lang="en"/>
              <a:t>Such relational characteristics are important design considerations. </a:t>
            </a:r>
            <a:endParaRPr/>
          </a:p>
          <a:p>
            <a:pPr indent="-393700" lvl="0" marL="457200" rtl="0" algn="just">
              <a:spcBef>
                <a:spcPts val="0"/>
              </a:spcBef>
              <a:spcAft>
                <a:spcPts val="0"/>
              </a:spcAft>
              <a:buSzPts val="2600"/>
              <a:buChar char="●"/>
            </a:pPr>
            <a:r>
              <a:rPr lang="en"/>
              <a:t>The goal is </a:t>
            </a:r>
            <a:endParaRPr/>
          </a:p>
          <a:p>
            <a:pPr indent="-387350" lvl="1" marL="914400" rtl="0" algn="just">
              <a:spcBef>
                <a:spcPts val="0"/>
              </a:spcBef>
              <a:spcAft>
                <a:spcPts val="0"/>
              </a:spcAft>
              <a:buSzPts val="2500"/>
              <a:buChar char="○"/>
            </a:pPr>
            <a:r>
              <a:rPr lang="en"/>
              <a:t>To identify the relational characteristics that can lead to problems in database design and </a:t>
            </a:r>
            <a:endParaRPr/>
          </a:p>
          <a:p>
            <a:pPr indent="-387350" lvl="1" marL="914400" rtl="0" algn="just">
              <a:spcBef>
                <a:spcPts val="0"/>
              </a:spcBef>
              <a:spcAft>
                <a:spcPts val="0"/>
              </a:spcAft>
              <a:buSzPts val="2500"/>
              <a:buChar char="○"/>
            </a:pPr>
            <a:r>
              <a:rPr lang="en"/>
              <a:t>To find ways to reorganize those relations to remove these problematic characteristics.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0"/>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Relational Operations</a:t>
            </a:r>
            <a:endParaRPr/>
          </a:p>
        </p:txBody>
      </p:sp>
      <p:sp>
        <p:nvSpPr>
          <p:cNvPr id="165" name="Google Shape;165;p30"/>
          <p:cNvSpPr txBox="1"/>
          <p:nvPr>
            <p:ph idx="1" type="body"/>
          </p:nvPr>
        </p:nvSpPr>
        <p:spPr>
          <a:xfrm>
            <a:off x="311700" y="930375"/>
            <a:ext cx="8709300" cy="19581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n">
                <a:solidFill>
                  <a:schemeClr val="accent1"/>
                </a:solidFill>
              </a:rPr>
              <a:t>SELECT</a:t>
            </a:r>
            <a:r>
              <a:rPr lang="en"/>
              <a:t>: O</a:t>
            </a:r>
            <a:r>
              <a:rPr lang="en"/>
              <a:t>ne operation we might want to perform on a relation is </a:t>
            </a:r>
            <a:r>
              <a:rPr lang="en" u="sng"/>
              <a:t>to select tuples</a:t>
            </a:r>
            <a:r>
              <a:rPr lang="en"/>
              <a:t> possessing certain characteristics and to place these selected tuples in a new relation. </a:t>
            </a:r>
            <a:endParaRPr/>
          </a:p>
        </p:txBody>
      </p:sp>
      <p:pic>
        <p:nvPicPr>
          <p:cNvPr id="166" name="Google Shape;166;p30"/>
          <p:cNvPicPr preferRelativeResize="0"/>
          <p:nvPr/>
        </p:nvPicPr>
        <p:blipFill>
          <a:blip r:embed="rId3">
            <a:alphaModFix/>
          </a:blip>
          <a:stretch>
            <a:fillRect/>
          </a:stretch>
        </p:blipFill>
        <p:spPr>
          <a:xfrm>
            <a:off x="1690925" y="2888475"/>
            <a:ext cx="5950850" cy="4107375"/>
          </a:xfrm>
          <a:prstGeom prst="rect">
            <a:avLst/>
          </a:prstGeom>
          <a:noFill/>
          <a:ln>
            <a:noFill/>
          </a:ln>
        </p:spPr>
      </p:pic>
      <p:sp>
        <p:nvSpPr>
          <p:cNvPr id="167" name="Google Shape;167;p30"/>
          <p:cNvSpPr txBox="1"/>
          <p:nvPr/>
        </p:nvSpPr>
        <p:spPr>
          <a:xfrm>
            <a:off x="0" y="3429000"/>
            <a:ext cx="1690800" cy="93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latin typeface="Open Sans"/>
                <a:ea typeface="Open Sans"/>
                <a:cs typeface="Open Sans"/>
                <a:sym typeface="Open Sans"/>
              </a:rPr>
              <a:t>EMPLOYEE relation</a:t>
            </a:r>
            <a:endParaRPr sz="2200">
              <a:latin typeface="Open Sans"/>
              <a:ea typeface="Open Sans"/>
              <a:cs typeface="Open Sans"/>
              <a:sym typeface="Open Sans"/>
            </a:endParaRPr>
          </a:p>
        </p:txBody>
      </p:sp>
      <p:sp>
        <p:nvSpPr>
          <p:cNvPr id="168" name="Google Shape;168;p30"/>
          <p:cNvSpPr txBox="1"/>
          <p:nvPr/>
        </p:nvSpPr>
        <p:spPr>
          <a:xfrm>
            <a:off x="0" y="5918100"/>
            <a:ext cx="1690800" cy="93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latin typeface="Open Sans"/>
                <a:ea typeface="Open Sans"/>
                <a:cs typeface="Open Sans"/>
                <a:sym typeface="Open Sans"/>
              </a:rPr>
              <a:t>NEW </a:t>
            </a:r>
            <a:r>
              <a:rPr lang="en" sz="2200">
                <a:latin typeface="Open Sans"/>
                <a:ea typeface="Open Sans"/>
                <a:cs typeface="Open Sans"/>
                <a:sym typeface="Open Sans"/>
              </a:rPr>
              <a:t>relation</a:t>
            </a:r>
            <a:endParaRPr sz="2200">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1"/>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Relational Operations</a:t>
            </a:r>
            <a:endParaRPr/>
          </a:p>
        </p:txBody>
      </p:sp>
      <p:sp>
        <p:nvSpPr>
          <p:cNvPr id="174" name="Google Shape;174;p31"/>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n">
                <a:solidFill>
                  <a:schemeClr val="accent1"/>
                </a:solidFill>
              </a:rPr>
              <a:t>PROJECT</a:t>
            </a:r>
            <a:r>
              <a:rPr lang="en">
                <a:solidFill>
                  <a:schemeClr val="dk1"/>
                </a:solidFill>
              </a:rPr>
              <a:t>:</a:t>
            </a:r>
            <a:r>
              <a:rPr lang="en">
                <a:solidFill>
                  <a:schemeClr val="accent1"/>
                </a:solidFill>
              </a:rPr>
              <a:t> </a:t>
            </a:r>
            <a:r>
              <a:rPr lang="en"/>
              <a:t>In contrast to the SELECT operation, which extracts rows from a relation, the </a:t>
            </a:r>
            <a:r>
              <a:rPr lang="en">
                <a:solidFill>
                  <a:schemeClr val="accent1"/>
                </a:solidFill>
              </a:rPr>
              <a:t>PROJECT </a:t>
            </a:r>
            <a:r>
              <a:rPr lang="en"/>
              <a:t>operation extracts columns</a:t>
            </a:r>
            <a:endParaRPr/>
          </a:p>
        </p:txBody>
      </p:sp>
      <p:pic>
        <p:nvPicPr>
          <p:cNvPr id="175" name="Google Shape;175;p31"/>
          <p:cNvPicPr preferRelativeResize="0"/>
          <p:nvPr/>
        </p:nvPicPr>
        <p:blipFill>
          <a:blip r:embed="rId3">
            <a:alphaModFix/>
          </a:blip>
          <a:stretch>
            <a:fillRect/>
          </a:stretch>
        </p:blipFill>
        <p:spPr>
          <a:xfrm>
            <a:off x="1915963" y="1995725"/>
            <a:ext cx="5500776" cy="4746550"/>
          </a:xfrm>
          <a:prstGeom prst="rect">
            <a:avLst/>
          </a:prstGeom>
          <a:noFill/>
          <a:ln>
            <a:noFill/>
          </a:ln>
        </p:spPr>
      </p:pic>
      <p:sp>
        <p:nvSpPr>
          <p:cNvPr id="176" name="Google Shape;176;p31"/>
          <p:cNvSpPr txBox="1"/>
          <p:nvPr/>
        </p:nvSpPr>
        <p:spPr>
          <a:xfrm>
            <a:off x="225175" y="2489100"/>
            <a:ext cx="1690800" cy="93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latin typeface="Open Sans"/>
                <a:ea typeface="Open Sans"/>
                <a:cs typeface="Open Sans"/>
                <a:sym typeface="Open Sans"/>
              </a:rPr>
              <a:t>EMPLOYEE relation</a:t>
            </a:r>
            <a:endParaRPr sz="2200">
              <a:latin typeface="Open Sans"/>
              <a:ea typeface="Open Sans"/>
              <a:cs typeface="Open Sans"/>
              <a:sym typeface="Open Sans"/>
            </a:endParaRPr>
          </a:p>
        </p:txBody>
      </p:sp>
      <p:sp>
        <p:nvSpPr>
          <p:cNvPr id="177" name="Google Shape;177;p31"/>
          <p:cNvSpPr txBox="1"/>
          <p:nvPr/>
        </p:nvSpPr>
        <p:spPr>
          <a:xfrm>
            <a:off x="1023250" y="5715000"/>
            <a:ext cx="1690800" cy="939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latin typeface="Open Sans"/>
                <a:ea typeface="Open Sans"/>
                <a:cs typeface="Open Sans"/>
                <a:sym typeface="Open Sans"/>
              </a:rPr>
              <a:t>NEW </a:t>
            </a:r>
            <a:r>
              <a:rPr lang="en" sz="2200">
                <a:latin typeface="Open Sans"/>
                <a:ea typeface="Open Sans"/>
                <a:cs typeface="Open Sans"/>
                <a:sym typeface="Open Sans"/>
              </a:rPr>
              <a:t>relation</a:t>
            </a:r>
            <a:endParaRPr sz="2200">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2"/>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Relational Operations</a:t>
            </a:r>
            <a:endParaRPr/>
          </a:p>
        </p:txBody>
      </p:sp>
      <p:sp>
        <p:nvSpPr>
          <p:cNvPr id="183" name="Google Shape;183;p32"/>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n">
                <a:solidFill>
                  <a:schemeClr val="accent1"/>
                </a:solidFill>
              </a:rPr>
              <a:t>JOIN</a:t>
            </a:r>
            <a:r>
              <a:rPr lang="en"/>
              <a:t>: It is used to combine different relations into one relation. </a:t>
            </a:r>
            <a:endParaRPr/>
          </a:p>
        </p:txBody>
      </p:sp>
      <p:pic>
        <p:nvPicPr>
          <p:cNvPr id="184" name="Google Shape;184;p32"/>
          <p:cNvPicPr preferRelativeResize="0"/>
          <p:nvPr/>
        </p:nvPicPr>
        <p:blipFill>
          <a:blip r:embed="rId3">
            <a:alphaModFix/>
          </a:blip>
          <a:stretch>
            <a:fillRect/>
          </a:stretch>
        </p:blipFill>
        <p:spPr>
          <a:xfrm>
            <a:off x="1714588" y="1538525"/>
            <a:ext cx="5714833" cy="5203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3"/>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Relational Operations</a:t>
            </a:r>
            <a:endParaRPr/>
          </a:p>
        </p:txBody>
      </p:sp>
      <p:pic>
        <p:nvPicPr>
          <p:cNvPr id="190" name="Google Shape;190;p33"/>
          <p:cNvPicPr preferRelativeResize="0"/>
          <p:nvPr/>
        </p:nvPicPr>
        <p:blipFill>
          <a:blip r:embed="rId3">
            <a:alphaModFix/>
          </a:blip>
          <a:stretch>
            <a:fillRect/>
          </a:stretch>
        </p:blipFill>
        <p:spPr>
          <a:xfrm>
            <a:off x="2141175" y="2198525"/>
            <a:ext cx="5050350" cy="4659475"/>
          </a:xfrm>
          <a:prstGeom prst="rect">
            <a:avLst/>
          </a:prstGeom>
          <a:noFill/>
          <a:ln>
            <a:noFill/>
          </a:ln>
        </p:spPr>
      </p:pic>
      <p:sp>
        <p:nvSpPr>
          <p:cNvPr id="191" name="Google Shape;191;p33"/>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n">
                <a:solidFill>
                  <a:schemeClr val="accent1"/>
                </a:solidFill>
              </a:rPr>
              <a:t>JOIN: </a:t>
            </a:r>
            <a:r>
              <a:rPr lang="en">
                <a:solidFill>
                  <a:schemeClr val="dk1"/>
                </a:solidFill>
              </a:rPr>
              <a:t>The JOIN of two relations produces a new relation whose attributes consist of the attributes from the original relations.</a:t>
            </a:r>
            <a:endParaRPr>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4"/>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n">
                <a:solidFill>
                  <a:schemeClr val="accent1"/>
                </a:solidFill>
              </a:rPr>
              <a:t>JOIN</a:t>
            </a:r>
            <a:endParaRPr>
              <a:solidFill>
                <a:schemeClr val="dk1"/>
              </a:solidFill>
            </a:endParaRPr>
          </a:p>
        </p:txBody>
      </p:sp>
      <p:sp>
        <p:nvSpPr>
          <p:cNvPr id="197" name="Google Shape;197;p34"/>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Relational Operations</a:t>
            </a:r>
            <a:endParaRPr/>
          </a:p>
        </p:txBody>
      </p:sp>
      <p:pic>
        <p:nvPicPr>
          <p:cNvPr id="198" name="Google Shape;198;p34"/>
          <p:cNvPicPr preferRelativeResize="0"/>
          <p:nvPr/>
        </p:nvPicPr>
        <p:blipFill>
          <a:blip r:embed="rId3">
            <a:alphaModFix/>
          </a:blip>
          <a:stretch>
            <a:fillRect/>
          </a:stretch>
        </p:blipFill>
        <p:spPr>
          <a:xfrm>
            <a:off x="105225" y="1448325"/>
            <a:ext cx="8933550" cy="52939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5"/>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SQL</a:t>
            </a:r>
            <a:endParaRPr/>
          </a:p>
        </p:txBody>
      </p:sp>
      <p:sp>
        <p:nvSpPr>
          <p:cNvPr id="204" name="Google Shape;204;p35"/>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t/>
            </a:r>
            <a:endParaRPr/>
          </a:p>
          <a:p>
            <a:pPr indent="0" lvl="0" marL="0" rtl="0" algn="just">
              <a:spcBef>
                <a:spcPts val="1200"/>
              </a:spcBef>
              <a:spcAft>
                <a:spcPts val="0"/>
              </a:spcAft>
              <a:buNone/>
            </a:pPr>
            <a:r>
              <a:t/>
            </a:r>
            <a:endParaRPr/>
          </a:p>
          <a:p>
            <a:pPr indent="0" lvl="0" marL="0" rtl="0" algn="just">
              <a:spcBef>
                <a:spcPts val="1200"/>
              </a:spcBef>
              <a:spcAft>
                <a:spcPts val="0"/>
              </a:spcAft>
              <a:buNone/>
            </a:pPr>
            <a:r>
              <a:t/>
            </a:r>
            <a:endParaRPr/>
          </a:p>
          <a:p>
            <a:pPr indent="0" lvl="0" marL="0" rtl="0" algn="just">
              <a:spcBef>
                <a:spcPts val="1200"/>
              </a:spcBef>
              <a:spcAft>
                <a:spcPts val="1200"/>
              </a:spcAft>
              <a:buNone/>
            </a:pPr>
            <a:r>
              <a:rPr lang="en"/>
              <a:t>produces a listing of all employee names and addresses contained in the relation Employee. Note that this is merely a PROJECT operation.</a:t>
            </a:r>
            <a:endParaRPr/>
          </a:p>
        </p:txBody>
      </p:sp>
      <p:pic>
        <p:nvPicPr>
          <p:cNvPr id="205" name="Google Shape;205;p35"/>
          <p:cNvPicPr preferRelativeResize="0"/>
          <p:nvPr/>
        </p:nvPicPr>
        <p:blipFill>
          <a:blip r:embed="rId3">
            <a:alphaModFix/>
          </a:blip>
          <a:stretch>
            <a:fillRect/>
          </a:stretch>
        </p:blipFill>
        <p:spPr>
          <a:xfrm>
            <a:off x="2862250" y="1561750"/>
            <a:ext cx="3419475" cy="7239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6"/>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SQL</a:t>
            </a:r>
            <a:endParaRPr/>
          </a:p>
        </p:txBody>
      </p:sp>
      <p:sp>
        <p:nvSpPr>
          <p:cNvPr id="211" name="Google Shape;211;p36"/>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t/>
            </a:r>
            <a:endParaRPr/>
          </a:p>
          <a:p>
            <a:pPr indent="0" lvl="0" marL="0" rtl="0" algn="just">
              <a:spcBef>
                <a:spcPts val="1200"/>
              </a:spcBef>
              <a:spcAft>
                <a:spcPts val="0"/>
              </a:spcAft>
              <a:buNone/>
            </a:pPr>
            <a:r>
              <a:t/>
            </a:r>
            <a:endParaRPr/>
          </a:p>
          <a:p>
            <a:pPr indent="0" lvl="0" marL="0" rtl="0" algn="just">
              <a:spcBef>
                <a:spcPts val="1200"/>
              </a:spcBef>
              <a:spcAft>
                <a:spcPts val="0"/>
              </a:spcAft>
              <a:buNone/>
            </a:pPr>
            <a:r>
              <a:t/>
            </a:r>
            <a:endParaRPr/>
          </a:p>
          <a:p>
            <a:pPr indent="0" lvl="0" marL="0" rtl="0" algn="just">
              <a:spcBef>
                <a:spcPts val="1200"/>
              </a:spcBef>
              <a:spcAft>
                <a:spcPts val="0"/>
              </a:spcAft>
              <a:buNone/>
            </a:pPr>
            <a:r>
              <a:rPr lang="en"/>
              <a:t>produces all the information from the tuple associated with Cheryl H. Clark in the Employee relation. This is essentially a SELECT operation.</a:t>
            </a:r>
            <a:endParaRPr/>
          </a:p>
          <a:p>
            <a:pPr indent="0" lvl="0" marL="0" rtl="0" algn="just">
              <a:spcBef>
                <a:spcPts val="1200"/>
              </a:spcBef>
              <a:spcAft>
                <a:spcPts val="0"/>
              </a:spcAft>
              <a:buNone/>
            </a:pPr>
            <a:r>
              <a:t/>
            </a:r>
            <a:endParaRPr/>
          </a:p>
          <a:p>
            <a:pPr indent="0" lvl="0" marL="0" rtl="0" algn="just">
              <a:spcBef>
                <a:spcPts val="1200"/>
              </a:spcBef>
              <a:spcAft>
                <a:spcPts val="1200"/>
              </a:spcAft>
              <a:buNone/>
            </a:pPr>
            <a:r>
              <a:t/>
            </a:r>
            <a:endParaRPr/>
          </a:p>
        </p:txBody>
      </p:sp>
      <p:pic>
        <p:nvPicPr>
          <p:cNvPr id="212" name="Google Shape;212;p36"/>
          <p:cNvPicPr preferRelativeResize="0"/>
          <p:nvPr/>
        </p:nvPicPr>
        <p:blipFill>
          <a:blip r:embed="rId3">
            <a:alphaModFix/>
          </a:blip>
          <a:stretch>
            <a:fillRect/>
          </a:stretch>
        </p:blipFill>
        <p:spPr>
          <a:xfrm>
            <a:off x="1619250" y="1359350"/>
            <a:ext cx="5905500" cy="10477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7"/>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SQL</a:t>
            </a:r>
            <a:endParaRPr/>
          </a:p>
        </p:txBody>
      </p:sp>
      <p:sp>
        <p:nvSpPr>
          <p:cNvPr id="218" name="Google Shape;218;p37"/>
          <p:cNvSpPr txBox="1"/>
          <p:nvPr>
            <p:ph idx="1" type="body"/>
          </p:nvPr>
        </p:nvSpPr>
        <p:spPr>
          <a:xfrm>
            <a:off x="311700" y="930375"/>
            <a:ext cx="8709300" cy="59277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t/>
            </a:r>
            <a:endParaRPr/>
          </a:p>
          <a:p>
            <a:pPr indent="0" lvl="0" marL="0" rtl="0" algn="just">
              <a:spcBef>
                <a:spcPts val="1200"/>
              </a:spcBef>
              <a:spcAft>
                <a:spcPts val="0"/>
              </a:spcAft>
              <a:buNone/>
            </a:pPr>
            <a:r>
              <a:t/>
            </a:r>
            <a:endParaRPr/>
          </a:p>
          <a:p>
            <a:pPr indent="0" lvl="0" marL="0" rtl="0" algn="just">
              <a:spcBef>
                <a:spcPts val="1200"/>
              </a:spcBef>
              <a:spcAft>
                <a:spcPts val="1200"/>
              </a:spcAft>
              <a:buNone/>
            </a:pPr>
            <a:r>
              <a:rPr lang="en"/>
              <a:t>produces the name and address of Cheryl H. Clark as contained in the Employee relation. This is a combination of SELECT and PROJECT operations.</a:t>
            </a:r>
            <a:endParaRPr/>
          </a:p>
        </p:txBody>
      </p:sp>
      <p:pic>
        <p:nvPicPr>
          <p:cNvPr id="219" name="Google Shape;219;p37"/>
          <p:cNvPicPr preferRelativeResize="0"/>
          <p:nvPr/>
        </p:nvPicPr>
        <p:blipFill>
          <a:blip r:embed="rId3">
            <a:alphaModFix/>
          </a:blip>
          <a:stretch>
            <a:fillRect/>
          </a:stretch>
        </p:blipFill>
        <p:spPr>
          <a:xfrm>
            <a:off x="1957375" y="1017463"/>
            <a:ext cx="5229225" cy="10572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8"/>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SQL</a:t>
            </a:r>
            <a:endParaRPr/>
          </a:p>
        </p:txBody>
      </p:sp>
      <p:sp>
        <p:nvSpPr>
          <p:cNvPr id="225" name="Google Shape;225;p38"/>
          <p:cNvSpPr txBox="1"/>
          <p:nvPr>
            <p:ph idx="1" type="body"/>
          </p:nvPr>
        </p:nvSpPr>
        <p:spPr>
          <a:xfrm>
            <a:off x="311700" y="930375"/>
            <a:ext cx="8709300" cy="59277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t/>
            </a:r>
            <a:endParaRPr/>
          </a:p>
          <a:p>
            <a:pPr indent="0" lvl="0" marL="0" rtl="0" algn="just">
              <a:spcBef>
                <a:spcPts val="1200"/>
              </a:spcBef>
              <a:spcAft>
                <a:spcPts val="0"/>
              </a:spcAft>
              <a:buNone/>
            </a:pPr>
            <a:r>
              <a:t/>
            </a:r>
            <a:endParaRPr/>
          </a:p>
          <a:p>
            <a:pPr indent="0" lvl="0" marL="0" rtl="0" algn="just">
              <a:spcBef>
                <a:spcPts val="1200"/>
              </a:spcBef>
              <a:spcAft>
                <a:spcPts val="0"/>
              </a:spcAft>
              <a:buNone/>
            </a:pPr>
            <a:r>
              <a:t/>
            </a:r>
            <a:endParaRPr/>
          </a:p>
          <a:p>
            <a:pPr indent="0" lvl="0" marL="0" rtl="0" algn="just">
              <a:spcBef>
                <a:spcPts val="1200"/>
              </a:spcBef>
              <a:spcAft>
                <a:spcPts val="0"/>
              </a:spcAft>
              <a:buNone/>
            </a:pPr>
            <a:r>
              <a:rPr lang="en"/>
              <a:t>produces a listing of all employee names and their dates of initial employment. </a:t>
            </a:r>
            <a:endParaRPr/>
          </a:p>
          <a:p>
            <a:pPr indent="0" lvl="0" marL="0" rtl="0" algn="just">
              <a:spcBef>
                <a:spcPts val="1200"/>
              </a:spcBef>
              <a:spcAft>
                <a:spcPts val="1200"/>
              </a:spcAft>
              <a:buNone/>
            </a:pPr>
            <a:r>
              <a:rPr lang="en"/>
              <a:t>Note that this is the result of JOINing the relations Employee and Assignment and then SELECTing and PROJECTing the appropriate tuples and attributes as identified in the where and select clauses</a:t>
            </a:r>
            <a:endParaRPr/>
          </a:p>
        </p:txBody>
      </p:sp>
      <p:pic>
        <p:nvPicPr>
          <p:cNvPr id="226" name="Google Shape;226;p38"/>
          <p:cNvPicPr preferRelativeResize="0"/>
          <p:nvPr/>
        </p:nvPicPr>
        <p:blipFill>
          <a:blip r:embed="rId3">
            <a:alphaModFix/>
          </a:blip>
          <a:stretch>
            <a:fillRect/>
          </a:stretch>
        </p:blipFill>
        <p:spPr>
          <a:xfrm>
            <a:off x="1028700" y="1427925"/>
            <a:ext cx="7086600" cy="10572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9"/>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SQL</a:t>
            </a:r>
            <a:endParaRPr/>
          </a:p>
        </p:txBody>
      </p:sp>
      <p:sp>
        <p:nvSpPr>
          <p:cNvPr id="232" name="Google Shape;232;p39"/>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n"/>
              <a:t>SQL encompasses statements for </a:t>
            </a:r>
            <a:r>
              <a:rPr b="1" lang="en"/>
              <a:t>defining </a:t>
            </a:r>
            <a:r>
              <a:rPr lang="en"/>
              <a:t>the structure of relations, </a:t>
            </a:r>
            <a:r>
              <a:rPr b="1" lang="en"/>
              <a:t>creating </a:t>
            </a:r>
            <a:r>
              <a:rPr lang="en"/>
              <a:t>relations, and </a:t>
            </a:r>
            <a:r>
              <a:rPr b="1" lang="en"/>
              <a:t>modifying </a:t>
            </a:r>
            <a:r>
              <a:rPr lang="en"/>
              <a:t>the contents of relations as well as performing queries.</a:t>
            </a:r>
            <a:endParaRPr/>
          </a:p>
        </p:txBody>
      </p:sp>
      <p:pic>
        <p:nvPicPr>
          <p:cNvPr id="233" name="Google Shape;233;p39"/>
          <p:cNvPicPr preferRelativeResize="0"/>
          <p:nvPr/>
        </p:nvPicPr>
        <p:blipFill rotWithShape="1">
          <a:blip r:embed="rId3">
            <a:alphaModFix/>
          </a:blip>
          <a:srcRect b="0" l="0" r="0" t="8650"/>
          <a:stretch/>
        </p:blipFill>
        <p:spPr>
          <a:xfrm>
            <a:off x="0" y="2953650"/>
            <a:ext cx="9144000" cy="378862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0"/>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Traditional File Structures</a:t>
            </a:r>
            <a:endParaRPr/>
          </a:p>
        </p:txBody>
      </p:sp>
      <p:sp>
        <p:nvSpPr>
          <p:cNvPr id="239" name="Google Shape;239;p40"/>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Sequential Files</a:t>
            </a:r>
            <a:endParaRPr/>
          </a:p>
          <a:p>
            <a:pPr indent="-393700" lvl="0" marL="457200" rtl="0" algn="just">
              <a:spcBef>
                <a:spcPts val="1200"/>
              </a:spcBef>
              <a:spcAft>
                <a:spcPts val="0"/>
              </a:spcAft>
              <a:buSzPts val="2600"/>
              <a:buChar char="●"/>
            </a:pPr>
            <a:r>
              <a:rPr lang="en"/>
              <a:t>A</a:t>
            </a:r>
            <a:r>
              <a:rPr lang="en"/>
              <a:t>udio files, video files, files containing programs, and files containing textual documents</a:t>
            </a:r>
            <a:endParaRPr/>
          </a:p>
          <a:p>
            <a:pPr indent="0" lvl="0" marL="0" rtl="0" algn="just">
              <a:spcBef>
                <a:spcPts val="1200"/>
              </a:spcBef>
              <a:spcAft>
                <a:spcPts val="0"/>
              </a:spcAft>
              <a:buNone/>
            </a:pPr>
            <a:r>
              <a:rPr lang="en"/>
              <a:t>Indexed Files</a:t>
            </a:r>
            <a:endParaRPr/>
          </a:p>
          <a:p>
            <a:pPr indent="0" lvl="0" marL="0" rtl="0" algn="just">
              <a:spcBef>
                <a:spcPts val="1200"/>
              </a:spcBef>
              <a:spcAft>
                <a:spcPts val="1200"/>
              </a:spcAft>
              <a:buNone/>
            </a:pPr>
            <a:r>
              <a:rPr lang="en"/>
              <a:t>Hash Files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1"/>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Sequential File</a:t>
            </a:r>
            <a:endParaRPr/>
          </a:p>
        </p:txBody>
      </p:sp>
      <p:sp>
        <p:nvSpPr>
          <p:cNvPr id="245" name="Google Shape;245;p41"/>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A file that is accessed in a </a:t>
            </a:r>
            <a:r>
              <a:rPr b="1" lang="en"/>
              <a:t>serial manner</a:t>
            </a:r>
            <a:r>
              <a:rPr lang="en"/>
              <a:t> from its beginning to its end as though the information in the file were arranged in </a:t>
            </a:r>
            <a:r>
              <a:rPr b="1" lang="en"/>
              <a:t>one long row</a:t>
            </a:r>
            <a:r>
              <a:rPr lang="en"/>
              <a:t>.</a:t>
            </a:r>
            <a:endParaRPr/>
          </a:p>
          <a:p>
            <a:pPr indent="0" lvl="0" marL="0" rtl="0" algn="just">
              <a:spcBef>
                <a:spcPts val="1200"/>
              </a:spcBef>
              <a:spcAft>
                <a:spcPts val="0"/>
              </a:spcAft>
              <a:buNone/>
            </a:pPr>
            <a:r>
              <a:rPr lang="en"/>
              <a:t>In fact, </a:t>
            </a:r>
            <a:r>
              <a:rPr b="1" lang="en"/>
              <a:t>most of the files</a:t>
            </a:r>
            <a:r>
              <a:rPr lang="en"/>
              <a:t> created by a </a:t>
            </a:r>
            <a:r>
              <a:rPr b="1" lang="en"/>
              <a:t>typical personal computer</a:t>
            </a:r>
            <a:r>
              <a:rPr lang="en"/>
              <a:t> user are sequential files. </a:t>
            </a:r>
            <a:endParaRPr/>
          </a:p>
          <a:p>
            <a:pPr indent="0" lvl="0" marL="0" rtl="0" algn="just">
              <a:spcBef>
                <a:spcPts val="1200"/>
              </a:spcBef>
              <a:spcAft>
                <a:spcPts val="1200"/>
              </a:spcAft>
              <a:buNone/>
            </a:pPr>
            <a:r>
              <a:rPr lang="en"/>
              <a:t>For instance, when a spreadsheet is saved, its information is encoded and stored as a sequential file from which the spreadsheet application software can reconstruct the spreadsheet.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2"/>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Sequential File</a:t>
            </a:r>
            <a:endParaRPr/>
          </a:p>
        </p:txBody>
      </p:sp>
      <p:sp>
        <p:nvSpPr>
          <p:cNvPr id="251" name="Google Shape;251;p42"/>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t/>
            </a:r>
            <a:endParaRPr/>
          </a:p>
        </p:txBody>
      </p:sp>
      <p:pic>
        <p:nvPicPr>
          <p:cNvPr id="252" name="Google Shape;252;p42"/>
          <p:cNvPicPr preferRelativeResize="0"/>
          <p:nvPr/>
        </p:nvPicPr>
        <p:blipFill>
          <a:blip r:embed="rId3">
            <a:alphaModFix/>
          </a:blip>
          <a:stretch>
            <a:fillRect/>
          </a:stretch>
        </p:blipFill>
        <p:spPr>
          <a:xfrm>
            <a:off x="0" y="1586612"/>
            <a:ext cx="9144001" cy="368477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3"/>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Indexed Files</a:t>
            </a:r>
            <a:endParaRPr/>
          </a:p>
        </p:txBody>
      </p:sp>
      <p:sp>
        <p:nvSpPr>
          <p:cNvPr id="258" name="Google Shape;258;p43"/>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Sequential files are ideal for storing data that will be processed in the order in which the file’s entries are stored.</a:t>
            </a:r>
            <a:endParaRPr/>
          </a:p>
          <a:p>
            <a:pPr indent="0" lvl="0" marL="0" rtl="0" algn="just">
              <a:spcBef>
                <a:spcPts val="1200"/>
              </a:spcBef>
              <a:spcAft>
                <a:spcPts val="0"/>
              </a:spcAft>
              <a:buNone/>
            </a:pPr>
            <a:r>
              <a:rPr lang="en"/>
              <a:t>However, such files are inefficient when records within the file must be retrieved in an unpredictable order. </a:t>
            </a:r>
            <a:endParaRPr/>
          </a:p>
          <a:p>
            <a:pPr indent="0" lvl="0" marL="0" rtl="0" algn="just">
              <a:spcBef>
                <a:spcPts val="1200"/>
              </a:spcBef>
              <a:spcAft>
                <a:spcPts val="1200"/>
              </a:spcAft>
              <a:buNone/>
            </a:pPr>
            <a:r>
              <a:rPr lang="en"/>
              <a:t>In such situations what is needed is a way to identify the location of the desired logical record quickly.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4"/>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Indexed Files</a:t>
            </a:r>
            <a:endParaRPr/>
          </a:p>
        </p:txBody>
      </p:sp>
      <p:sp>
        <p:nvSpPr>
          <p:cNvPr id="264" name="Google Shape;264;p44"/>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A popular solution is to use an index for the file.</a:t>
            </a:r>
            <a:endParaRPr/>
          </a:p>
          <a:p>
            <a:pPr indent="0" lvl="0" marL="0" rtl="0" algn="just">
              <a:spcBef>
                <a:spcPts val="1200"/>
              </a:spcBef>
              <a:spcAft>
                <a:spcPts val="1200"/>
              </a:spcAft>
              <a:buNone/>
            </a:pPr>
            <a:r>
              <a:rPr lang="en"/>
              <a:t>Such a file system is called an </a:t>
            </a:r>
            <a:r>
              <a:rPr b="1" lang="en"/>
              <a:t>indexed file</a:t>
            </a:r>
            <a:r>
              <a:rPr lang="en"/>
              <a:t>.</a:t>
            </a:r>
            <a:endParaRPr/>
          </a:p>
        </p:txBody>
      </p:sp>
      <p:pic>
        <p:nvPicPr>
          <p:cNvPr id="265" name="Google Shape;265;p44"/>
          <p:cNvPicPr preferRelativeResize="0"/>
          <p:nvPr/>
        </p:nvPicPr>
        <p:blipFill>
          <a:blip r:embed="rId3">
            <a:alphaModFix/>
          </a:blip>
          <a:stretch>
            <a:fillRect/>
          </a:stretch>
        </p:blipFill>
        <p:spPr>
          <a:xfrm>
            <a:off x="419100" y="2408388"/>
            <a:ext cx="8305800" cy="43338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5"/>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Hash Files</a:t>
            </a:r>
            <a:endParaRPr/>
          </a:p>
        </p:txBody>
      </p:sp>
      <p:sp>
        <p:nvSpPr>
          <p:cNvPr id="271" name="Google Shape;271;p45"/>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Issue in indexing: T</a:t>
            </a:r>
            <a:r>
              <a:rPr lang="en"/>
              <a:t>he expense of index maintenance.</a:t>
            </a:r>
            <a:endParaRPr/>
          </a:p>
          <a:p>
            <a:pPr indent="0" lvl="0" marL="0" rtl="0" algn="just">
              <a:spcBef>
                <a:spcPts val="1200"/>
              </a:spcBef>
              <a:spcAft>
                <a:spcPts val="0"/>
              </a:spcAft>
              <a:buNone/>
            </a:pPr>
            <a:r>
              <a:rPr lang="en"/>
              <a:t>A hash system can be summarized as follows: </a:t>
            </a:r>
            <a:endParaRPr/>
          </a:p>
          <a:p>
            <a:pPr indent="-393700" lvl="0" marL="457200" rtl="0" algn="just">
              <a:spcBef>
                <a:spcPts val="1200"/>
              </a:spcBef>
              <a:spcAft>
                <a:spcPts val="0"/>
              </a:spcAft>
              <a:buSzPts val="2600"/>
              <a:buChar char="●"/>
            </a:pPr>
            <a:r>
              <a:rPr lang="en"/>
              <a:t>The data storage space is divided into several sections, called </a:t>
            </a:r>
            <a:r>
              <a:rPr b="1" lang="en"/>
              <a:t>buckets</a:t>
            </a:r>
            <a:r>
              <a:rPr lang="en"/>
              <a:t>, each of which is capable of holding</a:t>
            </a:r>
            <a:r>
              <a:rPr b="1" lang="en"/>
              <a:t> several records</a:t>
            </a:r>
            <a:r>
              <a:rPr lang="en"/>
              <a:t>.</a:t>
            </a:r>
            <a:endParaRPr/>
          </a:p>
          <a:p>
            <a:pPr indent="-393700" lvl="0" marL="457200" rtl="0" algn="just">
              <a:spcBef>
                <a:spcPts val="0"/>
              </a:spcBef>
              <a:spcAft>
                <a:spcPts val="0"/>
              </a:spcAft>
              <a:buSzPts val="2600"/>
              <a:buChar char="●"/>
            </a:pPr>
            <a:r>
              <a:rPr lang="en"/>
              <a:t>The records are dispersed among the buckets according to an algorithm (</a:t>
            </a:r>
            <a:r>
              <a:rPr b="1" lang="en"/>
              <a:t>hash function</a:t>
            </a:r>
            <a:r>
              <a:rPr lang="en"/>
              <a:t>) that converts key values into bucket numbers</a:t>
            </a:r>
            <a:endParaRPr/>
          </a:p>
          <a:p>
            <a:pPr indent="0" lvl="0" marL="0" rtl="0" algn="just">
              <a:spcBef>
                <a:spcPts val="1200"/>
              </a:spcBef>
              <a:spcAft>
                <a:spcPts val="12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6"/>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Hash Files</a:t>
            </a:r>
            <a:endParaRPr/>
          </a:p>
        </p:txBody>
      </p:sp>
      <p:sp>
        <p:nvSpPr>
          <p:cNvPr id="277" name="Google Shape;277;p46"/>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n"/>
              <a:t>Hashing the key field value 25X3Z to one of 41 buckets.</a:t>
            </a:r>
            <a:endParaRPr/>
          </a:p>
        </p:txBody>
      </p:sp>
      <p:pic>
        <p:nvPicPr>
          <p:cNvPr id="278" name="Google Shape;278;p46"/>
          <p:cNvPicPr preferRelativeResize="0"/>
          <p:nvPr/>
        </p:nvPicPr>
        <p:blipFill>
          <a:blip r:embed="rId3">
            <a:alphaModFix/>
          </a:blip>
          <a:stretch>
            <a:fillRect/>
          </a:stretch>
        </p:blipFill>
        <p:spPr>
          <a:xfrm>
            <a:off x="0" y="1668793"/>
            <a:ext cx="9144001" cy="433506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7"/>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Hash Files</a:t>
            </a:r>
            <a:endParaRPr/>
          </a:p>
        </p:txBody>
      </p:sp>
      <p:sp>
        <p:nvSpPr>
          <p:cNvPr id="284" name="Google Shape;284;p47"/>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n"/>
              <a:t>The rudiments of a hashing system</a:t>
            </a:r>
            <a:endParaRPr/>
          </a:p>
        </p:txBody>
      </p:sp>
      <p:pic>
        <p:nvPicPr>
          <p:cNvPr id="285" name="Google Shape;285;p47"/>
          <p:cNvPicPr preferRelativeResize="0"/>
          <p:nvPr/>
        </p:nvPicPr>
        <p:blipFill>
          <a:blip r:embed="rId3">
            <a:alphaModFix/>
          </a:blip>
          <a:stretch>
            <a:fillRect/>
          </a:stretch>
        </p:blipFill>
        <p:spPr>
          <a:xfrm>
            <a:off x="445425" y="1407414"/>
            <a:ext cx="8441851" cy="54505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8"/>
          <p:cNvSpPr txBox="1"/>
          <p:nvPr/>
        </p:nvSpPr>
        <p:spPr>
          <a:xfrm>
            <a:off x="311700" y="166867"/>
            <a:ext cx="8520600" cy="7635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b="1" lang="en" sz="3300">
                <a:latin typeface="PT Sans Narrow"/>
                <a:ea typeface="PT Sans Narrow"/>
                <a:cs typeface="PT Sans Narrow"/>
                <a:sym typeface="PT Sans Narrow"/>
              </a:rPr>
              <a:t>Research Themes</a:t>
            </a:r>
            <a:endParaRPr b="1" sz="3300">
              <a:latin typeface="PT Sans Narrow"/>
              <a:ea typeface="PT Sans Narrow"/>
              <a:cs typeface="PT Sans Narrow"/>
              <a:sym typeface="PT Sans Narrow"/>
            </a:endParaRPr>
          </a:p>
        </p:txBody>
      </p:sp>
      <p:sp>
        <p:nvSpPr>
          <p:cNvPr id="291" name="Google Shape;291;p48"/>
          <p:cNvSpPr txBox="1"/>
          <p:nvPr/>
        </p:nvSpPr>
        <p:spPr>
          <a:xfrm>
            <a:off x="311700" y="930375"/>
            <a:ext cx="8709300" cy="5811900"/>
          </a:xfrm>
          <a:prstGeom prst="rect">
            <a:avLst/>
          </a:prstGeom>
          <a:noFill/>
          <a:ln>
            <a:noFill/>
          </a:ln>
        </p:spPr>
        <p:txBody>
          <a:bodyPr anchorCtr="0" anchor="t" bIns="91425" lIns="91425" spcFirstLastPara="1" rIns="91425" wrap="square" tIns="91425">
            <a:normAutofit/>
          </a:bodyPr>
          <a:lstStyle/>
          <a:p>
            <a:pPr indent="-393700" lvl="0" marL="457200" rtl="0" algn="just">
              <a:lnSpc>
                <a:spcPct val="115000"/>
              </a:lnSpc>
              <a:spcBef>
                <a:spcPts val="0"/>
              </a:spcBef>
              <a:spcAft>
                <a:spcPts val="0"/>
              </a:spcAft>
              <a:buSzPts val="2600"/>
              <a:buFont typeface="Open Sans"/>
              <a:buAutoNum type="arabicPeriod"/>
            </a:pPr>
            <a:r>
              <a:rPr lang="en" sz="2600">
                <a:latin typeface="Open Sans"/>
                <a:ea typeface="Open Sans"/>
                <a:cs typeface="Open Sans"/>
                <a:sym typeface="Open Sans"/>
              </a:rPr>
              <a:t>Object Oriented Databases</a:t>
            </a:r>
            <a:endParaRPr sz="2600">
              <a:latin typeface="Open Sans"/>
              <a:ea typeface="Open Sans"/>
              <a:cs typeface="Open Sans"/>
              <a:sym typeface="Open Sans"/>
            </a:endParaRPr>
          </a:p>
          <a:p>
            <a:pPr indent="-393700" lvl="0" marL="457200" rtl="0" algn="just">
              <a:lnSpc>
                <a:spcPct val="115000"/>
              </a:lnSpc>
              <a:spcBef>
                <a:spcPts val="0"/>
              </a:spcBef>
              <a:spcAft>
                <a:spcPts val="0"/>
              </a:spcAft>
              <a:buSzPts val="2600"/>
              <a:buFont typeface="Open Sans"/>
              <a:buAutoNum type="arabicPeriod"/>
            </a:pPr>
            <a:r>
              <a:rPr lang="en" sz="2600">
                <a:latin typeface="Open Sans"/>
                <a:ea typeface="Open Sans"/>
                <a:cs typeface="Open Sans"/>
                <a:sym typeface="Open Sans"/>
              </a:rPr>
              <a:t>Database Management Systems, DBMSs</a:t>
            </a:r>
            <a:endParaRPr sz="2600">
              <a:latin typeface="Open Sans"/>
              <a:ea typeface="Open Sans"/>
              <a:cs typeface="Open Sans"/>
              <a:sym typeface="Open Sans"/>
            </a:endParaRPr>
          </a:p>
          <a:p>
            <a:pPr indent="-393700" lvl="0" marL="457200" rtl="0" algn="just">
              <a:lnSpc>
                <a:spcPct val="115000"/>
              </a:lnSpc>
              <a:spcBef>
                <a:spcPts val="0"/>
              </a:spcBef>
              <a:spcAft>
                <a:spcPts val="0"/>
              </a:spcAft>
              <a:buSzPts val="2600"/>
              <a:buFont typeface="Open Sans"/>
              <a:buAutoNum type="arabicPeriod"/>
            </a:pPr>
            <a:r>
              <a:rPr lang="en" sz="2600">
                <a:latin typeface="Open Sans"/>
                <a:ea typeface="Open Sans"/>
                <a:cs typeface="Open Sans"/>
                <a:sym typeface="Open Sans"/>
              </a:rPr>
              <a:t>Database Security, </a:t>
            </a:r>
            <a:r>
              <a:rPr lang="en" sz="2600">
                <a:latin typeface="Open Sans"/>
                <a:ea typeface="Open Sans"/>
                <a:cs typeface="Open Sans"/>
                <a:sym typeface="Open Sans"/>
              </a:rPr>
              <a:t>Threats</a:t>
            </a:r>
            <a:r>
              <a:rPr lang="en" sz="2600">
                <a:latin typeface="Open Sans"/>
                <a:ea typeface="Open Sans"/>
                <a:cs typeface="Open Sans"/>
                <a:sym typeface="Open Sans"/>
              </a:rPr>
              <a:t> and Defense Mechanisms</a:t>
            </a:r>
            <a:endParaRPr sz="2600">
              <a:latin typeface="Open Sans"/>
              <a:ea typeface="Open Sans"/>
              <a:cs typeface="Open Sans"/>
              <a:sym typeface="Open Sans"/>
            </a:endParaRPr>
          </a:p>
          <a:p>
            <a:pPr indent="-393700" lvl="0" marL="457200" rtl="0" algn="just">
              <a:lnSpc>
                <a:spcPct val="115000"/>
              </a:lnSpc>
              <a:spcBef>
                <a:spcPts val="0"/>
              </a:spcBef>
              <a:spcAft>
                <a:spcPts val="0"/>
              </a:spcAft>
              <a:buSzPts val="2600"/>
              <a:buFont typeface="Open Sans"/>
              <a:buAutoNum type="arabicPeriod"/>
            </a:pPr>
            <a:r>
              <a:rPr lang="en" sz="2600">
                <a:latin typeface="Open Sans"/>
                <a:ea typeface="Open Sans"/>
                <a:cs typeface="Open Sans"/>
                <a:sym typeface="Open Sans"/>
              </a:rPr>
              <a:t>SQL and NoSQL</a:t>
            </a:r>
            <a:endParaRPr sz="2600">
              <a:latin typeface="Open Sans"/>
              <a:ea typeface="Open Sans"/>
              <a:cs typeface="Open Sans"/>
              <a:sym typeface="Open Sans"/>
            </a:endParaRPr>
          </a:p>
          <a:p>
            <a:pPr indent="-393700" lvl="0" marL="457200" rtl="0" algn="just">
              <a:lnSpc>
                <a:spcPct val="115000"/>
              </a:lnSpc>
              <a:spcBef>
                <a:spcPts val="0"/>
              </a:spcBef>
              <a:spcAft>
                <a:spcPts val="0"/>
              </a:spcAft>
              <a:buSzPts val="2600"/>
              <a:buFont typeface="Open Sans"/>
              <a:buAutoNum type="arabicPeriod"/>
            </a:pPr>
            <a:r>
              <a:rPr lang="en" sz="2600">
                <a:latin typeface="Open Sans"/>
                <a:ea typeface="Open Sans"/>
                <a:cs typeface="Open Sans"/>
                <a:sym typeface="Open Sans"/>
              </a:rPr>
              <a:t>Data Mining</a:t>
            </a:r>
            <a:endParaRPr sz="2600">
              <a:latin typeface="Open Sans"/>
              <a:ea typeface="Open Sans"/>
              <a:cs typeface="Open Sans"/>
              <a:sym typeface="Open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9"/>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COM1013</a:t>
            </a:r>
            <a:endParaRPr/>
          </a:p>
          <a:p>
            <a:pPr indent="0" lvl="0" marL="0" rtl="0" algn="ctr">
              <a:spcBef>
                <a:spcPts val="0"/>
              </a:spcBef>
              <a:spcAft>
                <a:spcPts val="0"/>
              </a:spcAft>
              <a:buNone/>
            </a:pPr>
            <a:r>
              <a:rPr lang="en"/>
              <a:t>INTRODUCTION TO COMPUTER SCIENCE</a:t>
            </a:r>
            <a:endParaRPr/>
          </a:p>
        </p:txBody>
      </p:sp>
      <p:sp>
        <p:nvSpPr>
          <p:cNvPr id="297" name="Google Shape;297;p49"/>
          <p:cNvSpPr txBox="1"/>
          <p:nvPr>
            <p:ph idx="1" type="subTitle"/>
          </p:nvPr>
        </p:nvSpPr>
        <p:spPr>
          <a:xfrm>
            <a:off x="311700" y="3778800"/>
            <a:ext cx="8520600" cy="2736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Lecturer: Begüm MUTLU BİLGE, PhD</a:t>
            </a:r>
            <a:endParaRPr/>
          </a:p>
          <a:p>
            <a:pPr indent="0" lvl="0" marL="0" rtl="0" algn="ctr">
              <a:spcBef>
                <a:spcPts val="0"/>
              </a:spcBef>
              <a:spcAft>
                <a:spcPts val="0"/>
              </a:spcAft>
              <a:buNone/>
            </a:pPr>
            <a:r>
              <a:t/>
            </a:r>
            <a:endParaRPr/>
          </a:p>
          <a:p>
            <a:pPr indent="0" lvl="0" marL="0" rtl="0" algn="l">
              <a:spcBef>
                <a:spcPts val="0"/>
              </a:spcBef>
              <a:spcAft>
                <a:spcPts val="0"/>
              </a:spcAft>
              <a:buNone/>
            </a:pPr>
            <a:r>
              <a:rPr lang="en" sz="2200" u="sng">
                <a:solidFill>
                  <a:schemeClr val="hlink"/>
                </a:solidFill>
                <a:hlinkClick r:id="rId3"/>
              </a:rPr>
              <a:t>begummutlubilge+com1013@gmail.com</a:t>
            </a:r>
            <a:r>
              <a:rPr lang="en" sz="2200"/>
              <a:t> (recommended)</a:t>
            </a:r>
            <a:endParaRPr sz="2200"/>
          </a:p>
          <a:p>
            <a:pPr indent="0" lvl="0" marL="0" rtl="0" algn="l">
              <a:spcBef>
                <a:spcPts val="0"/>
              </a:spcBef>
              <a:spcAft>
                <a:spcPts val="0"/>
              </a:spcAft>
              <a:buNone/>
            </a:pPr>
            <a:r>
              <a:rPr lang="en" sz="2200" u="sng">
                <a:solidFill>
                  <a:schemeClr val="hlink"/>
                </a:solidFill>
                <a:hlinkClick r:id="rId4"/>
              </a:rPr>
              <a:t>bmbilge@ankara.edu.tr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OM1013">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