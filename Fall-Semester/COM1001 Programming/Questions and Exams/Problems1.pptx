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17674CF-0398-423D-BE49-B2619F479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2849ADA-474B-4E66-9079-8F5E145EA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F64EC4-F910-4C9C-BFD1-77B922D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6AA39D-D95E-49BA-A8E3-969C9811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632B57-CA1E-4970-BCBF-E1351F3D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3414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4234DC6-B87F-42C0-89D7-F3DE51CF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AD2079-E0C5-4FAE-BE2D-BE60EC7C1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6B68DD-2F0D-43D1-B492-577DADED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9006D5-60FE-4CFC-AC24-427027E9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1732BAF-368E-4025-A014-205B6F30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661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63412EA-324C-4724-9ACE-F32A75B0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A1C79C0-AE51-4D75-A610-42C357486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A6916DC-4450-4747-B0A8-CCAB1EC2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9A7E2B-D541-4925-A5A5-81304C23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846858C-8D0F-4EC6-9343-8A7A3808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233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E1B7BAC-22D6-46D9-AACE-5642468F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5BAD65-9550-44F4-80DC-DE68533F1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19C7437-3D04-46D0-A663-9B3E63DD3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A7AC2EA-474D-43FC-B465-1C14A3B1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35B3C61-2769-4209-920A-B08D7C6C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76446B-38C9-4AEE-8B45-C9740BA0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084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3978BE9-CAA5-4AC3-BC56-B4694BE4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8988138-295A-46B5-8414-D9CFD4199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EB0115B-2EA1-4DD5-8180-E504D130F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C13DB57-D5AB-4499-8C7B-EB732DE7E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EE24CC6-AE92-41E1-8698-C5C76DBF5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707D0C9-10F2-4684-AAF5-4D56228E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558E13F-0CE0-4F5E-B35C-364693B3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0063009-76BE-43E0-883C-446E4D5F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784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61C3C1A-9832-4BE8-8E62-742748EE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8896288-F5AC-4EE1-822D-6F65C359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7EEDCBB-855C-4A08-A81A-560B531A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190EA8F-6EC3-42BE-AD0C-EF1554D4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306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5AF1400-0E0A-4CD8-870A-C506263C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576DE39-8148-46A2-B2F5-B5D41529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9384F94-2C3E-4DE9-B661-6EB6C201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317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3DC7FB7-CA59-4802-BEB8-F4AC072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9604BD-3397-47F0-B573-D6F98A56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3D28B21-3835-463E-BC08-2A12A4354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80C8863-51DD-4797-9291-D457640C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27418D0-7BCE-4CCB-B749-F96A863A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8914169-9D61-4B01-B3EF-26EF6D09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934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5F449DB-005E-47B2-A38A-4F3BD35F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A85759B-5C41-4BEB-A16F-B0677F3D7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817FA81-33C9-45C3-8D2A-2924A7802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221986C-BE25-47BF-85A5-2AA93747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DFFA238-814F-403B-BDB5-DF1DE8A9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CD9DA3B-D5E4-4876-8E82-044262B8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033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6595ACA-4761-441E-9403-A1F34809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7422D5A-F443-4F6C-B492-9102D7A4E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D031304-A0BD-4C82-AA6C-A372CBB1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212F46-43B2-4199-9817-19C4A45F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2BAF6A5-BA6A-4430-85E1-7ECF5CFF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520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1E01082-8ECD-4935-86C6-3DCC2E434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BA65BE2-2F23-4DC6-BDDD-A13AE762F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5E4E6FF-5D73-4046-ACDF-E0AAFE1B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9052F4-B902-4944-B62A-811ECEB8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6B6A6B-9B9F-455E-AFE8-1238A1D9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515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4FB99FD-B78D-4E40-A152-C8420712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0A79D08-B13F-4E52-9317-0367256EA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11142A-9CE3-4F8B-A16A-D6ACC6164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59669-37E5-4595-B047-ED6966C83CF6}" type="datetimeFigureOut">
              <a:rPr lang="tr-TR" smtClean="0"/>
              <a:t>6.11.2024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7A7971A-CBF9-4AE2-98A6-59CFC2585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E2E0C1-67B5-42D4-A5F3-BA0452239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C8692-C1CF-4530-99BE-DCBD181ACD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646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AD8C7F0C-6E36-4011-8BD9-D02BAE3E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4" y="75920"/>
            <a:ext cx="8940468" cy="25560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92943BE3-A2EA-4C8C-8D45-961AF7300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6" y="2912745"/>
            <a:ext cx="10549844" cy="3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61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BF5DB2E0-7D26-484C-AF8C-9990C2D3A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0" y="178067"/>
            <a:ext cx="10135637" cy="684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3C17FE99-3C40-42D2-BC86-03EC43C2E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9" y="4102767"/>
            <a:ext cx="7947600" cy="13320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B8929EC2-D377-4810-AA7E-801A4C245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60" y="5423930"/>
            <a:ext cx="9094192" cy="9720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54" y="1062959"/>
            <a:ext cx="6325482" cy="16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13" b="48681"/>
          <a:stretch/>
        </p:blipFill>
        <p:spPr bwMode="auto">
          <a:xfrm>
            <a:off x="516480" y="3022553"/>
            <a:ext cx="10135637" cy="406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B6E7B3E-E1FB-48FB-A1DE-F32E62063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91068"/>
          <a:stretch/>
        </p:blipFill>
        <p:spPr bwMode="auto">
          <a:xfrm>
            <a:off x="516480" y="3403963"/>
            <a:ext cx="902467" cy="3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89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FDC74B6C-6350-40B9-8105-1156D9627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48" y="63793"/>
            <a:ext cx="7317392" cy="183600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32AD95B7-C911-4F75-81F8-B7D62F7F6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557" y="1790207"/>
            <a:ext cx="8045465" cy="5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04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DD799CBA-2929-42A9-959C-1FC50ADCD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32"/>
          <a:stretch/>
        </p:blipFill>
        <p:spPr>
          <a:xfrm>
            <a:off x="266258" y="199027"/>
            <a:ext cx="1699020" cy="43200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DD799CBA-2929-42A9-959C-1FC50ADCD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21"/>
          <a:stretch/>
        </p:blipFill>
        <p:spPr>
          <a:xfrm>
            <a:off x="1965278" y="199027"/>
            <a:ext cx="2373160" cy="4320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78" y="653242"/>
            <a:ext cx="4398549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34" y="2133026"/>
            <a:ext cx="91854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78" y="2872846"/>
            <a:ext cx="5176288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1" y="3858042"/>
            <a:ext cx="9000000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47" y="4498145"/>
            <a:ext cx="6223342" cy="11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02" y="5782386"/>
            <a:ext cx="5356000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128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D799CBA-2929-42A9-959C-1FC50ADCD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32"/>
          <a:stretch/>
        </p:blipFill>
        <p:spPr>
          <a:xfrm>
            <a:off x="266258" y="199027"/>
            <a:ext cx="1699020" cy="43200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DD799CBA-2929-42A9-959C-1FC50ADCD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21"/>
          <a:stretch/>
        </p:blipFill>
        <p:spPr>
          <a:xfrm>
            <a:off x="1965278" y="199027"/>
            <a:ext cx="2373160" cy="43200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7" y="3064816"/>
            <a:ext cx="5688000" cy="28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58" y="5908816"/>
            <a:ext cx="10979379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7" y="631027"/>
            <a:ext cx="5203800" cy="21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727" y="1764677"/>
            <a:ext cx="4151612" cy="3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Düz Ok Bağlayıcısı 4"/>
          <p:cNvCxnSpPr/>
          <p:nvPr/>
        </p:nvCxnSpPr>
        <p:spPr>
          <a:xfrm>
            <a:off x="4899546" y="1962677"/>
            <a:ext cx="133748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80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DD799CBA-2929-42A9-959C-1FC50ADCD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32"/>
          <a:stretch/>
        </p:blipFill>
        <p:spPr>
          <a:xfrm>
            <a:off x="266258" y="199027"/>
            <a:ext cx="1699020" cy="43200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DD799CBA-2929-42A9-959C-1FC50ADCD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21"/>
          <a:stretch/>
        </p:blipFill>
        <p:spPr>
          <a:xfrm>
            <a:off x="1965278" y="199027"/>
            <a:ext cx="2373160" cy="432000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58" y="631027"/>
            <a:ext cx="8300123" cy="14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90" y="2209160"/>
            <a:ext cx="11028894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50" y="3141260"/>
            <a:ext cx="6798217" cy="16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40" y="5213303"/>
            <a:ext cx="8926105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67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417962"/>
            <a:ext cx="10758000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57" y="1726085"/>
            <a:ext cx="9117452" cy="331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115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28" y="278215"/>
            <a:ext cx="10012235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46" y="1218560"/>
            <a:ext cx="8357247" cy="34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17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21" y="171805"/>
            <a:ext cx="10329879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71" y="1475024"/>
            <a:ext cx="9189030" cy="52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520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69" y="54592"/>
            <a:ext cx="8550793" cy="16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0" y="1710592"/>
            <a:ext cx="8767639" cy="50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3330054" y="136480"/>
            <a:ext cx="1097811" cy="216000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kdörtgen 4"/>
          <p:cNvSpPr/>
          <p:nvPr/>
        </p:nvSpPr>
        <p:spPr>
          <a:xfrm>
            <a:off x="6348484" y="698347"/>
            <a:ext cx="548905" cy="170597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kdörtgen 5"/>
          <p:cNvSpPr/>
          <p:nvPr/>
        </p:nvSpPr>
        <p:spPr>
          <a:xfrm>
            <a:off x="6822327" y="417429"/>
            <a:ext cx="410987" cy="180000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kdörtgen 6"/>
          <p:cNvSpPr/>
          <p:nvPr/>
        </p:nvSpPr>
        <p:spPr>
          <a:xfrm>
            <a:off x="971265" y="652944"/>
            <a:ext cx="1963004" cy="216000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kdörtgen 7"/>
          <p:cNvSpPr/>
          <p:nvPr/>
        </p:nvSpPr>
        <p:spPr>
          <a:xfrm>
            <a:off x="591401" y="940640"/>
            <a:ext cx="3926007" cy="216000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8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109180" y="38292"/>
            <a:ext cx="11982736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b="1" dirty="0"/>
              <a:t>A Puzzle </a:t>
            </a:r>
            <a:r>
              <a:rPr lang="en-US" dirty="0"/>
              <a:t>The following puzzle is known as </a:t>
            </a:r>
            <a:r>
              <a:rPr lang="en-US" i="1" dirty="0"/>
              <a:t>The Big Cross-Out Swindle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“Beginning</a:t>
            </a:r>
            <a:r>
              <a:rPr lang="tr-TR" dirty="0"/>
              <a:t> </a:t>
            </a:r>
            <a:r>
              <a:rPr lang="en-US" dirty="0"/>
              <a:t>with the word ‘NAISNIENLGELTETWEORRSD,’ cross out </a:t>
            </a:r>
            <a:r>
              <a:rPr lang="en-US" u="sng" dirty="0"/>
              <a:t>nine letters</a:t>
            </a:r>
            <a:r>
              <a:rPr lang="en-US" dirty="0"/>
              <a:t> in such a</a:t>
            </a:r>
            <a:r>
              <a:rPr lang="tr-TR" dirty="0"/>
              <a:t> </a:t>
            </a:r>
            <a:r>
              <a:rPr lang="en-US" dirty="0"/>
              <a:t>way that the </a:t>
            </a:r>
            <a:r>
              <a:rPr lang="en-US" u="sng" dirty="0"/>
              <a:t>remaining letters spell </a:t>
            </a:r>
            <a:r>
              <a:rPr lang="en-US" dirty="0"/>
              <a:t>“</a:t>
            </a:r>
            <a:r>
              <a:rPr lang="en-US" sz="2200" b="1" u="sng" dirty="0"/>
              <a:t>a single word</a:t>
            </a:r>
            <a:r>
              <a:rPr lang="en-US" dirty="0"/>
              <a:t>“. Write a program that creates variables</a:t>
            </a:r>
            <a:r>
              <a:rPr lang="tr-TR" dirty="0"/>
              <a:t> </a:t>
            </a:r>
            <a:r>
              <a:rPr lang="en-US" dirty="0"/>
              <a:t>named </a:t>
            </a:r>
            <a:r>
              <a:rPr lang="en-US" u="sng" dirty="0" err="1"/>
              <a:t>startingWord</a:t>
            </a:r>
            <a:r>
              <a:rPr lang="en-US" dirty="0"/>
              <a:t>, </a:t>
            </a:r>
            <a:r>
              <a:rPr lang="en-US" u="sng" dirty="0" err="1"/>
              <a:t>crossedOutLetters</a:t>
            </a:r>
            <a:r>
              <a:rPr lang="en-US" dirty="0"/>
              <a:t>, and </a:t>
            </a:r>
            <a:r>
              <a:rPr lang="en-US" u="sng" dirty="0" err="1"/>
              <a:t>remainingLetters</a:t>
            </a:r>
            <a:r>
              <a:rPr lang="en-US" dirty="0"/>
              <a:t>. The program should</a:t>
            </a:r>
            <a:r>
              <a:rPr lang="tr-TR" dirty="0"/>
              <a:t> </a:t>
            </a:r>
            <a:r>
              <a:rPr lang="en-US" dirty="0"/>
              <a:t>assign to </a:t>
            </a:r>
            <a:r>
              <a:rPr lang="en-US" b="1" dirty="0" err="1"/>
              <a:t>startingWord</a:t>
            </a:r>
            <a:r>
              <a:rPr lang="en-US" dirty="0"/>
              <a:t> the </a:t>
            </a:r>
            <a:r>
              <a:rPr lang="en-US" i="1" u="sng" dirty="0"/>
              <a:t>string given in the puzzle</a:t>
            </a:r>
            <a:r>
              <a:rPr lang="en-US" dirty="0"/>
              <a:t>, assign to </a:t>
            </a:r>
            <a:r>
              <a:rPr lang="en-US" b="1" dirty="0" err="1"/>
              <a:t>crossedOutLetters</a:t>
            </a:r>
            <a:r>
              <a:rPr lang="en-US" dirty="0"/>
              <a:t> a </a:t>
            </a:r>
            <a:r>
              <a:rPr lang="en-US" u="sng" dirty="0"/>
              <a:t>list</a:t>
            </a:r>
            <a:r>
              <a:rPr lang="tr-TR" u="sng" dirty="0"/>
              <a:t> </a:t>
            </a:r>
            <a:r>
              <a:rPr lang="en-US" u="sng" dirty="0"/>
              <a:t>containing every other letter</a:t>
            </a:r>
            <a:r>
              <a:rPr lang="en-US" dirty="0"/>
              <a:t> of </a:t>
            </a:r>
            <a:r>
              <a:rPr lang="en-US" dirty="0" err="1"/>
              <a:t>startingWord</a:t>
            </a:r>
            <a:r>
              <a:rPr lang="en-US" dirty="0"/>
              <a:t> </a:t>
            </a:r>
            <a:r>
              <a:rPr lang="en-US" u="sng" dirty="0"/>
              <a:t>beginning with the initial letter </a:t>
            </a:r>
            <a:r>
              <a:rPr lang="en-US" b="1" u="sng" dirty="0"/>
              <a:t>N</a:t>
            </a:r>
            <a:r>
              <a:rPr lang="en-US" dirty="0"/>
              <a:t>, and</a:t>
            </a:r>
            <a:r>
              <a:rPr lang="tr-TR" dirty="0"/>
              <a:t> </a:t>
            </a:r>
            <a:r>
              <a:rPr lang="en-US" dirty="0"/>
              <a:t>assign to </a:t>
            </a:r>
            <a:r>
              <a:rPr lang="en-US" b="1" dirty="0" err="1"/>
              <a:t>remainingLetters</a:t>
            </a:r>
            <a:r>
              <a:rPr lang="en-US" dirty="0"/>
              <a:t> a </a:t>
            </a:r>
            <a:r>
              <a:rPr lang="en-US" u="sng" dirty="0"/>
              <a:t>list containing every other letter</a:t>
            </a:r>
            <a:r>
              <a:rPr lang="en-US" dirty="0"/>
              <a:t> of </a:t>
            </a:r>
            <a:r>
              <a:rPr lang="en-US" dirty="0" err="1"/>
              <a:t>startingWord</a:t>
            </a:r>
            <a:r>
              <a:rPr lang="en-US" dirty="0"/>
              <a:t> </a:t>
            </a:r>
            <a:r>
              <a:rPr lang="en-US" u="sng" dirty="0"/>
              <a:t>beginning</a:t>
            </a:r>
            <a:r>
              <a:rPr lang="tr-TR" u="sng" dirty="0"/>
              <a:t> </a:t>
            </a:r>
            <a:r>
              <a:rPr lang="en-US" u="sng" dirty="0"/>
              <a:t>with the second letter, </a:t>
            </a:r>
            <a:r>
              <a:rPr lang="en-US" b="1" u="sng" dirty="0"/>
              <a:t>A</a:t>
            </a:r>
            <a:r>
              <a:rPr lang="en-US" dirty="0"/>
              <a:t>. The program should then display the values of the three</a:t>
            </a:r>
            <a:r>
              <a:rPr lang="tr-TR" dirty="0"/>
              <a:t> </a:t>
            </a:r>
            <a:r>
              <a:rPr lang="en-US" dirty="0"/>
              <a:t>variables.</a:t>
            </a: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80"/>
          <a:stretch/>
        </p:blipFill>
        <p:spPr bwMode="auto">
          <a:xfrm>
            <a:off x="654375" y="1823395"/>
            <a:ext cx="6418481" cy="48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4" t="83247"/>
          <a:stretch/>
        </p:blipFill>
        <p:spPr bwMode="auto">
          <a:xfrm>
            <a:off x="6376818" y="3335395"/>
            <a:ext cx="5563464" cy="10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1364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58" y="54592"/>
            <a:ext cx="1062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71" y="1632116"/>
            <a:ext cx="7460958" cy="34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173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05" y="441515"/>
            <a:ext cx="10210255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5" y="2006363"/>
            <a:ext cx="9956736" cy="3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04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66" y="40942"/>
            <a:ext cx="9098553" cy="33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45" y="3388941"/>
            <a:ext cx="8432966" cy="33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7466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91"/>
          <a:stretch/>
        </p:blipFill>
        <p:spPr bwMode="auto">
          <a:xfrm>
            <a:off x="3889613" y="1043917"/>
            <a:ext cx="8281060" cy="565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Metin kutusu 3"/>
              <p:cNvSpPr txBox="1"/>
              <p:nvPr/>
            </p:nvSpPr>
            <p:spPr>
              <a:xfrm>
                <a:off x="109180" y="46548"/>
                <a:ext cx="11982736" cy="130805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/>
                <a:r>
                  <a:rPr lang="en-US" dirty="0"/>
                  <a:t>Write a program to determine the real roots of the quadratic</a:t>
                </a:r>
                <a:r>
                  <a:rPr lang="tr-TR" dirty="0"/>
                  <a:t> </a:t>
                </a:r>
                <a:r>
                  <a:rPr lang="en-US" dirty="0"/>
                  <a:t>equation </a:t>
                </a:r>
                <a14:m>
                  <m:oMath xmlns:m="http://schemas.openxmlformats.org/officeDocument/2006/math">
                    <m:r>
                      <a:rPr lang="tr-TR" b="1" i="1" smtClean="0">
                        <a:latin typeface="Cambria Math"/>
                      </a:rPr>
                      <m:t>𝒂</m:t>
                    </m:r>
                    <m:sSup>
                      <m:sSupPr>
                        <m:ctrlPr>
                          <a:rPr lang="tr-T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tr-TR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tr-TR" b="1" i="1" smtClean="0">
                        <a:latin typeface="Cambria Math"/>
                      </a:rPr>
                      <m:t>+</m:t>
                    </m:r>
                    <m:r>
                      <a:rPr lang="tr-TR" b="1" i="1" smtClean="0">
                        <a:latin typeface="Cambria Math"/>
                      </a:rPr>
                      <m:t>𝒃𝒙</m:t>
                    </m:r>
                    <m:r>
                      <a:rPr lang="tr-TR" b="1" i="1" smtClean="0">
                        <a:latin typeface="Cambria Math"/>
                      </a:rPr>
                      <m:t>+</m:t>
                    </m:r>
                    <m:r>
                      <a:rPr lang="tr-TR" b="1" i="1" smtClean="0">
                        <a:latin typeface="Cambria Math"/>
                      </a:rPr>
                      <m:t>𝒄</m:t>
                    </m:r>
                    <m:r>
                      <a:rPr lang="tr-TR" b="1" i="1" smtClean="0">
                        <a:latin typeface="Cambria Math"/>
                      </a:rPr>
                      <m:t>=</m:t>
                    </m:r>
                    <m:r>
                      <a:rPr lang="tr-TR" b="1" i="1" smtClean="0">
                        <a:latin typeface="Cambria Math"/>
                      </a:rPr>
                      <m:t>𝟎</m:t>
                    </m:r>
                    <m:r>
                      <a:rPr lang="tr-TR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(where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/>
                      </a:rPr>
                      <m:t>𝑎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dirty="0"/>
                  <a:t>) after requesting the values of a, b, and c.</a:t>
                </a:r>
                <a:r>
                  <a:rPr lang="tr-TR" dirty="0"/>
                  <a:t> </a:t>
                </a:r>
                <a:r>
                  <a:rPr lang="en-US" dirty="0"/>
                  <a:t>Before</a:t>
                </a:r>
                <a:r>
                  <a:rPr lang="tr-TR" dirty="0"/>
                  <a:t> </a:t>
                </a:r>
                <a:r>
                  <a:rPr lang="en-US" dirty="0"/>
                  <a:t>finding the roots, ensure that a is nonzero. [Note: The equation has 2, 1, or 0</a:t>
                </a:r>
                <a:r>
                  <a:rPr lang="tr-TR" dirty="0"/>
                  <a:t> </a:t>
                </a:r>
                <a:r>
                  <a:rPr lang="en-US" dirty="0"/>
                  <a:t>solutions</a:t>
                </a:r>
                <a:r>
                  <a:rPr lang="tr-TR" dirty="0"/>
                  <a:t> </a:t>
                </a:r>
                <a:r>
                  <a:rPr lang="en-US" dirty="0"/>
                  <a:t>depending on whether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1" i="1" smtClean="0">
                            <a:latin typeface="Cambria Math"/>
                          </a:rPr>
                          <m:t>𝒃</m:t>
                        </m:r>
                      </m:e>
                      <m:sup>
                        <m:r>
                          <a:rPr lang="tr-TR" b="1" i="1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tr-TR" b="1" i="1" smtClean="0">
                        <a:latin typeface="Cambria Math"/>
                      </a:rPr>
                      <m:t>−</m:t>
                    </m:r>
                    <m:r>
                      <a:rPr lang="tr-TR" b="1" i="1" smtClean="0">
                        <a:latin typeface="Cambria Math"/>
                      </a:rPr>
                      <m:t>𝟒</m:t>
                    </m:r>
                    <m:r>
                      <a:rPr lang="tr-TR" b="1" i="1" smtClean="0">
                        <a:latin typeface="Cambria Math"/>
                      </a:rPr>
                      <m:t>𝒂𝒄</m:t>
                    </m:r>
                  </m:oMath>
                </a14:m>
                <a:r>
                  <a:rPr lang="en-US" dirty="0"/>
                  <a:t> is positive, zero, or negative. In the</a:t>
                </a:r>
                <a:r>
                  <a:rPr lang="tr-TR" dirty="0"/>
                  <a:t> </a:t>
                </a:r>
                <a:r>
                  <a:rPr lang="en-US" dirty="0"/>
                  <a:t>first two cases, the solutions are given by the quadratic formula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1" i="1" smtClean="0">
                        <a:latin typeface="Cambria Math"/>
                      </a:rPr>
                      <m:t>−</m:t>
                    </m:r>
                    <m:r>
                      <a:rPr lang="tr-TR" b="1" i="1" smtClean="0">
                        <a:latin typeface="Cambria Math"/>
                      </a:rPr>
                      <m:t>𝒃</m:t>
                    </m:r>
                    <m:r>
                      <a:rPr lang="tr-TR" b="1" i="1" smtClean="0">
                        <a:latin typeface="Cambria Math"/>
                        <a:ea typeface="Cambria Math"/>
                      </a:rPr>
                      <m:t>±</m:t>
                    </m:r>
                    <m:sSup>
                      <m:sSupPr>
                        <m:ctrlPr>
                          <a:rPr lang="tr-TR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tr-TR" b="1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tr-TR" b="1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tr-TR" b="1" i="1" smtClean="0">
                                    <a:latin typeface="Cambria Math"/>
                                    <a:ea typeface="Cambria Math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tr-TR" b="1" i="1" smtClean="0">
                                    <a:latin typeface="Cambria Math"/>
                                    <a:ea typeface="Cambria Math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tr-TR" b="1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tr-TR" b="1" i="1" smtClean="0">
                                <a:latin typeface="Cambria Math"/>
                                <a:ea typeface="Cambria Math"/>
                              </a:rPr>
                              <m:t>𝟒</m:t>
                            </m:r>
                            <m:r>
                              <a:rPr lang="tr-TR" b="1" i="1" smtClean="0">
                                <a:latin typeface="Cambria Math"/>
                                <a:ea typeface="Cambria Math"/>
                              </a:rPr>
                              <m:t>𝒂𝒄</m:t>
                            </m:r>
                          </m:e>
                        </m:d>
                      </m:e>
                      <m:sup>
                        <m:r>
                          <a:rPr lang="tr-TR" b="1" i="1" smtClean="0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tr-TR" b="1" i="1" smtClean="0">
                            <a:latin typeface="Cambria Math"/>
                            <a:ea typeface="Cambria Math"/>
                          </a:rPr>
                          <m:t>𝟓</m:t>
                        </m:r>
                      </m:sup>
                    </m:sSup>
                    <m:r>
                      <a:rPr lang="tr-TR" b="1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tr-TR" b="1" i="1" smtClean="0">
                        <a:latin typeface="Cambria Math"/>
                        <a:ea typeface="Cambria Math"/>
                      </a:rPr>
                      <m:t>𝟐</m:t>
                    </m:r>
                    <m:r>
                      <a:rPr lang="tr-TR" b="1" i="1" smtClean="0">
                        <a:latin typeface="Cambria Math"/>
                        <a:ea typeface="Cambria Math"/>
                      </a:rPr>
                      <m:t>𝒂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Metin kutusu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80" y="46548"/>
                <a:ext cx="11982736" cy="1308050"/>
              </a:xfrm>
              <a:prstGeom prst="rect">
                <a:avLst/>
              </a:prstGeom>
              <a:blipFill rotWithShape="1">
                <a:blip r:embed="rId3"/>
                <a:stretch>
                  <a:fillRect l="-458" t="-1869" r="-356" b="-6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7" t="83042" r="40634"/>
          <a:stretch/>
        </p:blipFill>
        <p:spPr bwMode="auto">
          <a:xfrm>
            <a:off x="109180" y="1623961"/>
            <a:ext cx="3739489" cy="982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33" t="83042" r="11061"/>
          <a:stretch/>
        </p:blipFill>
        <p:spPr bwMode="auto">
          <a:xfrm>
            <a:off x="1094095" y="2747984"/>
            <a:ext cx="2051712" cy="982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7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74472" cy="42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768" y="96173"/>
            <a:ext cx="4855342" cy="565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138" y="4990460"/>
            <a:ext cx="3563392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766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09180" y="42801"/>
            <a:ext cx="11982736" cy="31393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dirty="0"/>
              <a:t>Suppose you type a </a:t>
            </a:r>
            <a:r>
              <a:rPr lang="en-US" b="1" u="sng" dirty="0"/>
              <a:t>14-digit credit card number</a:t>
            </a:r>
            <a:r>
              <a:rPr lang="en-US" dirty="0"/>
              <a:t> into a Web site, but</a:t>
            </a:r>
            <a:r>
              <a:rPr lang="tr-TR" dirty="0"/>
              <a:t> </a:t>
            </a:r>
            <a:r>
              <a:rPr lang="en-US" dirty="0"/>
              <a:t>mistype one of the digits or interchange two adjacent digits. The Web</a:t>
            </a:r>
            <a:r>
              <a:rPr lang="tr-TR" dirty="0"/>
              <a:t> </a:t>
            </a:r>
            <a:r>
              <a:rPr lang="en-US" dirty="0"/>
              <a:t>site will perform a validation check that </a:t>
            </a:r>
            <a:r>
              <a:rPr lang="en-US" u="sng" dirty="0"/>
              <a:t>always detects the first type</a:t>
            </a:r>
            <a:r>
              <a:rPr lang="en-US" dirty="0"/>
              <a:t> of error and </a:t>
            </a:r>
            <a:r>
              <a:rPr lang="en-US" u="sng" dirty="0"/>
              <a:t>nearly</a:t>
            </a:r>
            <a:r>
              <a:rPr lang="tr-TR" u="sng" dirty="0"/>
              <a:t> </a:t>
            </a:r>
            <a:r>
              <a:rPr lang="en-US" u="sng" dirty="0"/>
              <a:t>always detects the second type</a:t>
            </a:r>
            <a:r>
              <a:rPr lang="en-US" dirty="0"/>
              <a:t> of error. The validation check is as follows:</a:t>
            </a:r>
          </a:p>
          <a:p>
            <a:pPr algn="just"/>
            <a:r>
              <a:rPr lang="en-US" b="1" dirty="0"/>
              <a:t>1. </a:t>
            </a:r>
            <a:r>
              <a:rPr lang="en-US" i="1" u="sng" dirty="0"/>
              <a:t>Starting</a:t>
            </a:r>
            <a:r>
              <a:rPr lang="en-US" dirty="0"/>
              <a:t> with the </a:t>
            </a:r>
            <a:r>
              <a:rPr lang="en-US" b="1" u="sng" dirty="0"/>
              <a:t>leftmost digit</a:t>
            </a:r>
            <a:r>
              <a:rPr lang="en-US" dirty="0"/>
              <a:t>, </a:t>
            </a:r>
            <a:r>
              <a:rPr lang="en-US" u="sng" dirty="0"/>
              <a:t>double it</a:t>
            </a:r>
            <a:r>
              <a:rPr lang="en-US" dirty="0"/>
              <a:t> and then </a:t>
            </a:r>
            <a:r>
              <a:rPr lang="en-US" u="sng" dirty="0"/>
              <a:t>double every other digit after it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However, if any of the doubled digits is a </a:t>
            </a:r>
            <a:r>
              <a:rPr lang="en-US" b="1" dirty="0"/>
              <a:t>two-digit number</a:t>
            </a:r>
            <a:r>
              <a:rPr lang="en-US" dirty="0"/>
              <a:t>, </a:t>
            </a:r>
            <a:r>
              <a:rPr lang="en-US" u="sng" dirty="0"/>
              <a:t>subtract 9 from it</a:t>
            </a:r>
            <a:r>
              <a:rPr lang="en-US" dirty="0"/>
              <a:t>. Then</a:t>
            </a:r>
            <a:r>
              <a:rPr lang="tr-TR" dirty="0"/>
              <a:t> </a:t>
            </a:r>
            <a:r>
              <a:rPr lang="en-US" u="sng" dirty="0"/>
              <a:t>sum these new digits</a:t>
            </a:r>
            <a:r>
              <a:rPr lang="en-US" dirty="0"/>
              <a:t>. For instance, if the credit card number is </a:t>
            </a:r>
            <a:r>
              <a:rPr lang="en-US" b="1" dirty="0"/>
              <a:t>5</a:t>
            </a:r>
            <a:r>
              <a:rPr lang="en-US" dirty="0"/>
              <a:t>8</a:t>
            </a:r>
            <a:r>
              <a:rPr lang="en-US" b="1" dirty="0"/>
              <a:t>6</a:t>
            </a:r>
            <a:r>
              <a:rPr lang="en-US" dirty="0"/>
              <a:t>6</a:t>
            </a:r>
            <a:r>
              <a:rPr lang="en-US" b="1" dirty="0"/>
              <a:t>7</a:t>
            </a:r>
            <a:r>
              <a:rPr lang="en-US" dirty="0"/>
              <a:t>9</a:t>
            </a:r>
            <a:r>
              <a:rPr lang="en-US" b="1" dirty="0"/>
              <a:t>3</a:t>
            </a:r>
            <a:r>
              <a:rPr lang="en-US" dirty="0"/>
              <a:t>6</a:t>
            </a:r>
            <a:r>
              <a:rPr lang="en-US" b="1" dirty="0"/>
              <a:t>1</a:t>
            </a:r>
            <a:r>
              <a:rPr lang="en-US" dirty="0"/>
              <a:t>0</a:t>
            </a:r>
            <a:r>
              <a:rPr lang="en-US" b="1" dirty="0"/>
              <a:t>0</a:t>
            </a:r>
            <a:r>
              <a:rPr lang="en-US" dirty="0"/>
              <a:t>2</a:t>
            </a:r>
            <a:r>
              <a:rPr lang="en-US" b="1" dirty="0"/>
              <a:t>4</a:t>
            </a:r>
            <a:r>
              <a:rPr lang="en-US" dirty="0"/>
              <a:t>4,</a:t>
            </a:r>
          </a:p>
          <a:p>
            <a:pPr algn="just"/>
            <a:r>
              <a:rPr lang="en-US" dirty="0"/>
              <a:t>then the digits considered are 5, 6, 7, 3, 1, 0, 4, their new replacements are 1, 3, 5, 6,</a:t>
            </a:r>
            <a:r>
              <a:rPr lang="tr-TR" dirty="0"/>
              <a:t> </a:t>
            </a:r>
            <a:r>
              <a:rPr lang="en-US" dirty="0"/>
              <a:t>2, 0, 8, and the </a:t>
            </a:r>
            <a:r>
              <a:rPr lang="en-US" u="sng" dirty="0"/>
              <a:t>sum of the replacements </a:t>
            </a:r>
            <a:r>
              <a:rPr lang="en-US" dirty="0"/>
              <a:t>is </a:t>
            </a:r>
            <a:r>
              <a:rPr lang="en-US" b="1" dirty="0"/>
              <a:t>25</a:t>
            </a:r>
            <a:r>
              <a:rPr lang="en-US" dirty="0"/>
              <a:t>.</a:t>
            </a:r>
            <a:endParaRPr lang="tr-TR" dirty="0"/>
          </a:p>
          <a:p>
            <a:pPr algn="just"/>
            <a:r>
              <a:rPr lang="tr-TR" b="1" dirty="0"/>
              <a:t>2</a:t>
            </a:r>
            <a:r>
              <a:rPr lang="en-US" b="1" dirty="0"/>
              <a:t>. </a:t>
            </a:r>
            <a:r>
              <a:rPr lang="en-US" u="sng" dirty="0"/>
              <a:t>Sum together the remaining seven digits</a:t>
            </a:r>
            <a:r>
              <a:rPr lang="en-US" dirty="0"/>
              <a:t> from the credit card number. That is, the</a:t>
            </a:r>
            <a:r>
              <a:rPr lang="tr-TR" dirty="0"/>
              <a:t> </a:t>
            </a:r>
            <a:r>
              <a:rPr lang="en-US" dirty="0"/>
              <a:t>digits in the </a:t>
            </a:r>
            <a:r>
              <a:rPr lang="en-US" b="1" i="1" u="sng" dirty="0"/>
              <a:t>odd-numbered positions</a:t>
            </a:r>
            <a:r>
              <a:rPr lang="en-US" dirty="0"/>
              <a:t>. With the credit card number above, we obtain</a:t>
            </a:r>
            <a:r>
              <a:rPr lang="tr-TR" dirty="0"/>
              <a:t> </a:t>
            </a:r>
            <a:r>
              <a:rPr lang="en-US" dirty="0"/>
              <a:t>8 + 6 + 9 + 6 + 0 + 2 + 4 = 35.</a:t>
            </a:r>
            <a:endParaRPr lang="tr-TR" dirty="0"/>
          </a:p>
          <a:p>
            <a:pPr algn="just"/>
            <a:r>
              <a:rPr lang="tr-TR" b="1" dirty="0"/>
              <a:t>3</a:t>
            </a:r>
            <a:r>
              <a:rPr lang="en-US" b="1" dirty="0"/>
              <a:t>. </a:t>
            </a:r>
            <a:r>
              <a:rPr lang="en-US" u="sng" dirty="0"/>
              <a:t>Add together the two sums</a:t>
            </a:r>
            <a:r>
              <a:rPr lang="en-US" dirty="0"/>
              <a:t>. If the result is a </a:t>
            </a:r>
            <a:r>
              <a:rPr lang="en-US" u="sng" dirty="0"/>
              <a:t>multiple of 10</a:t>
            </a:r>
            <a:r>
              <a:rPr lang="en-US" dirty="0"/>
              <a:t>, then </a:t>
            </a:r>
            <a:r>
              <a:rPr lang="en-US" b="1" i="1" u="sng" dirty="0"/>
              <a:t>accept</a:t>
            </a:r>
            <a:r>
              <a:rPr lang="en-US" dirty="0"/>
              <a:t> the credit</a:t>
            </a:r>
            <a:r>
              <a:rPr lang="tr-TR" dirty="0"/>
              <a:t> </a:t>
            </a:r>
            <a:r>
              <a:rPr lang="en-US" dirty="0"/>
              <a:t>card number. Otherwise, reject it. We accept the credit card number above since</a:t>
            </a:r>
            <a:r>
              <a:rPr lang="tr-TR" dirty="0"/>
              <a:t> </a:t>
            </a:r>
            <a:r>
              <a:rPr lang="en-US" dirty="0"/>
              <a:t>25 + 35 = 60, a multiple of 10.</a:t>
            </a:r>
            <a:r>
              <a:rPr lang="tr-TR" dirty="0"/>
              <a:t> </a:t>
            </a:r>
            <a:r>
              <a:rPr lang="en-US" dirty="0"/>
              <a:t>Write a program </a:t>
            </a:r>
            <a:r>
              <a:rPr lang="tr-TR" dirty="0"/>
              <a:t>of </a:t>
            </a:r>
            <a:r>
              <a:rPr lang="en-US" dirty="0"/>
              <a:t>data validation on a credit card</a:t>
            </a:r>
            <a:r>
              <a:rPr lang="tr-TR" dirty="0"/>
              <a:t>.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" b="18553"/>
          <a:stretch/>
        </p:blipFill>
        <p:spPr bwMode="auto">
          <a:xfrm>
            <a:off x="639883" y="3182122"/>
            <a:ext cx="6422718" cy="35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3" t="82900"/>
          <a:stretch/>
        </p:blipFill>
        <p:spPr bwMode="auto">
          <a:xfrm>
            <a:off x="6448451" y="4330514"/>
            <a:ext cx="5234044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181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76" y="172019"/>
            <a:ext cx="9862293" cy="18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99" y="2127203"/>
            <a:ext cx="8016536" cy="45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88" y="5608068"/>
            <a:ext cx="5824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9335069" y="2620370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madam</a:t>
            </a:r>
            <a:endParaRPr lang="en-US" dirty="0"/>
          </a:p>
        </p:txBody>
      </p:sp>
      <p:sp>
        <p:nvSpPr>
          <p:cNvPr id="3" name="Metin kutusu 2"/>
          <p:cNvSpPr txBox="1"/>
          <p:nvPr/>
        </p:nvSpPr>
        <p:spPr>
          <a:xfrm>
            <a:off x="8959804" y="311169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j</a:t>
            </a:r>
            <a:endParaRPr lang="en-US" dirty="0"/>
          </a:p>
        </p:txBody>
      </p:sp>
      <p:sp>
        <p:nvSpPr>
          <p:cNvPr id="7" name="Metin kutusu 6"/>
          <p:cNvSpPr txBox="1"/>
          <p:nvPr/>
        </p:nvSpPr>
        <p:spPr>
          <a:xfrm>
            <a:off x="10420544" y="3111690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n-j-1</a:t>
            </a:r>
            <a:endParaRPr lang="en-US" dirty="0"/>
          </a:p>
        </p:txBody>
      </p:sp>
      <p:cxnSp>
        <p:nvCxnSpPr>
          <p:cNvPr id="5" name="Düz Ok Bağlayıcısı 4"/>
          <p:cNvCxnSpPr>
            <a:endCxn id="3" idx="3"/>
          </p:cNvCxnSpPr>
          <p:nvPr/>
        </p:nvCxnSpPr>
        <p:spPr>
          <a:xfrm flipH="1">
            <a:off x="9198972" y="2918262"/>
            <a:ext cx="313518" cy="3780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Ok Bağlayıcısı 7"/>
          <p:cNvCxnSpPr/>
          <p:nvPr/>
        </p:nvCxnSpPr>
        <p:spPr>
          <a:xfrm>
            <a:off x="10085696" y="2918262"/>
            <a:ext cx="464023" cy="3066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Bağlayıcı 16"/>
          <p:cNvCxnSpPr/>
          <p:nvPr/>
        </p:nvCxnSpPr>
        <p:spPr>
          <a:xfrm>
            <a:off x="9783268" y="2415654"/>
            <a:ext cx="0" cy="880702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şağı Bükülü Ok 17"/>
          <p:cNvSpPr/>
          <p:nvPr/>
        </p:nvSpPr>
        <p:spPr>
          <a:xfrm>
            <a:off x="9457898" y="2251881"/>
            <a:ext cx="718978" cy="36848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481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83" y="27296"/>
            <a:ext cx="9455845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50" y="1895536"/>
            <a:ext cx="8469480" cy="475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6837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83" y="1398468"/>
            <a:ext cx="6890021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etin kutusu 3"/>
          <p:cNvSpPr txBox="1"/>
          <p:nvPr/>
        </p:nvSpPr>
        <p:spPr>
          <a:xfrm>
            <a:off x="100082" y="125682"/>
            <a:ext cx="1198273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dirty="0"/>
              <a:t>The file </a:t>
            </a:r>
            <a:r>
              <a:rPr lang="en-US" b="1" dirty="0"/>
              <a:t>Colors.txt</a:t>
            </a:r>
            <a:r>
              <a:rPr lang="en-US" dirty="0"/>
              <a:t> contains the names (</a:t>
            </a:r>
            <a:r>
              <a:rPr lang="en-US" u="sng" dirty="0"/>
              <a:t>beginning with uppercase</a:t>
            </a:r>
            <a:r>
              <a:rPr lang="tr-TR" u="sng" dirty="0"/>
              <a:t> </a:t>
            </a:r>
            <a:r>
              <a:rPr lang="en-US" u="sng" dirty="0"/>
              <a:t>letters</a:t>
            </a:r>
            <a:r>
              <a:rPr lang="en-US" dirty="0"/>
              <a:t>) of 123 crayon colors with </a:t>
            </a:r>
            <a:r>
              <a:rPr lang="en-US" b="1" i="1" u="sng" dirty="0"/>
              <a:t>one color per line</a:t>
            </a:r>
            <a:r>
              <a:rPr lang="en-US" dirty="0"/>
              <a:t>. Write a program that requests a</a:t>
            </a:r>
            <a:r>
              <a:rPr lang="tr-TR" dirty="0"/>
              <a:t> </a:t>
            </a:r>
            <a:r>
              <a:rPr lang="en-US" u="sng" dirty="0"/>
              <a:t>letter of the alphabet as input</a:t>
            </a:r>
            <a:r>
              <a:rPr lang="en-US" dirty="0"/>
              <a:t> and then displays the </a:t>
            </a:r>
            <a:r>
              <a:rPr lang="en-US" u="sng" dirty="0"/>
              <a:t>colors beginning with that letter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The program</a:t>
            </a:r>
            <a:r>
              <a:rPr lang="tr-TR" dirty="0"/>
              <a:t> </a:t>
            </a:r>
            <a:r>
              <a:rPr lang="en-US" dirty="0"/>
              <a:t>should use a </a:t>
            </a:r>
            <a:r>
              <a:rPr lang="en-US" b="1" i="1" u="sng" dirty="0"/>
              <a:t>global variable colors</a:t>
            </a:r>
            <a:r>
              <a:rPr lang="en-US" dirty="0"/>
              <a:t> that is </a:t>
            </a:r>
            <a:r>
              <a:rPr lang="en-US" u="sng" dirty="0"/>
              <a:t>initialized as an empty list</a:t>
            </a:r>
            <a:r>
              <a:rPr lang="en-US" dirty="0"/>
              <a:t>. The</a:t>
            </a:r>
            <a:r>
              <a:rPr lang="tr-TR" dirty="0"/>
              <a:t> </a:t>
            </a:r>
            <a:r>
              <a:rPr lang="en-US" dirty="0"/>
              <a:t>function main should call </a:t>
            </a:r>
            <a:r>
              <a:rPr lang="en-US" u="sng" dirty="0"/>
              <a:t>three functions</a:t>
            </a:r>
            <a:r>
              <a:rPr lang="en-US" dirty="0"/>
              <a:t>, one to request the </a:t>
            </a:r>
            <a:r>
              <a:rPr lang="en-US" u="sng" dirty="0"/>
              <a:t>initial letter</a:t>
            </a:r>
            <a:r>
              <a:rPr lang="en-US" dirty="0"/>
              <a:t>, one to </a:t>
            </a:r>
            <a:r>
              <a:rPr lang="en-US" u="sng" dirty="0"/>
              <a:t>fill</a:t>
            </a:r>
            <a:r>
              <a:rPr lang="tr-TR" u="sng" dirty="0"/>
              <a:t> </a:t>
            </a:r>
            <a:r>
              <a:rPr lang="en-US" u="sng" dirty="0"/>
              <a:t>the list colors</a:t>
            </a:r>
            <a:r>
              <a:rPr lang="en-US" dirty="0"/>
              <a:t> with the colors having the requested initial letter, and one to </a:t>
            </a:r>
            <a:r>
              <a:rPr lang="en-US" u="sng" dirty="0"/>
              <a:t>display the</a:t>
            </a:r>
            <a:r>
              <a:rPr lang="tr-TR" u="sng" dirty="0"/>
              <a:t> </a:t>
            </a:r>
            <a:r>
              <a:rPr lang="en-US" u="sng" dirty="0"/>
              <a:t>names</a:t>
            </a:r>
            <a:r>
              <a:rPr lang="en-US" dirty="0"/>
              <a:t> of the colors in the list.</a:t>
            </a:r>
            <a:endParaRPr lang="en-US" b="1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45" y="2557461"/>
            <a:ext cx="2683279" cy="19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3121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420" y="1864338"/>
            <a:ext cx="7613370" cy="49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etin kutusu 3"/>
          <p:cNvSpPr txBox="1"/>
          <p:nvPr/>
        </p:nvSpPr>
        <p:spPr>
          <a:xfrm>
            <a:off x="100082" y="96364"/>
            <a:ext cx="1198273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dirty="0"/>
              <a:t>An </a:t>
            </a:r>
            <a:r>
              <a:rPr lang="en-US" b="1" i="1" u="sng" dirty="0"/>
              <a:t>anagram</a:t>
            </a:r>
            <a:r>
              <a:rPr lang="en-US" dirty="0"/>
              <a:t> of a word or phrase is another word or phrase that uses the</a:t>
            </a:r>
            <a:r>
              <a:rPr lang="tr-TR" dirty="0"/>
              <a:t> </a:t>
            </a:r>
            <a:r>
              <a:rPr lang="en-US" u="sng" dirty="0"/>
              <a:t>same letters with the same frequency</a:t>
            </a:r>
            <a:r>
              <a:rPr lang="en-US" dirty="0"/>
              <a:t>. Punctuation marks, case, and spaces are ignored.</a:t>
            </a:r>
            <a:r>
              <a:rPr lang="tr-TR" dirty="0"/>
              <a:t> </a:t>
            </a:r>
            <a:r>
              <a:rPr lang="en-US" dirty="0"/>
              <a:t>Some examples of anagram pairs are </a:t>
            </a:r>
            <a:r>
              <a:rPr lang="en-US" b="1" dirty="0"/>
              <a:t>“angered”/“enraged”</a:t>
            </a:r>
            <a:r>
              <a:rPr lang="en-US" dirty="0"/>
              <a:t> and “</a:t>
            </a:r>
            <a:r>
              <a:rPr lang="en-US" b="1" dirty="0"/>
              <a:t>A gentleman”/“Elegant</a:t>
            </a:r>
          </a:p>
          <a:p>
            <a:pPr algn="just"/>
            <a:r>
              <a:rPr lang="en-US" b="1" dirty="0"/>
              <a:t>man”</a:t>
            </a:r>
            <a:r>
              <a:rPr lang="en-US" dirty="0"/>
              <a:t>. Write a program that </a:t>
            </a:r>
            <a:r>
              <a:rPr lang="en-US" u="sng" dirty="0"/>
              <a:t>requests two words</a:t>
            </a:r>
            <a:r>
              <a:rPr lang="en-US" dirty="0"/>
              <a:t> or phrases as input and determines</a:t>
            </a:r>
            <a:r>
              <a:rPr lang="tr-TR" dirty="0"/>
              <a:t> </a:t>
            </a:r>
            <a:r>
              <a:rPr lang="en-US" dirty="0"/>
              <a:t>if they are anagrams of each other. The program should use a </a:t>
            </a:r>
            <a:r>
              <a:rPr lang="en-US" b="1" i="1" u="sng" dirty="0"/>
              <a:t>Boolean-valued</a:t>
            </a:r>
            <a:r>
              <a:rPr lang="tr-TR" b="1" i="1" u="sng" dirty="0"/>
              <a:t> </a:t>
            </a:r>
            <a:r>
              <a:rPr lang="en-US" b="1" i="1" u="sng" dirty="0"/>
              <a:t>function</a:t>
            </a:r>
            <a:r>
              <a:rPr lang="en-US" dirty="0"/>
              <a:t> with header</a:t>
            </a:r>
          </a:p>
          <a:p>
            <a:pPr algn="just"/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areAnagrams</a:t>
            </a:r>
            <a:r>
              <a:rPr lang="en-US" b="1" dirty="0"/>
              <a:t>(string1, string2):</a:t>
            </a:r>
          </a:p>
          <a:p>
            <a:pPr algn="just"/>
            <a:r>
              <a:rPr lang="en-US" dirty="0"/>
              <a:t>that returns </a:t>
            </a:r>
            <a:r>
              <a:rPr lang="en-US" b="1" dirty="0"/>
              <a:t>True</a:t>
            </a:r>
            <a:r>
              <a:rPr lang="en-US" dirty="0"/>
              <a:t> when the two strings are anagrams, and otherwise returns </a:t>
            </a:r>
            <a:r>
              <a:rPr lang="en-US" b="1" dirty="0"/>
              <a:t>False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2" y="2754715"/>
            <a:ext cx="4488000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195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95" y="159793"/>
            <a:ext cx="1044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94" y="1457325"/>
            <a:ext cx="9756002" cy="26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125" y="4622256"/>
            <a:ext cx="8829116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501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9" y="118207"/>
            <a:ext cx="9981763" cy="7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69" y="1020666"/>
            <a:ext cx="9974813" cy="44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303" y="5336701"/>
            <a:ext cx="8562461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6273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72" y="249002"/>
            <a:ext cx="10372646" cy="79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45" y="1316582"/>
            <a:ext cx="7741177" cy="33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1023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29" y="49345"/>
            <a:ext cx="10332000" cy="7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3144" y="1224034"/>
            <a:ext cx="9699436" cy="49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950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95" y="125389"/>
            <a:ext cx="9102000" cy="14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75" y="1619408"/>
            <a:ext cx="7128000" cy="51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349" y="3583611"/>
            <a:ext cx="4849199" cy="7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64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4" y="1246143"/>
            <a:ext cx="8487987" cy="55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Metin kutusu 6"/>
          <p:cNvSpPr txBox="1"/>
          <p:nvPr/>
        </p:nvSpPr>
        <p:spPr>
          <a:xfrm>
            <a:off x="86434" y="45814"/>
            <a:ext cx="1198273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dirty="0"/>
              <a:t>The following words have </a:t>
            </a:r>
            <a:r>
              <a:rPr lang="en-US" b="1" i="1" u="sng" dirty="0"/>
              <a:t>three consecutive letters</a:t>
            </a:r>
            <a:r>
              <a:rPr lang="en-US" dirty="0"/>
              <a:t> that are also</a:t>
            </a:r>
            <a:r>
              <a:rPr lang="tr-TR" dirty="0"/>
              <a:t> </a:t>
            </a:r>
            <a:r>
              <a:rPr lang="en-US" b="1" i="1" u="sng" dirty="0"/>
              <a:t>consecutive letters in the alphabet</a:t>
            </a:r>
            <a:r>
              <a:rPr lang="en-US" dirty="0"/>
              <a:t>: THIRSTY, NOPE, AFGHANISTAN, STUDENT.</a:t>
            </a:r>
            <a:r>
              <a:rPr lang="tr-TR" dirty="0"/>
              <a:t> </a:t>
            </a:r>
            <a:r>
              <a:rPr lang="en-US" dirty="0"/>
              <a:t>Write a program that accepts a word as input and determines whether or not it </a:t>
            </a:r>
            <a:r>
              <a:rPr lang="en-US" u="sng" dirty="0"/>
              <a:t>has</a:t>
            </a:r>
            <a:r>
              <a:rPr lang="tr-TR" u="sng" dirty="0"/>
              <a:t> </a:t>
            </a:r>
            <a:r>
              <a:rPr lang="en-US" u="sng" dirty="0"/>
              <a:t>three consecutive letters</a:t>
            </a:r>
            <a:r>
              <a:rPr lang="en-US" dirty="0"/>
              <a:t> that are </a:t>
            </a:r>
            <a:r>
              <a:rPr lang="en-US" i="1" u="sng" dirty="0"/>
              <a:t>consecutive letters in the alphabet</a:t>
            </a:r>
            <a:r>
              <a:rPr lang="en-US" dirty="0"/>
              <a:t>. The program</a:t>
            </a:r>
            <a:r>
              <a:rPr lang="tr-TR" dirty="0"/>
              <a:t> </a:t>
            </a:r>
            <a:r>
              <a:rPr lang="en-US" dirty="0"/>
              <a:t>should use a </a:t>
            </a:r>
            <a:r>
              <a:rPr lang="en-US" b="1" u="sng" dirty="0"/>
              <a:t>Boolean-valued</a:t>
            </a:r>
            <a:r>
              <a:rPr lang="tr-TR" b="1" u="sng" dirty="0"/>
              <a:t> </a:t>
            </a:r>
            <a:r>
              <a:rPr lang="en-US" b="1" u="sng" dirty="0"/>
              <a:t>function</a:t>
            </a:r>
            <a:r>
              <a:rPr lang="en-US" dirty="0"/>
              <a:t> named </a:t>
            </a:r>
            <a:r>
              <a:rPr lang="en-US" b="1" dirty="0" err="1"/>
              <a:t>isTripleConsecutive</a:t>
            </a:r>
            <a:r>
              <a:rPr lang="en-US" dirty="0"/>
              <a:t> that accepts an entire</a:t>
            </a:r>
            <a:r>
              <a:rPr lang="tr-TR" dirty="0"/>
              <a:t> </a:t>
            </a:r>
            <a:r>
              <a:rPr lang="en-US" dirty="0"/>
              <a:t>word as input. </a:t>
            </a:r>
            <a:r>
              <a:rPr lang="en-US" b="1" u="sng" dirty="0"/>
              <a:t>Hint</a:t>
            </a:r>
            <a:r>
              <a:rPr lang="en-US" dirty="0"/>
              <a:t>: Use the </a:t>
            </a:r>
            <a:r>
              <a:rPr lang="en-US" b="1" i="1" u="sng" dirty="0" err="1"/>
              <a:t>ord</a:t>
            </a:r>
            <a:r>
              <a:rPr lang="en-US" dirty="0"/>
              <a:t> function.</a:t>
            </a:r>
            <a:endParaRPr lang="en-US" b="1" dirty="0"/>
          </a:p>
        </p:txBody>
      </p:sp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018" y="5204713"/>
            <a:ext cx="4627125" cy="9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975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767</Words>
  <Application>Microsoft Office PowerPoint</Application>
  <PresentationFormat>Geniş ekran</PresentationFormat>
  <Paragraphs>16</Paragraphs>
  <Slides>27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irem</dc:creator>
  <cp:lastModifiedBy>irem</cp:lastModifiedBy>
  <cp:revision>97</cp:revision>
  <dcterms:created xsi:type="dcterms:W3CDTF">2023-11-08T09:55:58Z</dcterms:created>
  <dcterms:modified xsi:type="dcterms:W3CDTF">2024-11-06T07:25:31Z</dcterms:modified>
</cp:coreProperties>
</file>